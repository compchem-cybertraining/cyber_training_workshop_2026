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82" r:id="rId2"/>
    <p:sldId id="270" r:id="rId3"/>
    <p:sldId id="308" r:id="rId4"/>
    <p:sldId id="278" r:id="rId5"/>
    <p:sldId id="320" r:id="rId6"/>
    <p:sldId id="321" r:id="rId7"/>
    <p:sldId id="322" r:id="rId8"/>
    <p:sldId id="310" r:id="rId9"/>
    <p:sldId id="323" r:id="rId10"/>
    <p:sldId id="324" r:id="rId11"/>
    <p:sldId id="325" r:id="rId12"/>
    <p:sldId id="280" r:id="rId13"/>
    <p:sldId id="268" r:id="rId14"/>
    <p:sldId id="285" r:id="rId15"/>
    <p:sldId id="305" r:id="rId16"/>
    <p:sldId id="306" r:id="rId17"/>
    <p:sldId id="316" r:id="rId18"/>
    <p:sldId id="317" r:id="rId19"/>
    <p:sldId id="318" r:id="rId20"/>
    <p:sldId id="31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1" d="100"/>
          <a:sy n="101" d="100"/>
        </p:scale>
        <p:origin x="424" y="64"/>
      </p:cViewPr>
      <p:guideLst>
        <p:guide orient="horz" pos="2184"/>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04DB4D-FF22-4E5B-AF21-D2DB554E5F3C}" type="datetimeFigureOut">
              <a:rPr lang="en-US" smtClean="0"/>
              <a:t>7/2/2026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D705F4-8DF6-49D4-B409-99F4CCA28D74}" type="slidenum">
              <a:rPr lang="en-US" smtClean="0"/>
              <a:t>‹#›</a:t>
            </a:fld>
            <a:endParaRPr lang="en-US"/>
          </a:p>
        </p:txBody>
      </p:sp>
    </p:spTree>
    <p:extLst>
      <p:ext uri="{BB962C8B-B14F-4D97-AF65-F5344CB8AC3E}">
        <p14:creationId xmlns:p14="http://schemas.microsoft.com/office/powerpoint/2010/main" val="1417709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B551D3B-DC9D-461A-BA7B-0ABC057AFFA9}"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1788554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551D3B-DC9D-461A-BA7B-0ABC057AFFA9}"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1451010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B551D3B-DC9D-461A-BA7B-0ABC057AFFA9}"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4195875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551D3B-DC9D-461A-BA7B-0ABC057AFFA9}"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3746953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551D3B-DC9D-461A-BA7B-0ABC057AFFA9}"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3210054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B551D3B-DC9D-461A-BA7B-0ABC057AFFA9}"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2004683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551D3B-DC9D-461A-BA7B-0ABC057AFFA9}"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2405378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551D3B-DC9D-461A-BA7B-0ABC057AFFA9}"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4291158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551D3B-DC9D-461A-BA7B-0ABC057AFFA9}"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3801143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551D3B-DC9D-461A-BA7B-0ABC057AFFA9}"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1335752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551D3B-DC9D-461A-BA7B-0ABC057AFFA9}"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EE6BBC-6800-4A8B-8759-CEA4BB75C7EE}" type="slidenum">
              <a:rPr lang="en-US" smtClean="0"/>
              <a:t>‹#›</a:t>
            </a:fld>
            <a:endParaRPr lang="en-US"/>
          </a:p>
        </p:txBody>
      </p:sp>
    </p:spTree>
    <p:extLst>
      <p:ext uri="{BB962C8B-B14F-4D97-AF65-F5344CB8AC3E}">
        <p14:creationId xmlns:p14="http://schemas.microsoft.com/office/powerpoint/2010/main" val="1996148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551D3B-DC9D-461A-BA7B-0ABC057AFFA9}" type="datetimeFigureOut">
              <a:rPr lang="en-US" smtClean="0"/>
              <a:t>7/2/2026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EE6BBC-6800-4A8B-8759-CEA4BB75C7EE}" type="slidenum">
              <a:rPr lang="en-US" smtClean="0"/>
              <a:t>‹#›</a:t>
            </a:fld>
            <a:endParaRPr lang="en-US"/>
          </a:p>
        </p:txBody>
      </p:sp>
    </p:spTree>
    <p:extLst>
      <p:ext uri="{BB962C8B-B14F-4D97-AF65-F5344CB8AC3E}">
        <p14:creationId xmlns:p14="http://schemas.microsoft.com/office/powerpoint/2010/main" val="4221400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mpchem-cybertraining.github.io/Cyber_Training_Workshop_2026/"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compchem-cybertraining.github.io/Cyber_Training_Workshop_2026/"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mailto:ccr-help@buffalo.edu" TargetMode="External"/><Relationship Id="rId4" Type="http://schemas.openxmlformats.org/officeDocument/2006/relationships/hyperlink" Target="https://join.slack.com/t/quantumdynamicshub/shared_invite/zt-mjbhjssx-GGhsbYHxeBMvhmumK_j7LA"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hyperlink" Target="https://hachmannlab.github.io/chemml/" TargetMode="External"/><Relationship Id="rId5" Type="http://schemas.openxmlformats.org/officeDocument/2006/relationships/hyperlink" Target="https://hachmannlab.cbe.buffalo.edu/" TargetMode="Externa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hyperlink" Target="https://github.com/sokolov-group/sqa_plus" TargetMode="External"/><Relationship Id="rId3" Type="http://schemas.openxmlformats.org/officeDocument/2006/relationships/image" Target="../media/image1.jpeg"/><Relationship Id="rId7" Type="http://schemas.openxmlformats.org/officeDocument/2006/relationships/hyperlink" Target="https://psicode.org/"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pyscf.org/" TargetMode="External"/><Relationship Id="rId5" Type="http://schemas.openxmlformats.org/officeDocument/2006/relationships/image" Target="../media/image13.jpeg"/><Relationship Id="rId4" Type="http://schemas.openxmlformats.org/officeDocument/2006/relationships/hyperlink" Target="https://research.cbc.osu.edu/sokolov.8/" TargetMode="External"/><Relationship Id="rId9" Type="http://schemas.openxmlformats.org/officeDocument/2006/relationships/hyperlink" Target="https://github.com/sokolov-group/prism/"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gitlab.com/Molcas/OpenMolcas" TargetMode="External"/><Relationship Id="rId13" Type="http://schemas.openxmlformats.org/officeDocument/2006/relationships/hyperlink" Target="https://github.com/compchem-cybertraining/Tutorials_OpenMolcas" TargetMode="External"/><Relationship Id="rId3" Type="http://schemas.openxmlformats.org/officeDocument/2006/relationships/image" Target="../media/image1.jpeg"/><Relationship Id="rId7" Type="http://schemas.openxmlformats.org/officeDocument/2006/relationships/hyperlink" Target="https://levinegroup.org/" TargetMode="External"/><Relationship Id="rId12" Type="http://schemas.openxmlformats.org/officeDocument/2006/relationships/hyperlink" Target="https://github.com/compchem-cybertraining/Tutorials_PySpawn" TargetMode="Externa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hyperlink" Target="https://github.com/blevine37/pySpawn17" TargetMode="External"/><Relationship Id="rId5" Type="http://schemas.openxmlformats.org/officeDocument/2006/relationships/hyperlink" Target="https://arshadmehmood118.github.io/" TargetMode="External"/><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9.jpeg"/><Relationship Id="rId7" Type="http://schemas.openxmlformats.org/officeDocument/2006/relationships/hyperlink" Target="https://github.com/compchem-cybertraining/Tutorials_CP2K" TargetMode="External"/><Relationship Id="rId12" Type="http://schemas.openxmlformats.org/officeDocument/2006/relationships/hyperlink" Target="https://mohammadshakiba.github.io/"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github.com/compchem-cybertraining/Tutorials_DFTB_plus" TargetMode="External"/><Relationship Id="rId11" Type="http://schemas.openxmlformats.org/officeDocument/2006/relationships/hyperlink" Target="https://akimovlab.github.io/" TargetMode="External"/><Relationship Id="rId5" Type="http://schemas.openxmlformats.org/officeDocument/2006/relationships/hyperlink" Target="https://github.com/compchem-cybertraining/Tutorials_Libra" TargetMode="External"/><Relationship Id="rId10" Type="http://schemas.openxmlformats.org/officeDocument/2006/relationships/image" Target="../media/image22.jpeg"/><Relationship Id="rId4" Type="http://schemas.openxmlformats.org/officeDocument/2006/relationships/hyperlink" Target="https://github.com/Quantum-Dynamics-Hub/libra-code" TargetMode="External"/><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3.png"/><Relationship Id="rId7" Type="http://schemas.openxmlformats.org/officeDocument/2006/relationships/hyperlink" Target="https://github.com/ifgroup/pytenso"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hyperlink" Target="https://sas.rochester.edu/chm/groups/franco/"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compchem-cybertraining.github.io/Cyber_Training_Workshop_2022/" TargetMode="External"/><Relationship Id="rId3" Type="http://schemas.openxmlformats.org/officeDocument/2006/relationships/hyperlink" Target="https://quantum-dynamics-hub.github.io/" TargetMode="External"/><Relationship Id="rId7" Type="http://schemas.openxmlformats.org/officeDocument/2006/relationships/hyperlink" Target="https://compchem-cybertraining.github.io/Cyber_Training_Workshop_2021/"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compchem-cybertraining.github.io/Libra_Winter_School_2022/" TargetMode="External"/><Relationship Id="rId11" Type="http://schemas.openxmlformats.org/officeDocument/2006/relationships/hyperlink" Target="https://compchem-cybertraining.github.io/Cyber_Training_Workshop_2026/" TargetMode="External"/><Relationship Id="rId5" Type="http://schemas.openxmlformats.org/officeDocument/2006/relationships/hyperlink" Target="https://github.com/compchem-cybertraining" TargetMode="External"/><Relationship Id="rId10" Type="http://schemas.openxmlformats.org/officeDocument/2006/relationships/image" Target="../media/image30.png"/><Relationship Id="rId4" Type="http://schemas.openxmlformats.org/officeDocument/2006/relationships/hyperlink" Target="https://github.com/Quantum-Dynamics-Hub" TargetMode="External"/><Relationship Id="rId9" Type="http://schemas.openxmlformats.org/officeDocument/2006/relationships/hyperlink" Target="https://compchem-cybertraining.github.io/Cyber_Training_Workshop_2023/"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hyperlink" Target="https://www.buffalo.edu/home/visiting-ub/map.html"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compchem-cybertraining.github.io/Cyber_Training_Workshop_2026/_episodes/07-project" TargetMode="External"/><Relationship Id="rId3" Type="http://schemas.openxmlformats.org/officeDocument/2006/relationships/hyperlink" Target="https://compchem-cybertraining.github.io/Cyber_Training_Workshop_2021/_episodes/13-projects" TargetMode="External"/><Relationship Id="rId7" Type="http://schemas.openxmlformats.org/officeDocument/2006/relationships/hyperlink" Target="https://compchem-cybertraining.github.io/Cyber_Training_Workshop_2022/_episodes/15-projects"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github.com/compchem-cybertraining/Cyber_Training_Workshop_2022/tree/gh-pages/course_work" TargetMode="External"/><Relationship Id="rId5" Type="http://schemas.openxmlformats.org/officeDocument/2006/relationships/hyperlink" Target="https://compchem-cybertraining.github.io/Cyber_Training_Workshop_2026/CODE_OF_CONDUCT.html" TargetMode="External"/><Relationship Id="rId10" Type="http://schemas.openxmlformats.org/officeDocument/2006/relationships/hyperlink" Target="https://compchem-cybertraining.github.io/Cyber_Training_Workshop_2023/_episodes/08-projects" TargetMode="External"/><Relationship Id="rId4" Type="http://schemas.openxmlformats.org/officeDocument/2006/relationships/hyperlink" Target="https://github.com/compchem-cybertraining/Cyber_Training_Workshop_2021/tree/gh-pages/course_work" TargetMode="External"/><Relationship Id="rId9" Type="http://schemas.openxmlformats.org/officeDocument/2006/relationships/hyperlink" Target="https://github.com/compchem-cybertraining/Cyber_Training_Workshop2023_course_projects"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1.jpeg"/><Relationship Id="rId2" Type="http://schemas.openxmlformats.org/officeDocument/2006/relationships/hyperlink" Target="https://ondemand.ccr.buffalo.edu/" TargetMode="Externa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hyperlink" Target="https://docs.ccr.buffalo.edu/en/latest/portals/idm/" TargetMode="External"/><Relationship Id="rId4" Type="http://schemas.openxmlformats.org/officeDocument/2006/relationships/hyperlink" Target="https://compchem-cybertraining.github.io/Cyber_Training_Workshop_2026/setup.html"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compchem-cybertraining.github.io/Cyber_Training_Workshop_2026/_episodes/04-tsh" TargetMode="External"/><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614362" y="1231075"/>
            <a:ext cx="109632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buNone/>
            </a:pPr>
            <a:r>
              <a:rPr lang="en-US" sz="4000" b="1" dirty="0">
                <a:solidFill>
                  <a:srgbClr val="0070C0"/>
                </a:solidFill>
              </a:rPr>
              <a:t>CyberTraining: Modeling </a:t>
            </a:r>
            <a:r>
              <a:rPr lang="en-US" sz="4000" b="1" dirty="0">
                <a:solidFill>
                  <a:srgbClr val="FF0000"/>
                </a:solidFill>
              </a:rPr>
              <a:t>Quantum Dynamics </a:t>
            </a:r>
            <a:r>
              <a:rPr lang="en-US" sz="4000" b="1" dirty="0">
                <a:solidFill>
                  <a:srgbClr val="0070C0"/>
                </a:solidFill>
              </a:rPr>
              <a:t>of </a:t>
            </a:r>
            <a:r>
              <a:rPr lang="en-US" sz="4000" b="1" dirty="0">
                <a:solidFill>
                  <a:srgbClr val="008000"/>
                </a:solidFill>
              </a:rPr>
              <a:t>Excited States </a:t>
            </a:r>
            <a:r>
              <a:rPr lang="en-US" sz="4000" b="1" dirty="0">
                <a:solidFill>
                  <a:srgbClr val="0070C0"/>
                </a:solidFill>
              </a:rPr>
              <a:t>in Materials in the Era of </a:t>
            </a:r>
            <a:r>
              <a:rPr lang="en-US" sz="4000" b="1" dirty="0">
                <a:solidFill>
                  <a:srgbClr val="0000FF"/>
                </a:solidFill>
              </a:rPr>
              <a:t>Machine Learning</a:t>
            </a:r>
            <a:r>
              <a:rPr lang="en-US" sz="4000" b="1" dirty="0">
                <a:solidFill>
                  <a:srgbClr val="0070C0"/>
                </a:solidFill>
              </a:rPr>
              <a:t>, 2026</a:t>
            </a:r>
          </a:p>
        </p:txBody>
      </p:sp>
      <p:pic>
        <p:nvPicPr>
          <p:cNvPr id="5" name="Picture 7" descr="Image result for ub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4768825" y="3577468"/>
            <a:ext cx="21762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u="sng" dirty="0">
                <a:latin typeface="Times New Roman" panose="02020603050405020304" pitchFamily="18" charset="0"/>
              </a:rPr>
              <a:t>Alexey Akimov</a:t>
            </a:r>
          </a:p>
        </p:txBody>
      </p:sp>
      <p:sp>
        <p:nvSpPr>
          <p:cNvPr id="7" name="TextBox 6"/>
          <p:cNvSpPr txBox="1"/>
          <p:nvPr/>
        </p:nvSpPr>
        <p:spPr>
          <a:xfrm>
            <a:off x="4169300" y="4563158"/>
            <a:ext cx="3541226" cy="461665"/>
          </a:xfrm>
          <a:prstGeom prst="rect">
            <a:avLst/>
          </a:prstGeom>
          <a:noFill/>
        </p:spPr>
        <p:txBody>
          <a:bodyPr wrap="none" rtlCol="0">
            <a:spAutoFit/>
          </a:bodyPr>
          <a:lstStyle/>
          <a:p>
            <a:r>
              <a:rPr lang="en-US" sz="2400" dirty="0"/>
              <a:t>University at Buffalo, SUNY</a:t>
            </a:r>
          </a:p>
        </p:txBody>
      </p:sp>
      <p:sp>
        <p:nvSpPr>
          <p:cNvPr id="8" name="TextBox 7"/>
          <p:cNvSpPr txBox="1"/>
          <p:nvPr/>
        </p:nvSpPr>
        <p:spPr>
          <a:xfrm>
            <a:off x="5154667" y="5024823"/>
            <a:ext cx="1404552" cy="400110"/>
          </a:xfrm>
          <a:prstGeom prst="rect">
            <a:avLst/>
          </a:prstGeom>
          <a:noFill/>
        </p:spPr>
        <p:txBody>
          <a:bodyPr wrap="none" rtlCol="0">
            <a:spAutoFit/>
          </a:bodyPr>
          <a:lstStyle/>
          <a:p>
            <a:r>
              <a:rPr lang="en-US" sz="2000" dirty="0"/>
              <a:t>July 6, 2026</a:t>
            </a:r>
          </a:p>
        </p:txBody>
      </p:sp>
      <p:sp>
        <p:nvSpPr>
          <p:cNvPr id="3" name="TextBox 2">
            <a:extLst>
              <a:ext uri="{FF2B5EF4-FFF2-40B4-BE49-F238E27FC236}">
                <a16:creationId xmlns:a16="http://schemas.microsoft.com/office/drawing/2014/main" id="{7AFB5F83-1937-B973-9192-B448A7C1C509}"/>
              </a:ext>
            </a:extLst>
          </p:cNvPr>
          <p:cNvSpPr txBox="1"/>
          <p:nvPr/>
        </p:nvSpPr>
        <p:spPr>
          <a:xfrm>
            <a:off x="2618654" y="5886598"/>
            <a:ext cx="7401909" cy="369332"/>
          </a:xfrm>
          <a:prstGeom prst="rect">
            <a:avLst/>
          </a:prstGeom>
          <a:noFill/>
        </p:spPr>
        <p:txBody>
          <a:bodyPr wrap="square">
            <a:spAutoFit/>
          </a:bodyPr>
          <a:lstStyle/>
          <a:p>
            <a:r>
              <a:rPr lang="en-US" dirty="0">
                <a:hlinkClick r:id="rId3"/>
              </a:rPr>
              <a:t>https://compchem-cybertraining.github.io/Cyber_Training_Workshop_2026/</a:t>
            </a:r>
            <a:r>
              <a:rPr lang="en-US" dirty="0"/>
              <a:t> </a:t>
            </a:r>
          </a:p>
        </p:txBody>
      </p:sp>
    </p:spTree>
    <p:extLst>
      <p:ext uri="{BB962C8B-B14F-4D97-AF65-F5344CB8AC3E}">
        <p14:creationId xmlns:p14="http://schemas.microsoft.com/office/powerpoint/2010/main" val="3054071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27023" y="2101884"/>
            <a:ext cx="11485845"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buNone/>
            </a:pPr>
            <a:r>
              <a:rPr lang="pt-BR" sz="4000" b="1" i="1" dirty="0">
                <a:solidFill>
                  <a:srgbClr val="0000FF"/>
                </a:solidFill>
              </a:rPr>
              <a:t>General Workshop Goals </a:t>
            </a:r>
          </a:p>
          <a:p>
            <a:pPr algn="ctr">
              <a:buNone/>
            </a:pPr>
            <a:r>
              <a:rPr lang="pt-BR" sz="4000" b="1" i="1" dirty="0"/>
              <a:t>and</a:t>
            </a:r>
            <a:r>
              <a:rPr lang="en-US" sz="2400" b="1" i="1" dirty="0">
                <a:solidFill>
                  <a:srgbClr val="0000FF"/>
                </a:solidFill>
              </a:rPr>
              <a:t> </a:t>
            </a:r>
          </a:p>
          <a:p>
            <a:pPr algn="ctr">
              <a:buNone/>
            </a:pPr>
            <a:r>
              <a:rPr lang="en-US" sz="4000" b="1" i="1" dirty="0">
                <a:solidFill>
                  <a:srgbClr val="FF0000"/>
                </a:solidFill>
              </a:rPr>
              <a:t>Overview of the </a:t>
            </a:r>
            <a:r>
              <a:rPr lang="en-US" sz="4000" b="1" i="1" dirty="0" err="1">
                <a:solidFill>
                  <a:srgbClr val="FF0000"/>
                </a:solidFill>
              </a:rPr>
              <a:t>CyberTraining</a:t>
            </a:r>
            <a:r>
              <a:rPr lang="en-US" sz="4000" b="1" i="1" dirty="0">
                <a:solidFill>
                  <a:srgbClr val="FF0000"/>
                </a:solidFill>
              </a:rPr>
              <a:t> Infrastructure</a:t>
            </a:r>
            <a:endParaRPr lang="pt-BR" sz="4000" b="1" i="1" dirty="0">
              <a:solidFill>
                <a:srgbClr val="FF0000"/>
              </a:solidFill>
            </a:endParaRPr>
          </a:p>
        </p:txBody>
      </p:sp>
      <p:pic>
        <p:nvPicPr>
          <p:cNvPr id="5" name="Picture 7" descr="Image result for ub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143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Image result for ub logo">
            <a:extLst>
              <a:ext uri="{FF2B5EF4-FFF2-40B4-BE49-F238E27FC236}">
                <a16:creationId xmlns:a16="http://schemas.microsoft.com/office/drawing/2014/main" id="{1F751933-5AC3-B908-66D9-929327B2F0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Image result for nsf">
            <a:extLst>
              <a:ext uri="{FF2B5EF4-FFF2-40B4-BE49-F238E27FC236}">
                <a16:creationId xmlns:a16="http://schemas.microsoft.com/office/drawing/2014/main" id="{25DBFB49-C703-3E90-D81E-42B85D2FFF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3559" y="1239241"/>
            <a:ext cx="1333140" cy="134010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B0A3ACC-6517-4894-CD3F-02132122D7A7}"/>
              </a:ext>
            </a:extLst>
          </p:cNvPr>
          <p:cNvSpPr txBox="1"/>
          <p:nvPr/>
        </p:nvSpPr>
        <p:spPr>
          <a:xfrm>
            <a:off x="5057456" y="6376453"/>
            <a:ext cx="6092758" cy="307777"/>
          </a:xfrm>
          <a:prstGeom prst="rect">
            <a:avLst/>
          </a:prstGeom>
          <a:noFill/>
        </p:spPr>
        <p:txBody>
          <a:bodyPr wrap="none" rtlCol="0">
            <a:spAutoFit/>
          </a:bodyPr>
          <a:lstStyle/>
          <a:p>
            <a:r>
              <a:rPr lang="en-US" sz="1400" b="1" dirty="0" err="1"/>
              <a:t>CyberTraining</a:t>
            </a:r>
            <a:r>
              <a:rPr lang="en-US" sz="1400" b="1" dirty="0"/>
              <a:t>: Pilot: Modeling Excited State Dynamics in Solar Energy Materials</a:t>
            </a:r>
            <a:endParaRPr lang="en-US" sz="1400" dirty="0"/>
          </a:p>
        </p:txBody>
      </p:sp>
      <p:pic>
        <p:nvPicPr>
          <p:cNvPr id="15" name="Picture 14">
            <a:extLst>
              <a:ext uri="{FF2B5EF4-FFF2-40B4-BE49-F238E27FC236}">
                <a16:creationId xmlns:a16="http://schemas.microsoft.com/office/drawing/2014/main" id="{DADB8446-99D5-C592-C59E-4DD16D6DF9A9}"/>
              </a:ext>
            </a:extLst>
          </p:cNvPr>
          <p:cNvPicPr>
            <a:picLocks noChangeAspect="1"/>
          </p:cNvPicPr>
          <p:nvPr/>
        </p:nvPicPr>
        <p:blipFill>
          <a:blip r:embed="rId4"/>
          <a:srcRect r="8186"/>
          <a:stretch>
            <a:fillRect/>
          </a:stretch>
        </p:blipFill>
        <p:spPr>
          <a:xfrm>
            <a:off x="7686924" y="3470691"/>
            <a:ext cx="2392906" cy="2834886"/>
          </a:xfrm>
          <a:prstGeom prst="rect">
            <a:avLst/>
          </a:prstGeom>
        </p:spPr>
      </p:pic>
      <p:pic>
        <p:nvPicPr>
          <p:cNvPr id="17" name="Picture 16">
            <a:extLst>
              <a:ext uri="{FF2B5EF4-FFF2-40B4-BE49-F238E27FC236}">
                <a16:creationId xmlns:a16="http://schemas.microsoft.com/office/drawing/2014/main" id="{82A4A88B-CD5E-0D48-D0A1-6E6877AFF9FE}"/>
              </a:ext>
            </a:extLst>
          </p:cNvPr>
          <p:cNvPicPr>
            <a:picLocks noChangeAspect="1"/>
          </p:cNvPicPr>
          <p:nvPr/>
        </p:nvPicPr>
        <p:blipFill>
          <a:blip r:embed="rId5"/>
          <a:stretch>
            <a:fillRect/>
          </a:stretch>
        </p:blipFill>
        <p:spPr>
          <a:xfrm>
            <a:off x="9905944" y="3499876"/>
            <a:ext cx="2385267" cy="2034716"/>
          </a:xfrm>
          <a:prstGeom prst="rect">
            <a:avLst/>
          </a:prstGeom>
        </p:spPr>
      </p:pic>
      <p:sp>
        <p:nvSpPr>
          <p:cNvPr id="18" name="TextBox 17">
            <a:extLst>
              <a:ext uri="{FF2B5EF4-FFF2-40B4-BE49-F238E27FC236}">
                <a16:creationId xmlns:a16="http://schemas.microsoft.com/office/drawing/2014/main" id="{D8A5B675-4F70-CAFD-A073-5EA0D1AF0FD2}"/>
              </a:ext>
            </a:extLst>
          </p:cNvPr>
          <p:cNvSpPr txBox="1"/>
          <p:nvPr/>
        </p:nvSpPr>
        <p:spPr>
          <a:xfrm>
            <a:off x="7532497" y="3083529"/>
            <a:ext cx="2458109" cy="369332"/>
          </a:xfrm>
          <a:prstGeom prst="rect">
            <a:avLst/>
          </a:prstGeom>
          <a:noFill/>
        </p:spPr>
        <p:txBody>
          <a:bodyPr wrap="none" rtlCol="0">
            <a:spAutoFit/>
          </a:bodyPr>
          <a:lstStyle/>
          <a:p>
            <a:r>
              <a:rPr lang="en-US" b="1" dirty="0">
                <a:solidFill>
                  <a:srgbClr val="0000FF"/>
                </a:solidFill>
              </a:rPr>
              <a:t>2022 (in person/virtual)</a:t>
            </a:r>
          </a:p>
        </p:txBody>
      </p:sp>
      <p:sp>
        <p:nvSpPr>
          <p:cNvPr id="19" name="TextBox 18">
            <a:extLst>
              <a:ext uri="{FF2B5EF4-FFF2-40B4-BE49-F238E27FC236}">
                <a16:creationId xmlns:a16="http://schemas.microsoft.com/office/drawing/2014/main" id="{95DC129D-289E-9DEB-73F8-BFCE281254B0}"/>
              </a:ext>
            </a:extLst>
          </p:cNvPr>
          <p:cNvSpPr txBox="1"/>
          <p:nvPr/>
        </p:nvSpPr>
        <p:spPr>
          <a:xfrm>
            <a:off x="10363440" y="3059668"/>
            <a:ext cx="1470274" cy="369332"/>
          </a:xfrm>
          <a:prstGeom prst="rect">
            <a:avLst/>
          </a:prstGeom>
          <a:noFill/>
        </p:spPr>
        <p:txBody>
          <a:bodyPr wrap="none" rtlCol="0">
            <a:spAutoFit/>
          </a:bodyPr>
          <a:lstStyle/>
          <a:p>
            <a:r>
              <a:rPr lang="en-US" b="1" dirty="0">
                <a:solidFill>
                  <a:srgbClr val="0000FF"/>
                </a:solidFill>
              </a:rPr>
              <a:t>2021 (virtual)</a:t>
            </a:r>
          </a:p>
        </p:txBody>
      </p:sp>
      <p:sp>
        <p:nvSpPr>
          <p:cNvPr id="2" name="TextBox 1">
            <a:extLst>
              <a:ext uri="{FF2B5EF4-FFF2-40B4-BE49-F238E27FC236}">
                <a16:creationId xmlns:a16="http://schemas.microsoft.com/office/drawing/2014/main" id="{B4536736-88E7-A20E-A759-D2F947C4B787}"/>
              </a:ext>
            </a:extLst>
          </p:cNvPr>
          <p:cNvSpPr txBox="1"/>
          <p:nvPr/>
        </p:nvSpPr>
        <p:spPr>
          <a:xfrm>
            <a:off x="521924" y="111796"/>
            <a:ext cx="8979108" cy="523220"/>
          </a:xfrm>
          <a:prstGeom prst="rect">
            <a:avLst/>
          </a:prstGeom>
          <a:noFill/>
        </p:spPr>
        <p:txBody>
          <a:bodyPr wrap="square" rtlCol="0">
            <a:spAutoFit/>
          </a:bodyPr>
          <a:lstStyle/>
          <a:p>
            <a:pPr algn="ctr"/>
            <a:r>
              <a:rPr lang="en-US" sz="2800" b="1" dirty="0">
                <a:solidFill>
                  <a:srgbClr val="0070C0"/>
                </a:solidFill>
              </a:rPr>
              <a:t>Objectives and Scope</a:t>
            </a:r>
          </a:p>
        </p:txBody>
      </p:sp>
      <p:sp>
        <p:nvSpPr>
          <p:cNvPr id="3" name="TextBox 2">
            <a:extLst>
              <a:ext uri="{FF2B5EF4-FFF2-40B4-BE49-F238E27FC236}">
                <a16:creationId xmlns:a16="http://schemas.microsoft.com/office/drawing/2014/main" id="{D1E527E0-52E7-9F04-60E0-8D93CD7EAE4E}"/>
              </a:ext>
            </a:extLst>
          </p:cNvPr>
          <p:cNvSpPr txBox="1"/>
          <p:nvPr/>
        </p:nvSpPr>
        <p:spPr>
          <a:xfrm>
            <a:off x="4170976" y="3127431"/>
            <a:ext cx="2458109" cy="369332"/>
          </a:xfrm>
          <a:prstGeom prst="rect">
            <a:avLst/>
          </a:prstGeom>
          <a:noFill/>
        </p:spPr>
        <p:txBody>
          <a:bodyPr wrap="none" rtlCol="0">
            <a:spAutoFit/>
          </a:bodyPr>
          <a:lstStyle/>
          <a:p>
            <a:r>
              <a:rPr lang="en-US" b="1" dirty="0">
                <a:solidFill>
                  <a:srgbClr val="0000FF"/>
                </a:solidFill>
              </a:rPr>
              <a:t>2023 (in person/virtual)</a:t>
            </a:r>
          </a:p>
        </p:txBody>
      </p:sp>
      <p:pic>
        <p:nvPicPr>
          <p:cNvPr id="11" name="Picture 10">
            <a:extLst>
              <a:ext uri="{FF2B5EF4-FFF2-40B4-BE49-F238E27FC236}">
                <a16:creationId xmlns:a16="http://schemas.microsoft.com/office/drawing/2014/main" id="{A5874E2D-6680-37C4-FC63-7D5A4BAA765C}"/>
              </a:ext>
            </a:extLst>
          </p:cNvPr>
          <p:cNvPicPr>
            <a:picLocks noChangeAspect="1"/>
          </p:cNvPicPr>
          <p:nvPr/>
        </p:nvPicPr>
        <p:blipFill>
          <a:blip r:embed="rId6"/>
          <a:stretch>
            <a:fillRect/>
          </a:stretch>
        </p:blipFill>
        <p:spPr>
          <a:xfrm>
            <a:off x="5260426" y="3612165"/>
            <a:ext cx="2397259" cy="1121653"/>
          </a:xfrm>
          <a:prstGeom prst="rect">
            <a:avLst/>
          </a:prstGeom>
        </p:spPr>
      </p:pic>
      <p:sp>
        <p:nvSpPr>
          <p:cNvPr id="6" name="TextBox 5">
            <a:extLst>
              <a:ext uri="{FF2B5EF4-FFF2-40B4-BE49-F238E27FC236}">
                <a16:creationId xmlns:a16="http://schemas.microsoft.com/office/drawing/2014/main" id="{3831630D-13B9-7D65-AC1A-2F5647802F7C}"/>
              </a:ext>
            </a:extLst>
          </p:cNvPr>
          <p:cNvSpPr txBox="1"/>
          <p:nvPr/>
        </p:nvSpPr>
        <p:spPr>
          <a:xfrm>
            <a:off x="615439" y="3183574"/>
            <a:ext cx="1746632" cy="369332"/>
          </a:xfrm>
          <a:prstGeom prst="rect">
            <a:avLst/>
          </a:prstGeom>
          <a:noFill/>
        </p:spPr>
        <p:txBody>
          <a:bodyPr wrap="none" rtlCol="0">
            <a:spAutoFit/>
          </a:bodyPr>
          <a:lstStyle/>
          <a:p>
            <a:r>
              <a:rPr lang="en-US" b="1" dirty="0">
                <a:solidFill>
                  <a:srgbClr val="0000FF"/>
                </a:solidFill>
              </a:rPr>
              <a:t>2026 (this year!)</a:t>
            </a:r>
          </a:p>
        </p:txBody>
      </p:sp>
      <p:pic>
        <p:nvPicPr>
          <p:cNvPr id="12" name="Picture 11">
            <a:extLst>
              <a:ext uri="{FF2B5EF4-FFF2-40B4-BE49-F238E27FC236}">
                <a16:creationId xmlns:a16="http://schemas.microsoft.com/office/drawing/2014/main" id="{8B6C9668-82B0-BDCE-1305-8C894AABA7F5}"/>
              </a:ext>
            </a:extLst>
          </p:cNvPr>
          <p:cNvPicPr>
            <a:picLocks noChangeAspect="1"/>
          </p:cNvPicPr>
          <p:nvPr/>
        </p:nvPicPr>
        <p:blipFill>
          <a:blip r:embed="rId7"/>
          <a:stretch>
            <a:fillRect/>
          </a:stretch>
        </p:blipFill>
        <p:spPr>
          <a:xfrm>
            <a:off x="60107" y="3721991"/>
            <a:ext cx="3334815" cy="1667407"/>
          </a:xfrm>
          <a:prstGeom prst="rect">
            <a:avLst/>
          </a:prstGeom>
        </p:spPr>
      </p:pic>
      <p:pic>
        <p:nvPicPr>
          <p:cNvPr id="16" name="Picture 15">
            <a:extLst>
              <a:ext uri="{FF2B5EF4-FFF2-40B4-BE49-F238E27FC236}">
                <a16:creationId xmlns:a16="http://schemas.microsoft.com/office/drawing/2014/main" id="{079E3BDF-8217-1F2A-F581-F03C4413ED4B}"/>
              </a:ext>
            </a:extLst>
          </p:cNvPr>
          <p:cNvPicPr>
            <a:picLocks noChangeAspect="1"/>
          </p:cNvPicPr>
          <p:nvPr/>
        </p:nvPicPr>
        <p:blipFill>
          <a:blip r:embed="rId8"/>
          <a:stretch>
            <a:fillRect/>
          </a:stretch>
        </p:blipFill>
        <p:spPr>
          <a:xfrm>
            <a:off x="3575320" y="3589805"/>
            <a:ext cx="4273770" cy="2197213"/>
          </a:xfrm>
          <a:prstGeom prst="rect">
            <a:avLst/>
          </a:prstGeom>
        </p:spPr>
      </p:pic>
      <p:sp>
        <p:nvSpPr>
          <p:cNvPr id="21" name="TextBox 20">
            <a:extLst>
              <a:ext uri="{FF2B5EF4-FFF2-40B4-BE49-F238E27FC236}">
                <a16:creationId xmlns:a16="http://schemas.microsoft.com/office/drawing/2014/main" id="{7C775240-93AB-9453-FBB6-EA795F92BE9D}"/>
              </a:ext>
            </a:extLst>
          </p:cNvPr>
          <p:cNvSpPr txBox="1"/>
          <p:nvPr/>
        </p:nvSpPr>
        <p:spPr>
          <a:xfrm>
            <a:off x="3671473" y="621604"/>
            <a:ext cx="6129633" cy="2431435"/>
          </a:xfrm>
          <a:prstGeom prst="rect">
            <a:avLst/>
          </a:prstGeom>
          <a:noFill/>
        </p:spPr>
        <p:txBody>
          <a:bodyPr wrap="square">
            <a:spAutoFit/>
          </a:bodyPr>
          <a:lstStyle/>
          <a:p>
            <a:pPr algn="ctr">
              <a:buNone/>
            </a:pPr>
            <a:r>
              <a:rPr lang="en-US" sz="2000" b="1" dirty="0">
                <a:solidFill>
                  <a:srgbClr val="0070C0"/>
                </a:solidFill>
              </a:rPr>
              <a:t>Workshop Objectives</a:t>
            </a:r>
          </a:p>
          <a:p>
            <a:pPr algn="ctr">
              <a:buNone/>
            </a:pPr>
            <a:endParaRPr lang="en-US" sz="2000" b="1" dirty="0">
              <a:solidFill>
                <a:srgbClr val="0070C0"/>
              </a:solidFill>
            </a:endParaRPr>
          </a:p>
          <a:p>
            <a:pPr>
              <a:buFont typeface="Arial" panose="020B0604020202020204" pitchFamily="34" charset="0"/>
              <a:buChar char="•"/>
            </a:pPr>
            <a:r>
              <a:rPr lang="en-US" sz="1600" dirty="0"/>
              <a:t>Get </a:t>
            </a:r>
            <a:r>
              <a:rPr lang="en-US" sz="1600" b="1" dirty="0"/>
              <a:t>familiar with a variety of software packages</a:t>
            </a:r>
            <a:r>
              <a:rPr lang="en-US" sz="1600" dirty="0"/>
              <a:t> relevant to modeling of excited states and nonadiabatic dynamics</a:t>
            </a:r>
          </a:p>
          <a:p>
            <a:pPr>
              <a:buFont typeface="Arial" panose="020B0604020202020204" pitchFamily="34" charset="0"/>
              <a:buChar char="•"/>
            </a:pPr>
            <a:r>
              <a:rPr lang="en-US" sz="1600" dirty="0"/>
              <a:t>Get an overview of </a:t>
            </a:r>
            <a:r>
              <a:rPr lang="en-US" sz="1600" b="1" dirty="0"/>
              <a:t>theoretical background</a:t>
            </a:r>
            <a:r>
              <a:rPr lang="en-US" sz="1600" dirty="0"/>
              <a:t> for corresponding computational methods</a:t>
            </a:r>
          </a:p>
          <a:p>
            <a:pPr>
              <a:buFont typeface="Arial" panose="020B0604020202020204" pitchFamily="34" charset="0"/>
              <a:buChar char="•"/>
            </a:pPr>
            <a:r>
              <a:rPr lang="en-US" sz="1600" dirty="0"/>
              <a:t>Get </a:t>
            </a:r>
            <a:r>
              <a:rPr lang="en-US" sz="1600" b="1" dirty="0"/>
              <a:t>experience</a:t>
            </a:r>
            <a:r>
              <a:rPr lang="en-US" sz="1600" dirty="0"/>
              <a:t> using machine learning tool and applying them to modeling </a:t>
            </a:r>
            <a:r>
              <a:rPr lang="en-US" sz="1600" b="1" dirty="0"/>
              <a:t>excited states</a:t>
            </a:r>
            <a:r>
              <a:rPr lang="en-US" sz="1600" dirty="0"/>
              <a:t> or </a:t>
            </a:r>
            <a:r>
              <a:rPr lang="en-US" sz="1600" b="1" dirty="0"/>
              <a:t>nonadiabatic dynamics</a:t>
            </a:r>
            <a:endParaRPr lang="en-US" sz="1600" dirty="0"/>
          </a:p>
          <a:p>
            <a:pPr>
              <a:buFont typeface="Arial" panose="020B0604020202020204" pitchFamily="34" charset="0"/>
              <a:buChar char="•"/>
            </a:pPr>
            <a:r>
              <a:rPr lang="en-US" sz="1600" dirty="0"/>
              <a:t>Get a </a:t>
            </a:r>
            <a:r>
              <a:rPr lang="en-US" sz="1600" b="1" dirty="0"/>
              <a:t>practical experience</a:t>
            </a:r>
            <a:r>
              <a:rPr lang="en-US" sz="1600" dirty="0"/>
              <a:t> with these tools and packages</a:t>
            </a:r>
          </a:p>
        </p:txBody>
      </p:sp>
      <p:sp>
        <p:nvSpPr>
          <p:cNvPr id="23" name="TextBox 22">
            <a:extLst>
              <a:ext uri="{FF2B5EF4-FFF2-40B4-BE49-F238E27FC236}">
                <a16:creationId xmlns:a16="http://schemas.microsoft.com/office/drawing/2014/main" id="{58236205-6F2A-3B14-0FB4-B9ED599FA69C}"/>
              </a:ext>
            </a:extLst>
          </p:cNvPr>
          <p:cNvSpPr txBox="1"/>
          <p:nvPr/>
        </p:nvSpPr>
        <p:spPr>
          <a:xfrm>
            <a:off x="111205" y="5792097"/>
            <a:ext cx="3449495" cy="954107"/>
          </a:xfrm>
          <a:prstGeom prst="rect">
            <a:avLst/>
          </a:prstGeom>
          <a:noFill/>
        </p:spPr>
        <p:txBody>
          <a:bodyPr wrap="square">
            <a:spAutoFit/>
          </a:bodyPr>
          <a:lstStyle/>
          <a:p>
            <a:r>
              <a:rPr lang="en-US" sz="1400" b="1" dirty="0"/>
              <a:t>CyberTraining: Implementation: Small: Modeling Quantum Dynamics of Excited States in Materials in the Era of Machine Learning</a:t>
            </a:r>
            <a:endParaRPr lang="en-US" sz="1400" dirty="0"/>
          </a:p>
        </p:txBody>
      </p:sp>
    </p:spTree>
    <p:extLst>
      <p:ext uri="{BB962C8B-B14F-4D97-AF65-F5344CB8AC3E}">
        <p14:creationId xmlns:p14="http://schemas.microsoft.com/office/powerpoint/2010/main" val="179631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67716" y="1001546"/>
            <a:ext cx="8351914" cy="400110"/>
          </a:xfrm>
          <a:prstGeom prst="rect">
            <a:avLst/>
          </a:prstGeom>
        </p:spPr>
        <p:txBody>
          <a:bodyPr wrap="square">
            <a:spAutoFit/>
          </a:bodyPr>
          <a:lstStyle/>
          <a:p>
            <a:r>
              <a:rPr lang="en-US" sz="2000" dirty="0">
                <a:hlinkClick r:id="rId2"/>
              </a:rPr>
              <a:t>https://compchem-cybertraining.github.io/Cyber_Training_Workshop_2026/</a:t>
            </a:r>
            <a:r>
              <a:rPr lang="en-US" sz="2000" dirty="0"/>
              <a:t> </a:t>
            </a:r>
          </a:p>
        </p:txBody>
      </p:sp>
      <p:pic>
        <p:nvPicPr>
          <p:cNvPr id="6" name="Picture 7" descr="Image result for ub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20651" y="1014178"/>
            <a:ext cx="3154197" cy="461665"/>
          </a:xfrm>
          <a:prstGeom prst="rect">
            <a:avLst/>
          </a:prstGeom>
          <a:noFill/>
        </p:spPr>
        <p:txBody>
          <a:bodyPr wrap="none" rtlCol="0">
            <a:spAutoFit/>
          </a:bodyPr>
          <a:lstStyle/>
          <a:p>
            <a:r>
              <a:rPr lang="en-US" sz="2400" b="1" dirty="0"/>
              <a:t>All the details are here:</a:t>
            </a:r>
          </a:p>
        </p:txBody>
      </p:sp>
      <p:sp>
        <p:nvSpPr>
          <p:cNvPr id="8" name="TextBox 7"/>
          <p:cNvSpPr txBox="1"/>
          <p:nvPr/>
        </p:nvSpPr>
        <p:spPr>
          <a:xfrm>
            <a:off x="301827" y="2089657"/>
            <a:ext cx="1495922" cy="461665"/>
          </a:xfrm>
          <a:prstGeom prst="rect">
            <a:avLst/>
          </a:prstGeom>
          <a:noFill/>
        </p:spPr>
        <p:txBody>
          <a:bodyPr wrap="none" rtlCol="0">
            <a:spAutoFit/>
          </a:bodyPr>
          <a:lstStyle/>
          <a:p>
            <a:r>
              <a:rPr lang="en-US" sz="2400" b="1" dirty="0"/>
              <a:t>Join </a:t>
            </a:r>
            <a:r>
              <a:rPr lang="en-US" sz="2400" b="1" dirty="0">
                <a:solidFill>
                  <a:srgbClr val="0000FF"/>
                </a:solidFill>
              </a:rPr>
              <a:t>Slack</a:t>
            </a:r>
            <a:r>
              <a:rPr lang="en-US" sz="2400" b="1" dirty="0"/>
              <a:t>:</a:t>
            </a:r>
          </a:p>
        </p:txBody>
      </p:sp>
      <p:sp>
        <p:nvSpPr>
          <p:cNvPr id="9" name="Rectangle 8"/>
          <p:cNvSpPr/>
          <p:nvPr/>
        </p:nvSpPr>
        <p:spPr>
          <a:xfrm>
            <a:off x="220651" y="4444472"/>
            <a:ext cx="11191874" cy="400110"/>
          </a:xfrm>
          <a:prstGeom prst="rect">
            <a:avLst/>
          </a:prstGeom>
        </p:spPr>
        <p:txBody>
          <a:bodyPr wrap="square">
            <a:spAutoFit/>
          </a:bodyPr>
          <a:lstStyle/>
          <a:p>
            <a:r>
              <a:rPr lang="en-US" sz="2000" dirty="0">
                <a:hlinkClick r:id="rId4"/>
              </a:rPr>
              <a:t>https://join.slack.com/t/quantumdynamicshub/shared_invite/zt-mjbhjssx-GGhsbYHxeBMvhmumK_j7LA</a:t>
            </a:r>
            <a:endParaRPr lang="en-US" sz="2000" dirty="0"/>
          </a:p>
        </p:txBody>
      </p:sp>
      <p:sp>
        <p:nvSpPr>
          <p:cNvPr id="10" name="TextBox 9"/>
          <p:cNvSpPr txBox="1"/>
          <p:nvPr/>
        </p:nvSpPr>
        <p:spPr>
          <a:xfrm>
            <a:off x="151972" y="2913122"/>
            <a:ext cx="5668657"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Members can invite new members</a:t>
            </a:r>
          </a:p>
          <a:p>
            <a:pPr marL="285750" indent="-285750">
              <a:buFont typeface="Arial" panose="020B0604020202020204" pitchFamily="34" charset="0"/>
              <a:buChar char="•"/>
            </a:pPr>
            <a:r>
              <a:rPr lang="en-US" sz="2400" dirty="0"/>
              <a:t>Private and public channels, direct (private) messages, conversations</a:t>
            </a:r>
          </a:p>
          <a:p>
            <a:pPr marL="285750" indent="-285750">
              <a:buFont typeface="Arial" panose="020B0604020202020204" pitchFamily="34" charset="0"/>
              <a:buChar char="•"/>
            </a:pPr>
            <a:r>
              <a:rPr lang="en-US" sz="2400" dirty="0"/>
              <a:t>Any time, no strings attached</a:t>
            </a:r>
          </a:p>
        </p:txBody>
      </p:sp>
      <p:sp>
        <p:nvSpPr>
          <p:cNvPr id="11" name="TextBox 10"/>
          <p:cNvSpPr txBox="1"/>
          <p:nvPr/>
        </p:nvSpPr>
        <p:spPr>
          <a:xfrm>
            <a:off x="3667716" y="5319896"/>
            <a:ext cx="3413370" cy="1200329"/>
          </a:xfrm>
          <a:prstGeom prst="rect">
            <a:avLst/>
          </a:prstGeom>
          <a:noFill/>
        </p:spPr>
        <p:txBody>
          <a:bodyPr wrap="none" rtlCol="0">
            <a:spAutoFit/>
          </a:bodyPr>
          <a:lstStyle/>
          <a:p>
            <a:r>
              <a:rPr lang="en-US" sz="2400" b="1" dirty="0">
                <a:solidFill>
                  <a:srgbClr val="FF0000"/>
                </a:solidFill>
              </a:rPr>
              <a:t>VPN and Accounts</a:t>
            </a:r>
            <a:r>
              <a:rPr lang="en-US" sz="2400" dirty="0"/>
              <a:t>:</a:t>
            </a:r>
          </a:p>
          <a:p>
            <a:pPr marL="342900" indent="-342900">
              <a:buFont typeface="Arial" panose="020B0604020202020204" pitchFamily="34" charset="0"/>
              <a:buChar char="•"/>
            </a:pPr>
            <a:r>
              <a:rPr lang="en-US" sz="2400" dirty="0"/>
              <a:t>2-factor authentication</a:t>
            </a:r>
          </a:p>
          <a:p>
            <a:pPr marL="342900" indent="-342900">
              <a:buFont typeface="Arial" panose="020B0604020202020204" pitchFamily="34" charset="0"/>
              <a:buChar char="•"/>
            </a:pPr>
            <a:r>
              <a:rPr lang="en-US" sz="2400" dirty="0">
                <a:hlinkClick r:id="rId5"/>
              </a:rPr>
              <a:t>ccr-help@buffalo.edu</a:t>
            </a:r>
            <a:r>
              <a:rPr lang="en-US" sz="2400" dirty="0"/>
              <a:t> </a:t>
            </a:r>
            <a:endParaRPr lang="en-US" sz="3200" dirty="0"/>
          </a:p>
        </p:txBody>
      </p:sp>
      <p:sp>
        <p:nvSpPr>
          <p:cNvPr id="15" name="TextBox 14">
            <a:extLst>
              <a:ext uri="{FF2B5EF4-FFF2-40B4-BE49-F238E27FC236}">
                <a16:creationId xmlns:a16="http://schemas.microsoft.com/office/drawing/2014/main" id="{5521386E-A14A-408B-9620-B3572A08B81F}"/>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The Plan &amp; Resources</a:t>
            </a:r>
          </a:p>
        </p:txBody>
      </p:sp>
      <p:pic>
        <p:nvPicPr>
          <p:cNvPr id="3" name="Picture 2">
            <a:extLst>
              <a:ext uri="{FF2B5EF4-FFF2-40B4-BE49-F238E27FC236}">
                <a16:creationId xmlns:a16="http://schemas.microsoft.com/office/drawing/2014/main" id="{56E89B22-15B3-FAE5-D1FF-839C00EE2F51}"/>
              </a:ext>
            </a:extLst>
          </p:cNvPr>
          <p:cNvPicPr>
            <a:picLocks noChangeAspect="1"/>
          </p:cNvPicPr>
          <p:nvPr/>
        </p:nvPicPr>
        <p:blipFill>
          <a:blip r:embed="rId6"/>
          <a:stretch>
            <a:fillRect/>
          </a:stretch>
        </p:blipFill>
        <p:spPr>
          <a:xfrm>
            <a:off x="5981238" y="1562495"/>
            <a:ext cx="5399366" cy="2701255"/>
          </a:xfrm>
          <a:prstGeom prst="rect">
            <a:avLst/>
          </a:prstGeom>
        </p:spPr>
      </p:pic>
    </p:spTree>
    <p:extLst>
      <p:ext uri="{BB962C8B-B14F-4D97-AF65-F5344CB8AC3E}">
        <p14:creationId xmlns:p14="http://schemas.microsoft.com/office/powerpoint/2010/main" val="2813613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5E2DA4-FD36-0998-CC98-9B8845D1DAE4}"/>
              </a:ext>
            </a:extLst>
          </p:cNvPr>
          <p:cNvPicPr>
            <a:picLocks noChangeAspect="1"/>
          </p:cNvPicPr>
          <p:nvPr/>
        </p:nvPicPr>
        <p:blipFill>
          <a:blip r:embed="rId2"/>
          <a:stretch>
            <a:fillRect/>
          </a:stretch>
        </p:blipFill>
        <p:spPr>
          <a:xfrm>
            <a:off x="109550" y="958276"/>
            <a:ext cx="11972899" cy="2628710"/>
          </a:xfrm>
          <a:prstGeom prst="rect">
            <a:avLst/>
          </a:prstGeom>
        </p:spPr>
      </p:pic>
      <p:sp>
        <p:nvSpPr>
          <p:cNvPr id="7" name="TextBox 6">
            <a:extLst>
              <a:ext uri="{FF2B5EF4-FFF2-40B4-BE49-F238E27FC236}">
                <a16:creationId xmlns:a16="http://schemas.microsoft.com/office/drawing/2014/main" id="{55882F10-0654-B1A4-53E9-7F82F51EC114}"/>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Topics and Instructors</a:t>
            </a:r>
          </a:p>
        </p:txBody>
      </p:sp>
      <p:pic>
        <p:nvPicPr>
          <p:cNvPr id="9" name="Picture 7" descr="Image result for ub logo">
            <a:extLst>
              <a:ext uri="{FF2B5EF4-FFF2-40B4-BE49-F238E27FC236}">
                <a16:creationId xmlns:a16="http://schemas.microsoft.com/office/drawing/2014/main" id="{4EAF4E27-17AE-18F3-CE6D-C846E0FF5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Dr. Hachmann. ">
            <a:extLst>
              <a:ext uri="{FF2B5EF4-FFF2-40B4-BE49-F238E27FC236}">
                <a16:creationId xmlns:a16="http://schemas.microsoft.com/office/drawing/2014/main" id="{10DAB2A2-AF92-759D-8DE8-D8061749D742}"/>
              </a:ext>
            </a:extLst>
          </p:cNvPr>
          <p:cNvPicPr>
            <a:picLocks noChangeAspect="1"/>
          </p:cNvPicPr>
          <p:nvPr/>
        </p:nvPicPr>
        <p:blipFill>
          <a:blip r:embed="rId4"/>
          <a:stretch>
            <a:fillRect/>
          </a:stretch>
        </p:blipFill>
        <p:spPr>
          <a:xfrm>
            <a:off x="7901906" y="3620999"/>
            <a:ext cx="1984437" cy="1984437"/>
          </a:xfrm>
          <a:prstGeom prst="rect">
            <a:avLst/>
          </a:prstGeom>
        </p:spPr>
      </p:pic>
      <p:sp>
        <p:nvSpPr>
          <p:cNvPr id="12" name="TextBox 11">
            <a:extLst>
              <a:ext uri="{FF2B5EF4-FFF2-40B4-BE49-F238E27FC236}">
                <a16:creationId xmlns:a16="http://schemas.microsoft.com/office/drawing/2014/main" id="{7D0C6084-C58B-8FFE-E93A-01E16803D844}"/>
              </a:ext>
            </a:extLst>
          </p:cNvPr>
          <p:cNvSpPr txBox="1"/>
          <p:nvPr/>
        </p:nvSpPr>
        <p:spPr>
          <a:xfrm>
            <a:off x="7381515" y="6194828"/>
            <a:ext cx="3926040" cy="369332"/>
          </a:xfrm>
          <a:prstGeom prst="rect">
            <a:avLst/>
          </a:prstGeom>
          <a:noFill/>
        </p:spPr>
        <p:txBody>
          <a:bodyPr wrap="square">
            <a:spAutoFit/>
          </a:bodyPr>
          <a:lstStyle/>
          <a:p>
            <a:r>
              <a:rPr lang="en-US" dirty="0">
                <a:hlinkClick r:id="rId5"/>
              </a:rPr>
              <a:t>https://hachmannlab.cbe.buffalo.edu/</a:t>
            </a:r>
            <a:r>
              <a:rPr lang="en-US" dirty="0"/>
              <a:t> </a:t>
            </a:r>
          </a:p>
        </p:txBody>
      </p:sp>
      <p:sp>
        <p:nvSpPr>
          <p:cNvPr id="14" name="TextBox 13">
            <a:extLst>
              <a:ext uri="{FF2B5EF4-FFF2-40B4-BE49-F238E27FC236}">
                <a16:creationId xmlns:a16="http://schemas.microsoft.com/office/drawing/2014/main" id="{AEC1188B-3356-BC65-0106-18F52E2AE01F}"/>
              </a:ext>
            </a:extLst>
          </p:cNvPr>
          <p:cNvSpPr txBox="1"/>
          <p:nvPr/>
        </p:nvSpPr>
        <p:spPr>
          <a:xfrm>
            <a:off x="6879351" y="5733163"/>
            <a:ext cx="4907369" cy="461665"/>
          </a:xfrm>
          <a:prstGeom prst="rect">
            <a:avLst/>
          </a:prstGeom>
          <a:noFill/>
        </p:spPr>
        <p:txBody>
          <a:bodyPr wrap="none" rtlCol="0">
            <a:spAutoFit/>
          </a:bodyPr>
          <a:lstStyle/>
          <a:p>
            <a:r>
              <a:rPr lang="en-US" sz="2400" dirty="0"/>
              <a:t>Prof. Johannes Hachmann (SUNY UB)</a:t>
            </a:r>
          </a:p>
        </p:txBody>
      </p:sp>
      <p:sp>
        <p:nvSpPr>
          <p:cNvPr id="16" name="TextBox 15">
            <a:extLst>
              <a:ext uri="{FF2B5EF4-FFF2-40B4-BE49-F238E27FC236}">
                <a16:creationId xmlns:a16="http://schemas.microsoft.com/office/drawing/2014/main" id="{D637182C-AEEA-8D9D-B827-1A49EB76C97C}"/>
              </a:ext>
            </a:extLst>
          </p:cNvPr>
          <p:cNvSpPr txBox="1"/>
          <p:nvPr/>
        </p:nvSpPr>
        <p:spPr>
          <a:xfrm>
            <a:off x="1478095" y="5825496"/>
            <a:ext cx="4311870" cy="369332"/>
          </a:xfrm>
          <a:prstGeom prst="rect">
            <a:avLst/>
          </a:prstGeom>
          <a:noFill/>
        </p:spPr>
        <p:txBody>
          <a:bodyPr wrap="square">
            <a:spAutoFit/>
          </a:bodyPr>
          <a:lstStyle/>
          <a:p>
            <a:r>
              <a:rPr lang="en-US" dirty="0">
                <a:hlinkClick r:id="rId6"/>
              </a:rPr>
              <a:t>https://hachmannlab.github.io/chemml/</a:t>
            </a:r>
            <a:r>
              <a:rPr lang="en-US" dirty="0"/>
              <a:t> </a:t>
            </a:r>
          </a:p>
        </p:txBody>
      </p:sp>
      <p:pic>
        <p:nvPicPr>
          <p:cNvPr id="18" name="Picture 17">
            <a:extLst>
              <a:ext uri="{FF2B5EF4-FFF2-40B4-BE49-F238E27FC236}">
                <a16:creationId xmlns:a16="http://schemas.microsoft.com/office/drawing/2014/main" id="{4E2A2DD8-DDFF-6D6E-0064-1A6384CD1235}"/>
              </a:ext>
            </a:extLst>
          </p:cNvPr>
          <p:cNvPicPr>
            <a:picLocks noChangeAspect="1"/>
          </p:cNvPicPr>
          <p:nvPr/>
        </p:nvPicPr>
        <p:blipFill>
          <a:blip r:embed="rId7"/>
          <a:stretch>
            <a:fillRect/>
          </a:stretch>
        </p:blipFill>
        <p:spPr>
          <a:xfrm>
            <a:off x="1004768" y="4059945"/>
            <a:ext cx="4973518" cy="1293973"/>
          </a:xfrm>
          <a:prstGeom prst="rect">
            <a:avLst/>
          </a:prstGeom>
        </p:spPr>
      </p:pic>
    </p:spTree>
    <p:extLst>
      <p:ext uri="{BB962C8B-B14F-4D97-AF65-F5344CB8AC3E}">
        <p14:creationId xmlns:p14="http://schemas.microsoft.com/office/powerpoint/2010/main" val="3952503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864F9-D4CE-EB73-462E-16A66A5E5B49}"/>
              </a:ext>
            </a:extLst>
          </p:cNvPr>
          <p:cNvPicPr>
            <a:picLocks noChangeAspect="1"/>
          </p:cNvPicPr>
          <p:nvPr/>
        </p:nvPicPr>
        <p:blipFill>
          <a:blip r:embed="rId2"/>
          <a:stretch>
            <a:fillRect/>
          </a:stretch>
        </p:blipFill>
        <p:spPr>
          <a:xfrm>
            <a:off x="149428" y="754505"/>
            <a:ext cx="11953336" cy="2948350"/>
          </a:xfrm>
          <a:prstGeom prst="rect">
            <a:avLst/>
          </a:prstGeom>
        </p:spPr>
      </p:pic>
      <p:sp>
        <p:nvSpPr>
          <p:cNvPr id="7" name="TextBox 6">
            <a:extLst>
              <a:ext uri="{FF2B5EF4-FFF2-40B4-BE49-F238E27FC236}">
                <a16:creationId xmlns:a16="http://schemas.microsoft.com/office/drawing/2014/main" id="{720E802B-EFCF-B728-8C9E-3A1C774031B6}"/>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Topics and Instructors</a:t>
            </a:r>
          </a:p>
        </p:txBody>
      </p:sp>
      <p:pic>
        <p:nvPicPr>
          <p:cNvPr id="9" name="Picture 7" descr="Image result for ub logo">
            <a:extLst>
              <a:ext uri="{FF2B5EF4-FFF2-40B4-BE49-F238E27FC236}">
                <a16:creationId xmlns:a16="http://schemas.microsoft.com/office/drawing/2014/main" id="{B49DAEF0-A5B6-FD9E-1234-5BFD5B9006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9688F363-2A94-8EAE-8B71-9705F345E320}"/>
              </a:ext>
            </a:extLst>
          </p:cNvPr>
          <p:cNvSpPr txBox="1"/>
          <p:nvPr/>
        </p:nvSpPr>
        <p:spPr>
          <a:xfrm>
            <a:off x="7313341" y="6160263"/>
            <a:ext cx="4296386" cy="369332"/>
          </a:xfrm>
          <a:prstGeom prst="rect">
            <a:avLst/>
          </a:prstGeom>
          <a:noFill/>
        </p:spPr>
        <p:txBody>
          <a:bodyPr wrap="square">
            <a:spAutoFit/>
          </a:bodyPr>
          <a:lstStyle/>
          <a:p>
            <a:r>
              <a:rPr lang="en-US" dirty="0">
                <a:hlinkClick r:id="rId4"/>
              </a:rPr>
              <a:t>https://research.cbc.osu.edu/sokolov.8/</a:t>
            </a:r>
            <a:r>
              <a:rPr lang="en-US" dirty="0"/>
              <a:t> </a:t>
            </a:r>
          </a:p>
        </p:txBody>
      </p:sp>
      <p:pic>
        <p:nvPicPr>
          <p:cNvPr id="12" name="Picture 11" descr="alexander_sokolov">
            <a:extLst>
              <a:ext uri="{FF2B5EF4-FFF2-40B4-BE49-F238E27FC236}">
                <a16:creationId xmlns:a16="http://schemas.microsoft.com/office/drawing/2014/main" id="{4C742F08-43DD-1DC6-3380-15A832700020}"/>
              </a:ext>
            </a:extLst>
          </p:cNvPr>
          <p:cNvPicPr>
            <a:picLocks noChangeAspect="1"/>
          </p:cNvPicPr>
          <p:nvPr/>
        </p:nvPicPr>
        <p:blipFill>
          <a:blip r:embed="rId5"/>
          <a:stretch>
            <a:fillRect/>
          </a:stretch>
        </p:blipFill>
        <p:spPr>
          <a:xfrm>
            <a:off x="8142181" y="3248386"/>
            <a:ext cx="2214187" cy="2214187"/>
          </a:xfrm>
          <a:prstGeom prst="rect">
            <a:avLst/>
          </a:prstGeom>
        </p:spPr>
      </p:pic>
      <p:sp>
        <p:nvSpPr>
          <p:cNvPr id="14" name="TextBox 13">
            <a:extLst>
              <a:ext uri="{FF2B5EF4-FFF2-40B4-BE49-F238E27FC236}">
                <a16:creationId xmlns:a16="http://schemas.microsoft.com/office/drawing/2014/main" id="{7F37EA24-F9C3-1286-B165-EEEAA58FA333}"/>
              </a:ext>
            </a:extLst>
          </p:cNvPr>
          <p:cNvSpPr txBox="1"/>
          <p:nvPr/>
        </p:nvSpPr>
        <p:spPr>
          <a:xfrm>
            <a:off x="661413" y="4051920"/>
            <a:ext cx="2828760" cy="369332"/>
          </a:xfrm>
          <a:prstGeom prst="rect">
            <a:avLst/>
          </a:prstGeom>
          <a:noFill/>
        </p:spPr>
        <p:txBody>
          <a:bodyPr wrap="square">
            <a:spAutoFit/>
          </a:bodyPr>
          <a:lstStyle/>
          <a:p>
            <a:r>
              <a:rPr lang="en-US" b="1" dirty="0"/>
              <a:t>PySCF</a:t>
            </a:r>
            <a:r>
              <a:rPr lang="en-US" dirty="0"/>
              <a:t>   </a:t>
            </a:r>
            <a:r>
              <a:rPr lang="en-US" dirty="0">
                <a:hlinkClick r:id="rId6"/>
              </a:rPr>
              <a:t>https://pyscf.org/</a:t>
            </a:r>
            <a:r>
              <a:rPr lang="en-US" dirty="0"/>
              <a:t> </a:t>
            </a:r>
          </a:p>
        </p:txBody>
      </p:sp>
      <p:sp>
        <p:nvSpPr>
          <p:cNvPr id="16" name="TextBox 15">
            <a:extLst>
              <a:ext uri="{FF2B5EF4-FFF2-40B4-BE49-F238E27FC236}">
                <a16:creationId xmlns:a16="http://schemas.microsoft.com/office/drawing/2014/main" id="{5BE4B939-0159-DF24-FFF3-1E9BB0968F00}"/>
              </a:ext>
            </a:extLst>
          </p:cNvPr>
          <p:cNvSpPr txBox="1"/>
          <p:nvPr/>
        </p:nvSpPr>
        <p:spPr>
          <a:xfrm>
            <a:off x="661413" y="4612072"/>
            <a:ext cx="2706101" cy="369332"/>
          </a:xfrm>
          <a:prstGeom prst="rect">
            <a:avLst/>
          </a:prstGeom>
          <a:noFill/>
        </p:spPr>
        <p:txBody>
          <a:bodyPr wrap="square">
            <a:spAutoFit/>
          </a:bodyPr>
          <a:lstStyle/>
          <a:p>
            <a:r>
              <a:rPr lang="en-US" b="1" dirty="0"/>
              <a:t>Psi4</a:t>
            </a:r>
            <a:r>
              <a:rPr lang="en-US" dirty="0"/>
              <a:t>  </a:t>
            </a:r>
            <a:r>
              <a:rPr lang="en-US" dirty="0">
                <a:hlinkClick r:id="rId7"/>
              </a:rPr>
              <a:t>https://psicode.org/</a:t>
            </a:r>
            <a:r>
              <a:rPr lang="en-US" dirty="0"/>
              <a:t> </a:t>
            </a:r>
          </a:p>
        </p:txBody>
      </p:sp>
      <p:sp>
        <p:nvSpPr>
          <p:cNvPr id="18" name="TextBox 17">
            <a:extLst>
              <a:ext uri="{FF2B5EF4-FFF2-40B4-BE49-F238E27FC236}">
                <a16:creationId xmlns:a16="http://schemas.microsoft.com/office/drawing/2014/main" id="{31FCB80C-B432-9E79-2B2C-B385F0BED105}"/>
              </a:ext>
            </a:extLst>
          </p:cNvPr>
          <p:cNvSpPr txBox="1"/>
          <p:nvPr/>
        </p:nvSpPr>
        <p:spPr>
          <a:xfrm>
            <a:off x="661413" y="5172224"/>
            <a:ext cx="5064623" cy="369332"/>
          </a:xfrm>
          <a:prstGeom prst="rect">
            <a:avLst/>
          </a:prstGeom>
          <a:noFill/>
        </p:spPr>
        <p:txBody>
          <a:bodyPr wrap="square">
            <a:spAutoFit/>
          </a:bodyPr>
          <a:lstStyle/>
          <a:p>
            <a:r>
              <a:rPr lang="en-US" b="1" dirty="0"/>
              <a:t>SQA+ </a:t>
            </a:r>
            <a:r>
              <a:rPr lang="en-US" dirty="0">
                <a:hlinkClick r:id="rId8"/>
              </a:rPr>
              <a:t>https://github.com/sokolov-group/sqa_plus</a:t>
            </a:r>
            <a:r>
              <a:rPr lang="en-US" dirty="0"/>
              <a:t> </a:t>
            </a:r>
          </a:p>
        </p:txBody>
      </p:sp>
      <p:sp>
        <p:nvSpPr>
          <p:cNvPr id="22" name="TextBox 21">
            <a:extLst>
              <a:ext uri="{FF2B5EF4-FFF2-40B4-BE49-F238E27FC236}">
                <a16:creationId xmlns:a16="http://schemas.microsoft.com/office/drawing/2014/main" id="{4FB74B21-2AAB-9AE9-6763-E20005A91BC6}"/>
              </a:ext>
            </a:extLst>
          </p:cNvPr>
          <p:cNvSpPr txBox="1"/>
          <p:nvPr/>
        </p:nvSpPr>
        <p:spPr>
          <a:xfrm>
            <a:off x="661412" y="5732376"/>
            <a:ext cx="5064623" cy="369332"/>
          </a:xfrm>
          <a:prstGeom prst="rect">
            <a:avLst/>
          </a:prstGeom>
          <a:noFill/>
        </p:spPr>
        <p:txBody>
          <a:bodyPr wrap="square">
            <a:spAutoFit/>
          </a:bodyPr>
          <a:lstStyle/>
          <a:p>
            <a:r>
              <a:rPr lang="en-US" b="1" dirty="0"/>
              <a:t>PRISM</a:t>
            </a:r>
            <a:r>
              <a:rPr lang="en-US" dirty="0"/>
              <a:t>  </a:t>
            </a:r>
            <a:r>
              <a:rPr lang="en-US" dirty="0">
                <a:hlinkClick r:id="rId9"/>
              </a:rPr>
              <a:t>https://github.com/sokolov-group/prism/</a:t>
            </a:r>
            <a:r>
              <a:rPr lang="en-US" dirty="0"/>
              <a:t> </a:t>
            </a:r>
          </a:p>
        </p:txBody>
      </p:sp>
      <p:sp>
        <p:nvSpPr>
          <p:cNvPr id="24" name="TextBox 23">
            <a:extLst>
              <a:ext uri="{FF2B5EF4-FFF2-40B4-BE49-F238E27FC236}">
                <a16:creationId xmlns:a16="http://schemas.microsoft.com/office/drawing/2014/main" id="{D7445076-A98E-4F1F-EAE6-7AFBE78E06B9}"/>
              </a:ext>
            </a:extLst>
          </p:cNvPr>
          <p:cNvSpPr txBox="1"/>
          <p:nvPr/>
        </p:nvSpPr>
        <p:spPr>
          <a:xfrm>
            <a:off x="6564041" y="5612150"/>
            <a:ext cx="4944302" cy="461665"/>
          </a:xfrm>
          <a:prstGeom prst="rect">
            <a:avLst/>
          </a:prstGeom>
          <a:noFill/>
        </p:spPr>
        <p:txBody>
          <a:bodyPr wrap="none" rtlCol="0">
            <a:spAutoFit/>
          </a:bodyPr>
          <a:lstStyle/>
          <a:p>
            <a:r>
              <a:rPr lang="en-US" sz="2400" dirty="0"/>
              <a:t>Prof. Alexander Sokolov (Ohio State U)</a:t>
            </a:r>
          </a:p>
        </p:txBody>
      </p:sp>
    </p:spTree>
    <p:extLst>
      <p:ext uri="{BB962C8B-B14F-4D97-AF65-F5344CB8AC3E}">
        <p14:creationId xmlns:p14="http://schemas.microsoft.com/office/powerpoint/2010/main" val="2115575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82E1DD-792B-7563-9918-4409F0E492F1}"/>
              </a:ext>
            </a:extLst>
          </p:cNvPr>
          <p:cNvPicPr>
            <a:picLocks noChangeAspect="1"/>
          </p:cNvPicPr>
          <p:nvPr/>
        </p:nvPicPr>
        <p:blipFill>
          <a:blip r:embed="rId2"/>
          <a:stretch>
            <a:fillRect/>
          </a:stretch>
        </p:blipFill>
        <p:spPr>
          <a:xfrm>
            <a:off x="84177" y="742226"/>
            <a:ext cx="12023646" cy="2721806"/>
          </a:xfrm>
          <a:prstGeom prst="rect">
            <a:avLst/>
          </a:prstGeom>
        </p:spPr>
      </p:pic>
      <p:sp>
        <p:nvSpPr>
          <p:cNvPr id="7" name="TextBox 6">
            <a:extLst>
              <a:ext uri="{FF2B5EF4-FFF2-40B4-BE49-F238E27FC236}">
                <a16:creationId xmlns:a16="http://schemas.microsoft.com/office/drawing/2014/main" id="{6DF5FDC3-F9BE-8F87-4C5D-9D0B8C8237A7}"/>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Topics and Instructors</a:t>
            </a:r>
          </a:p>
        </p:txBody>
      </p:sp>
      <p:pic>
        <p:nvPicPr>
          <p:cNvPr id="9" name="Picture 7" descr="Image result for ub logo">
            <a:extLst>
              <a:ext uri="{FF2B5EF4-FFF2-40B4-BE49-F238E27FC236}">
                <a16:creationId xmlns:a16="http://schemas.microsoft.com/office/drawing/2014/main" id="{1E89320F-77BA-6FC9-2F17-C8D21F015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Arshad Mehmood">
            <a:extLst>
              <a:ext uri="{FF2B5EF4-FFF2-40B4-BE49-F238E27FC236}">
                <a16:creationId xmlns:a16="http://schemas.microsoft.com/office/drawing/2014/main" id="{9B2F6253-EAEE-AAE0-0227-6319A4C36912}"/>
              </a:ext>
            </a:extLst>
          </p:cNvPr>
          <p:cNvPicPr>
            <a:picLocks noChangeAspect="1"/>
          </p:cNvPicPr>
          <p:nvPr/>
        </p:nvPicPr>
        <p:blipFill>
          <a:blip r:embed="rId4"/>
          <a:stretch>
            <a:fillRect/>
          </a:stretch>
        </p:blipFill>
        <p:spPr>
          <a:xfrm>
            <a:off x="6384499" y="3256282"/>
            <a:ext cx="1964341" cy="1975254"/>
          </a:xfrm>
          <a:prstGeom prst="rect">
            <a:avLst/>
          </a:prstGeom>
        </p:spPr>
      </p:pic>
      <p:sp>
        <p:nvSpPr>
          <p:cNvPr id="12" name="TextBox 11">
            <a:extLst>
              <a:ext uri="{FF2B5EF4-FFF2-40B4-BE49-F238E27FC236}">
                <a16:creationId xmlns:a16="http://schemas.microsoft.com/office/drawing/2014/main" id="{137FB96A-10DE-173D-8EED-D879FC2198C9}"/>
              </a:ext>
            </a:extLst>
          </p:cNvPr>
          <p:cNvSpPr txBox="1"/>
          <p:nvPr/>
        </p:nvSpPr>
        <p:spPr>
          <a:xfrm>
            <a:off x="5963527" y="5409337"/>
            <a:ext cx="2997580" cy="830997"/>
          </a:xfrm>
          <a:prstGeom prst="rect">
            <a:avLst/>
          </a:prstGeom>
          <a:noFill/>
        </p:spPr>
        <p:txBody>
          <a:bodyPr wrap="square" rtlCol="0">
            <a:spAutoFit/>
          </a:bodyPr>
          <a:lstStyle/>
          <a:p>
            <a:pPr algn="ctr"/>
            <a:r>
              <a:rPr lang="en-US" sz="2400" dirty="0"/>
              <a:t>Dr. Arshad Mehmood (Stony Brook U)</a:t>
            </a:r>
          </a:p>
        </p:txBody>
      </p:sp>
      <p:sp>
        <p:nvSpPr>
          <p:cNvPr id="14" name="TextBox 13">
            <a:extLst>
              <a:ext uri="{FF2B5EF4-FFF2-40B4-BE49-F238E27FC236}">
                <a16:creationId xmlns:a16="http://schemas.microsoft.com/office/drawing/2014/main" id="{5CF9FC8D-2007-7466-8904-ADF0DECA73A9}"/>
              </a:ext>
            </a:extLst>
          </p:cNvPr>
          <p:cNvSpPr txBox="1"/>
          <p:nvPr/>
        </p:nvSpPr>
        <p:spPr>
          <a:xfrm>
            <a:off x="5627819" y="6340697"/>
            <a:ext cx="4028089" cy="369332"/>
          </a:xfrm>
          <a:prstGeom prst="rect">
            <a:avLst/>
          </a:prstGeom>
          <a:noFill/>
        </p:spPr>
        <p:txBody>
          <a:bodyPr wrap="square">
            <a:spAutoFit/>
          </a:bodyPr>
          <a:lstStyle/>
          <a:p>
            <a:r>
              <a:rPr lang="en-US" dirty="0">
                <a:hlinkClick r:id="rId5"/>
              </a:rPr>
              <a:t>https://arshadmehmood118.github.io/</a:t>
            </a:r>
            <a:r>
              <a:rPr lang="en-US" dirty="0"/>
              <a:t> </a:t>
            </a:r>
          </a:p>
        </p:txBody>
      </p:sp>
      <p:pic>
        <p:nvPicPr>
          <p:cNvPr id="15" name="Picture 14" descr="hhh">
            <a:extLst>
              <a:ext uri="{FF2B5EF4-FFF2-40B4-BE49-F238E27FC236}">
                <a16:creationId xmlns:a16="http://schemas.microsoft.com/office/drawing/2014/main" id="{56526D41-B7B0-24EB-BE86-ECF746E8120E}"/>
              </a:ext>
            </a:extLst>
          </p:cNvPr>
          <p:cNvPicPr>
            <a:picLocks noChangeAspect="1"/>
          </p:cNvPicPr>
          <p:nvPr/>
        </p:nvPicPr>
        <p:blipFill>
          <a:blip r:embed="rId6"/>
          <a:stretch>
            <a:fillRect/>
          </a:stretch>
        </p:blipFill>
        <p:spPr>
          <a:xfrm>
            <a:off x="10053145" y="3234671"/>
            <a:ext cx="1383161" cy="2074742"/>
          </a:xfrm>
          <a:prstGeom prst="rect">
            <a:avLst/>
          </a:prstGeom>
        </p:spPr>
      </p:pic>
      <p:sp>
        <p:nvSpPr>
          <p:cNvPr id="17" name="TextBox 16">
            <a:extLst>
              <a:ext uri="{FF2B5EF4-FFF2-40B4-BE49-F238E27FC236}">
                <a16:creationId xmlns:a16="http://schemas.microsoft.com/office/drawing/2014/main" id="{7F20FE8D-075B-6652-C17A-49697E387057}"/>
              </a:ext>
            </a:extLst>
          </p:cNvPr>
          <p:cNvSpPr txBox="1"/>
          <p:nvPr/>
        </p:nvSpPr>
        <p:spPr>
          <a:xfrm>
            <a:off x="9655908" y="6298467"/>
            <a:ext cx="2653336" cy="369332"/>
          </a:xfrm>
          <a:prstGeom prst="rect">
            <a:avLst/>
          </a:prstGeom>
          <a:noFill/>
        </p:spPr>
        <p:txBody>
          <a:bodyPr wrap="square">
            <a:spAutoFit/>
          </a:bodyPr>
          <a:lstStyle/>
          <a:p>
            <a:r>
              <a:rPr lang="en-US" dirty="0">
                <a:hlinkClick r:id="rId7"/>
              </a:rPr>
              <a:t>https://levinegroup.org/</a:t>
            </a:r>
            <a:r>
              <a:rPr lang="en-US" dirty="0"/>
              <a:t> </a:t>
            </a:r>
          </a:p>
        </p:txBody>
      </p:sp>
      <p:sp>
        <p:nvSpPr>
          <p:cNvPr id="19" name="TextBox 18">
            <a:extLst>
              <a:ext uri="{FF2B5EF4-FFF2-40B4-BE49-F238E27FC236}">
                <a16:creationId xmlns:a16="http://schemas.microsoft.com/office/drawing/2014/main" id="{B3507B0C-D29F-4858-8FF7-685162A30E9C}"/>
              </a:ext>
            </a:extLst>
          </p:cNvPr>
          <p:cNvSpPr txBox="1"/>
          <p:nvPr/>
        </p:nvSpPr>
        <p:spPr>
          <a:xfrm>
            <a:off x="9296816" y="5439286"/>
            <a:ext cx="2895818" cy="830997"/>
          </a:xfrm>
          <a:prstGeom prst="rect">
            <a:avLst/>
          </a:prstGeom>
          <a:noFill/>
        </p:spPr>
        <p:txBody>
          <a:bodyPr wrap="square" rtlCol="0">
            <a:spAutoFit/>
          </a:bodyPr>
          <a:lstStyle/>
          <a:p>
            <a:pPr algn="ctr"/>
            <a:r>
              <a:rPr lang="en-US" sz="2400" dirty="0"/>
              <a:t>Prof. Benjamin Levine (Stony Brook U)</a:t>
            </a:r>
          </a:p>
        </p:txBody>
      </p:sp>
      <p:sp>
        <p:nvSpPr>
          <p:cNvPr id="21" name="TextBox 20">
            <a:extLst>
              <a:ext uri="{FF2B5EF4-FFF2-40B4-BE49-F238E27FC236}">
                <a16:creationId xmlns:a16="http://schemas.microsoft.com/office/drawing/2014/main" id="{BB6675DA-B892-7084-337F-6F642E68D386}"/>
              </a:ext>
            </a:extLst>
          </p:cNvPr>
          <p:cNvSpPr txBox="1"/>
          <p:nvPr/>
        </p:nvSpPr>
        <p:spPr>
          <a:xfrm>
            <a:off x="1878663" y="3592345"/>
            <a:ext cx="3884849" cy="646331"/>
          </a:xfrm>
          <a:prstGeom prst="rect">
            <a:avLst/>
          </a:prstGeom>
          <a:noFill/>
        </p:spPr>
        <p:txBody>
          <a:bodyPr wrap="square">
            <a:spAutoFit/>
          </a:bodyPr>
          <a:lstStyle/>
          <a:p>
            <a:r>
              <a:rPr lang="en-US" b="1" dirty="0"/>
              <a:t>OpenMolcas</a:t>
            </a:r>
            <a:r>
              <a:rPr lang="en-US" dirty="0"/>
              <a:t> </a:t>
            </a:r>
            <a:r>
              <a:rPr lang="en-US" dirty="0">
                <a:hlinkClick r:id="rId8"/>
              </a:rPr>
              <a:t>https://gitlab.com/Molcas/OpenMolcas</a:t>
            </a:r>
            <a:r>
              <a:rPr lang="en-US" dirty="0"/>
              <a:t> </a:t>
            </a:r>
          </a:p>
        </p:txBody>
      </p:sp>
      <p:pic>
        <p:nvPicPr>
          <p:cNvPr id="23" name="Picture 22" descr="Molcas / OpenMolcas · GitLab">
            <a:extLst>
              <a:ext uri="{FF2B5EF4-FFF2-40B4-BE49-F238E27FC236}">
                <a16:creationId xmlns:a16="http://schemas.microsoft.com/office/drawing/2014/main" id="{096152C4-7131-E9B0-1934-36FD472DF3C0}"/>
              </a:ext>
            </a:extLst>
          </p:cNvPr>
          <p:cNvPicPr>
            <a:picLocks noChangeAspect="1"/>
          </p:cNvPicPr>
          <p:nvPr/>
        </p:nvPicPr>
        <p:blipFill>
          <a:blip r:embed="rId9"/>
          <a:stretch>
            <a:fillRect/>
          </a:stretch>
        </p:blipFill>
        <p:spPr>
          <a:xfrm>
            <a:off x="363895" y="3524756"/>
            <a:ext cx="1514768" cy="1494571"/>
          </a:xfrm>
          <a:prstGeom prst="rect">
            <a:avLst/>
          </a:prstGeom>
        </p:spPr>
      </p:pic>
      <p:pic>
        <p:nvPicPr>
          <p:cNvPr id="25" name="Picture 24">
            <a:extLst>
              <a:ext uri="{FF2B5EF4-FFF2-40B4-BE49-F238E27FC236}">
                <a16:creationId xmlns:a16="http://schemas.microsoft.com/office/drawing/2014/main" id="{66F0C856-93FE-706C-FE42-1A4E69C879B0}"/>
              </a:ext>
            </a:extLst>
          </p:cNvPr>
          <p:cNvPicPr>
            <a:picLocks noChangeAspect="1"/>
          </p:cNvPicPr>
          <p:nvPr/>
        </p:nvPicPr>
        <p:blipFill>
          <a:blip r:embed="rId10"/>
          <a:stretch>
            <a:fillRect/>
          </a:stretch>
        </p:blipFill>
        <p:spPr>
          <a:xfrm>
            <a:off x="206930" y="5309413"/>
            <a:ext cx="2682281" cy="653016"/>
          </a:xfrm>
          <a:prstGeom prst="rect">
            <a:avLst/>
          </a:prstGeom>
        </p:spPr>
      </p:pic>
      <p:sp>
        <p:nvSpPr>
          <p:cNvPr id="27" name="TextBox 26">
            <a:extLst>
              <a:ext uri="{FF2B5EF4-FFF2-40B4-BE49-F238E27FC236}">
                <a16:creationId xmlns:a16="http://schemas.microsoft.com/office/drawing/2014/main" id="{76AF6F54-133F-A4D3-E7F1-4DC40D54EC36}"/>
              </a:ext>
            </a:extLst>
          </p:cNvPr>
          <p:cNvSpPr txBox="1"/>
          <p:nvPr/>
        </p:nvSpPr>
        <p:spPr>
          <a:xfrm>
            <a:off x="288911" y="6183981"/>
            <a:ext cx="5313255" cy="369332"/>
          </a:xfrm>
          <a:prstGeom prst="rect">
            <a:avLst/>
          </a:prstGeom>
          <a:noFill/>
        </p:spPr>
        <p:txBody>
          <a:bodyPr wrap="square">
            <a:spAutoFit/>
          </a:bodyPr>
          <a:lstStyle/>
          <a:p>
            <a:r>
              <a:rPr lang="en-US" b="1" dirty="0"/>
              <a:t>pySpawn17</a:t>
            </a:r>
            <a:r>
              <a:rPr lang="en-US" dirty="0"/>
              <a:t> </a:t>
            </a:r>
            <a:r>
              <a:rPr lang="en-US" dirty="0">
                <a:hlinkClick r:id="rId11"/>
              </a:rPr>
              <a:t>https://github.com/blevine37/pySpawn17</a:t>
            </a:r>
            <a:r>
              <a:rPr lang="en-US" dirty="0"/>
              <a:t> </a:t>
            </a:r>
          </a:p>
        </p:txBody>
      </p:sp>
      <p:sp>
        <p:nvSpPr>
          <p:cNvPr id="3" name="TextBox 2">
            <a:extLst>
              <a:ext uri="{FF2B5EF4-FFF2-40B4-BE49-F238E27FC236}">
                <a16:creationId xmlns:a16="http://schemas.microsoft.com/office/drawing/2014/main" id="{692F075E-CD8D-EECF-BB57-1DB0D53A0AF5}"/>
              </a:ext>
            </a:extLst>
          </p:cNvPr>
          <p:cNvSpPr txBox="1"/>
          <p:nvPr/>
        </p:nvSpPr>
        <p:spPr>
          <a:xfrm>
            <a:off x="2498345" y="5409337"/>
            <a:ext cx="3300764" cy="646331"/>
          </a:xfrm>
          <a:prstGeom prst="rect">
            <a:avLst/>
          </a:prstGeom>
          <a:noFill/>
        </p:spPr>
        <p:txBody>
          <a:bodyPr wrap="square">
            <a:spAutoFit/>
          </a:bodyPr>
          <a:lstStyle/>
          <a:p>
            <a:r>
              <a:rPr lang="en-US" dirty="0">
                <a:hlinkClick r:id="rId12"/>
              </a:rPr>
              <a:t>https://github.com/compchem-cybertraining/Tutorials_PySpawn</a:t>
            </a:r>
            <a:r>
              <a:rPr lang="en-US" dirty="0"/>
              <a:t> </a:t>
            </a:r>
          </a:p>
        </p:txBody>
      </p:sp>
      <p:sp>
        <p:nvSpPr>
          <p:cNvPr id="6" name="TextBox 5">
            <a:extLst>
              <a:ext uri="{FF2B5EF4-FFF2-40B4-BE49-F238E27FC236}">
                <a16:creationId xmlns:a16="http://schemas.microsoft.com/office/drawing/2014/main" id="{32341AFB-ED00-0380-E76D-9923FD13431A}"/>
              </a:ext>
            </a:extLst>
          </p:cNvPr>
          <p:cNvSpPr txBox="1"/>
          <p:nvPr/>
        </p:nvSpPr>
        <p:spPr>
          <a:xfrm>
            <a:off x="1935531" y="4329065"/>
            <a:ext cx="3771112" cy="646331"/>
          </a:xfrm>
          <a:prstGeom prst="rect">
            <a:avLst/>
          </a:prstGeom>
          <a:noFill/>
        </p:spPr>
        <p:txBody>
          <a:bodyPr wrap="square">
            <a:spAutoFit/>
          </a:bodyPr>
          <a:lstStyle/>
          <a:p>
            <a:r>
              <a:rPr lang="en-US" dirty="0">
                <a:hlinkClick r:id="rId13"/>
              </a:rPr>
              <a:t>https://github.com/compchem-cybertraining/Tutorials_OpenMolcas</a:t>
            </a:r>
            <a:r>
              <a:rPr lang="en-US" dirty="0"/>
              <a:t> </a:t>
            </a:r>
          </a:p>
        </p:txBody>
      </p:sp>
    </p:spTree>
    <p:extLst>
      <p:ext uri="{BB962C8B-B14F-4D97-AF65-F5344CB8AC3E}">
        <p14:creationId xmlns:p14="http://schemas.microsoft.com/office/powerpoint/2010/main" val="588208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DC1FE1-0752-8333-6FB4-BAF75A2592C1}"/>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Topics and Instructors</a:t>
            </a:r>
          </a:p>
        </p:txBody>
      </p:sp>
      <p:pic>
        <p:nvPicPr>
          <p:cNvPr id="5" name="Picture 7" descr="Image result for ub logo">
            <a:extLst>
              <a:ext uri="{FF2B5EF4-FFF2-40B4-BE49-F238E27FC236}">
                <a16:creationId xmlns:a16="http://schemas.microsoft.com/office/drawing/2014/main" id="{101ADB52-B33B-CA2D-002C-0278C7B817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632C852E-90B5-0D70-DFBB-8E834BFF8E65}"/>
              </a:ext>
            </a:extLst>
          </p:cNvPr>
          <p:cNvSpPr txBox="1"/>
          <p:nvPr/>
        </p:nvSpPr>
        <p:spPr>
          <a:xfrm>
            <a:off x="9490476" y="5206799"/>
            <a:ext cx="2118761" cy="1200329"/>
          </a:xfrm>
          <a:prstGeom prst="rect">
            <a:avLst/>
          </a:prstGeom>
          <a:noFill/>
        </p:spPr>
        <p:txBody>
          <a:bodyPr wrap="square" rtlCol="0">
            <a:spAutoFit/>
          </a:bodyPr>
          <a:lstStyle/>
          <a:p>
            <a:pPr algn="ctr"/>
            <a:r>
              <a:rPr lang="en-US" sz="2400" dirty="0"/>
              <a:t>Dr. Mohammad Shakiba</a:t>
            </a:r>
          </a:p>
          <a:p>
            <a:pPr algn="ctr"/>
            <a:r>
              <a:rPr lang="en-US" sz="2400" dirty="0"/>
              <a:t>(UC Merced)</a:t>
            </a:r>
          </a:p>
        </p:txBody>
      </p:sp>
      <p:sp>
        <p:nvSpPr>
          <p:cNvPr id="11" name="TextBox 10">
            <a:extLst>
              <a:ext uri="{FF2B5EF4-FFF2-40B4-BE49-F238E27FC236}">
                <a16:creationId xmlns:a16="http://schemas.microsoft.com/office/drawing/2014/main" id="{771821E8-4DA2-352C-97ED-32C4A62444DA}"/>
              </a:ext>
            </a:extLst>
          </p:cNvPr>
          <p:cNvSpPr txBox="1"/>
          <p:nvPr/>
        </p:nvSpPr>
        <p:spPr>
          <a:xfrm>
            <a:off x="6347037" y="5556071"/>
            <a:ext cx="2643865" cy="830997"/>
          </a:xfrm>
          <a:prstGeom prst="rect">
            <a:avLst/>
          </a:prstGeom>
          <a:noFill/>
        </p:spPr>
        <p:txBody>
          <a:bodyPr wrap="none" rtlCol="0">
            <a:spAutoFit/>
          </a:bodyPr>
          <a:lstStyle/>
          <a:p>
            <a:pPr algn="ctr"/>
            <a:r>
              <a:rPr lang="en-US" sz="2400" dirty="0"/>
              <a:t>Prof. Alexey Akimov</a:t>
            </a:r>
          </a:p>
          <a:p>
            <a:pPr algn="ctr"/>
            <a:r>
              <a:rPr lang="en-US" sz="2400" dirty="0"/>
              <a:t>(UB, SUNY)</a:t>
            </a:r>
          </a:p>
        </p:txBody>
      </p:sp>
      <p:pic>
        <p:nvPicPr>
          <p:cNvPr id="12" name="Picture 14" descr="logo1">
            <a:extLst>
              <a:ext uri="{FF2B5EF4-FFF2-40B4-BE49-F238E27FC236}">
                <a16:creationId xmlns:a16="http://schemas.microsoft.com/office/drawing/2014/main" id="{0F604C1F-9509-CF8B-19AE-02589E012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2543" y="3429000"/>
            <a:ext cx="1956540" cy="892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2A8B5E88-5DCA-5916-3F6A-5E7965A9E63C}"/>
              </a:ext>
            </a:extLst>
          </p:cNvPr>
          <p:cNvSpPr txBox="1"/>
          <p:nvPr/>
        </p:nvSpPr>
        <p:spPr>
          <a:xfrm>
            <a:off x="147145" y="4376640"/>
            <a:ext cx="5417575" cy="369332"/>
          </a:xfrm>
          <a:prstGeom prst="rect">
            <a:avLst/>
          </a:prstGeom>
          <a:noFill/>
        </p:spPr>
        <p:txBody>
          <a:bodyPr wrap="square">
            <a:spAutoFit/>
          </a:bodyPr>
          <a:lstStyle/>
          <a:p>
            <a:r>
              <a:rPr lang="en-US" dirty="0">
                <a:hlinkClick r:id="rId4"/>
              </a:rPr>
              <a:t>https://github.com/Quantum-Dynamics-Hub/libra-code</a:t>
            </a:r>
            <a:r>
              <a:rPr lang="en-US" dirty="0"/>
              <a:t> </a:t>
            </a:r>
          </a:p>
        </p:txBody>
      </p:sp>
      <p:sp>
        <p:nvSpPr>
          <p:cNvPr id="15" name="TextBox 14">
            <a:extLst>
              <a:ext uri="{FF2B5EF4-FFF2-40B4-BE49-F238E27FC236}">
                <a16:creationId xmlns:a16="http://schemas.microsoft.com/office/drawing/2014/main" id="{1B89E959-ECA7-97D5-5B95-4BE46C0B0835}"/>
              </a:ext>
            </a:extLst>
          </p:cNvPr>
          <p:cNvSpPr txBox="1"/>
          <p:nvPr/>
        </p:nvSpPr>
        <p:spPr>
          <a:xfrm>
            <a:off x="334581" y="3625958"/>
            <a:ext cx="809517" cy="461665"/>
          </a:xfrm>
          <a:prstGeom prst="rect">
            <a:avLst/>
          </a:prstGeom>
          <a:noFill/>
        </p:spPr>
        <p:txBody>
          <a:bodyPr wrap="none" rtlCol="0">
            <a:spAutoFit/>
          </a:bodyPr>
          <a:lstStyle/>
          <a:p>
            <a:r>
              <a:rPr lang="en-US" sz="2400" b="1" dirty="0"/>
              <a:t>Libra</a:t>
            </a:r>
          </a:p>
        </p:txBody>
      </p:sp>
      <p:sp>
        <p:nvSpPr>
          <p:cNvPr id="19" name="TextBox 18">
            <a:extLst>
              <a:ext uri="{FF2B5EF4-FFF2-40B4-BE49-F238E27FC236}">
                <a16:creationId xmlns:a16="http://schemas.microsoft.com/office/drawing/2014/main" id="{81694E7B-BDCB-61D4-FD31-8F37A8424FAF}"/>
              </a:ext>
            </a:extLst>
          </p:cNvPr>
          <p:cNvSpPr txBox="1"/>
          <p:nvPr/>
        </p:nvSpPr>
        <p:spPr>
          <a:xfrm>
            <a:off x="85664" y="4986884"/>
            <a:ext cx="5926364" cy="369332"/>
          </a:xfrm>
          <a:prstGeom prst="rect">
            <a:avLst/>
          </a:prstGeom>
          <a:noFill/>
        </p:spPr>
        <p:txBody>
          <a:bodyPr wrap="square">
            <a:spAutoFit/>
          </a:bodyPr>
          <a:lstStyle/>
          <a:p>
            <a:r>
              <a:rPr lang="en-US" dirty="0">
                <a:hlinkClick r:id="rId5"/>
              </a:rPr>
              <a:t>https://github.com/compchem-cybertraining/Tutorials_Libra</a:t>
            </a:r>
            <a:r>
              <a:rPr lang="en-US" dirty="0"/>
              <a:t> </a:t>
            </a:r>
          </a:p>
        </p:txBody>
      </p:sp>
      <p:sp>
        <p:nvSpPr>
          <p:cNvPr id="21" name="TextBox 20">
            <a:extLst>
              <a:ext uri="{FF2B5EF4-FFF2-40B4-BE49-F238E27FC236}">
                <a16:creationId xmlns:a16="http://schemas.microsoft.com/office/drawing/2014/main" id="{D5394B46-D2F5-BE02-C990-66B87ABBC957}"/>
              </a:ext>
            </a:extLst>
          </p:cNvPr>
          <p:cNvSpPr txBox="1"/>
          <p:nvPr/>
        </p:nvSpPr>
        <p:spPr>
          <a:xfrm>
            <a:off x="85664" y="5294561"/>
            <a:ext cx="6830931" cy="369332"/>
          </a:xfrm>
          <a:prstGeom prst="rect">
            <a:avLst/>
          </a:prstGeom>
          <a:noFill/>
        </p:spPr>
        <p:txBody>
          <a:bodyPr wrap="square">
            <a:spAutoFit/>
          </a:bodyPr>
          <a:lstStyle/>
          <a:p>
            <a:r>
              <a:rPr lang="en-US" dirty="0">
                <a:hlinkClick r:id="rId6"/>
              </a:rPr>
              <a:t>https://github.com/compchem-cybertraining/Tutorials_DFTB_plus</a:t>
            </a:r>
            <a:r>
              <a:rPr lang="en-US" dirty="0"/>
              <a:t> </a:t>
            </a:r>
          </a:p>
        </p:txBody>
      </p:sp>
      <p:sp>
        <p:nvSpPr>
          <p:cNvPr id="23" name="TextBox 22">
            <a:extLst>
              <a:ext uri="{FF2B5EF4-FFF2-40B4-BE49-F238E27FC236}">
                <a16:creationId xmlns:a16="http://schemas.microsoft.com/office/drawing/2014/main" id="{F3162B63-49E5-2A79-F5F9-315A0799F747}"/>
              </a:ext>
            </a:extLst>
          </p:cNvPr>
          <p:cNvSpPr txBox="1"/>
          <p:nvPr/>
        </p:nvSpPr>
        <p:spPr>
          <a:xfrm>
            <a:off x="85664" y="5677238"/>
            <a:ext cx="6164826" cy="369332"/>
          </a:xfrm>
          <a:prstGeom prst="rect">
            <a:avLst/>
          </a:prstGeom>
          <a:noFill/>
        </p:spPr>
        <p:txBody>
          <a:bodyPr wrap="square">
            <a:spAutoFit/>
          </a:bodyPr>
          <a:lstStyle/>
          <a:p>
            <a:r>
              <a:rPr lang="en-US" dirty="0">
                <a:hlinkClick r:id="rId7"/>
              </a:rPr>
              <a:t>https://github.com/compchem-cybertraining/Tutorials_CP2K</a:t>
            </a:r>
            <a:r>
              <a:rPr lang="en-US" dirty="0"/>
              <a:t> </a:t>
            </a:r>
          </a:p>
        </p:txBody>
      </p:sp>
      <p:pic>
        <p:nvPicPr>
          <p:cNvPr id="25" name="Picture 24" descr="A person with short dark hair wearing a plaid shirt&#10;&#10;Description automatically generated with low confidence">
            <a:extLst>
              <a:ext uri="{FF2B5EF4-FFF2-40B4-BE49-F238E27FC236}">
                <a16:creationId xmlns:a16="http://schemas.microsoft.com/office/drawing/2014/main" id="{F2206C7F-E784-5CEA-48C9-CCC21954F70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36669" y="3181066"/>
            <a:ext cx="2006093" cy="2012780"/>
          </a:xfrm>
          <a:prstGeom prst="rect">
            <a:avLst/>
          </a:prstGeom>
        </p:spPr>
      </p:pic>
      <p:pic>
        <p:nvPicPr>
          <p:cNvPr id="6" name="Picture 5">
            <a:extLst>
              <a:ext uri="{FF2B5EF4-FFF2-40B4-BE49-F238E27FC236}">
                <a16:creationId xmlns:a16="http://schemas.microsoft.com/office/drawing/2014/main" id="{2FA79ED5-3A46-5046-D90B-A9C77D62BE84}"/>
              </a:ext>
            </a:extLst>
          </p:cNvPr>
          <p:cNvPicPr>
            <a:picLocks noChangeAspect="1"/>
          </p:cNvPicPr>
          <p:nvPr/>
        </p:nvPicPr>
        <p:blipFill>
          <a:blip r:embed="rId9"/>
          <a:stretch>
            <a:fillRect/>
          </a:stretch>
        </p:blipFill>
        <p:spPr>
          <a:xfrm>
            <a:off x="0" y="958276"/>
            <a:ext cx="11899812" cy="1941253"/>
          </a:xfrm>
          <a:prstGeom prst="rect">
            <a:avLst/>
          </a:prstGeom>
        </p:spPr>
      </p:pic>
      <p:pic>
        <p:nvPicPr>
          <p:cNvPr id="3" name="Picture 2">
            <a:extLst>
              <a:ext uri="{FF2B5EF4-FFF2-40B4-BE49-F238E27FC236}">
                <a16:creationId xmlns:a16="http://schemas.microsoft.com/office/drawing/2014/main" id="{5B9E2415-D2E2-0D5A-D205-EE4D6CC68691}"/>
              </a:ext>
            </a:extLst>
          </p:cNvPr>
          <p:cNvPicPr>
            <a:picLocks noChangeAspect="1"/>
          </p:cNvPicPr>
          <p:nvPr/>
        </p:nvPicPr>
        <p:blipFill>
          <a:blip r:embed="rId10" cstate="print">
            <a:extLst>
              <a:ext uri="{28A0092B-C50C-407E-A947-70E740481C1C}">
                <a14:useLocalDpi xmlns:a14="http://schemas.microsoft.com/office/drawing/2010/main" val="0"/>
              </a:ext>
            </a:extLst>
          </a:blip>
          <a:srcRect l="40011" t="18479" b="23732"/>
          <a:stretch>
            <a:fillRect/>
          </a:stretch>
        </p:blipFill>
        <p:spPr>
          <a:xfrm>
            <a:off x="6718668" y="3292222"/>
            <a:ext cx="1702676" cy="2187005"/>
          </a:xfrm>
          <a:prstGeom prst="rect">
            <a:avLst/>
          </a:prstGeom>
        </p:spPr>
      </p:pic>
      <p:sp>
        <p:nvSpPr>
          <p:cNvPr id="16" name="TextBox 15">
            <a:extLst>
              <a:ext uri="{FF2B5EF4-FFF2-40B4-BE49-F238E27FC236}">
                <a16:creationId xmlns:a16="http://schemas.microsoft.com/office/drawing/2014/main" id="{81DE7FA1-DCC1-E18B-6413-3BA83C863827}"/>
              </a:ext>
            </a:extLst>
          </p:cNvPr>
          <p:cNvSpPr txBox="1"/>
          <p:nvPr/>
        </p:nvSpPr>
        <p:spPr>
          <a:xfrm>
            <a:off x="5429779" y="6403084"/>
            <a:ext cx="3045372" cy="369332"/>
          </a:xfrm>
          <a:prstGeom prst="rect">
            <a:avLst/>
          </a:prstGeom>
          <a:noFill/>
        </p:spPr>
        <p:txBody>
          <a:bodyPr wrap="square">
            <a:spAutoFit/>
          </a:bodyPr>
          <a:lstStyle/>
          <a:p>
            <a:r>
              <a:rPr lang="en-US" dirty="0">
                <a:hlinkClick r:id="rId11"/>
              </a:rPr>
              <a:t>https://akimovlab.github.io/</a:t>
            </a:r>
            <a:r>
              <a:rPr lang="en-US" dirty="0"/>
              <a:t> </a:t>
            </a:r>
          </a:p>
        </p:txBody>
      </p:sp>
      <p:sp>
        <p:nvSpPr>
          <p:cNvPr id="18" name="TextBox 17">
            <a:extLst>
              <a:ext uri="{FF2B5EF4-FFF2-40B4-BE49-F238E27FC236}">
                <a16:creationId xmlns:a16="http://schemas.microsoft.com/office/drawing/2014/main" id="{64C8862D-D092-1393-F074-BD94805C52E0}"/>
              </a:ext>
            </a:extLst>
          </p:cNvPr>
          <p:cNvSpPr txBox="1"/>
          <p:nvPr/>
        </p:nvSpPr>
        <p:spPr>
          <a:xfrm>
            <a:off x="8475151" y="6411173"/>
            <a:ext cx="3897628" cy="369332"/>
          </a:xfrm>
          <a:prstGeom prst="rect">
            <a:avLst/>
          </a:prstGeom>
          <a:noFill/>
        </p:spPr>
        <p:txBody>
          <a:bodyPr wrap="square">
            <a:spAutoFit/>
          </a:bodyPr>
          <a:lstStyle/>
          <a:p>
            <a:r>
              <a:rPr lang="en-US" dirty="0">
                <a:hlinkClick r:id="rId12"/>
              </a:rPr>
              <a:t>https://mohammadshakiba.github.io/</a:t>
            </a:r>
            <a:r>
              <a:rPr lang="en-US" dirty="0"/>
              <a:t> </a:t>
            </a:r>
          </a:p>
        </p:txBody>
      </p:sp>
    </p:spTree>
    <p:extLst>
      <p:ext uri="{BB962C8B-B14F-4D97-AF65-F5344CB8AC3E}">
        <p14:creationId xmlns:p14="http://schemas.microsoft.com/office/powerpoint/2010/main" val="3441169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E5B133-459F-9845-50F0-544061AB8501}"/>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Topics and Instructors</a:t>
            </a:r>
          </a:p>
        </p:txBody>
      </p:sp>
      <p:pic>
        <p:nvPicPr>
          <p:cNvPr id="7" name="Picture 7" descr="Image result for ub logo">
            <a:extLst>
              <a:ext uri="{FF2B5EF4-FFF2-40B4-BE49-F238E27FC236}">
                <a16:creationId xmlns:a16="http://schemas.microsoft.com/office/drawing/2014/main" id="{FD8CCAFA-85EF-A209-17BD-3DCD7C3BA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5AA3B3B2-6BA9-C346-ECB5-BFD634B974ED}"/>
              </a:ext>
            </a:extLst>
          </p:cNvPr>
          <p:cNvPicPr>
            <a:picLocks noChangeAspect="1"/>
          </p:cNvPicPr>
          <p:nvPr/>
        </p:nvPicPr>
        <p:blipFill>
          <a:blip r:embed="rId3"/>
          <a:stretch>
            <a:fillRect/>
          </a:stretch>
        </p:blipFill>
        <p:spPr>
          <a:xfrm>
            <a:off x="120734" y="886462"/>
            <a:ext cx="11950531" cy="1885823"/>
          </a:xfrm>
          <a:prstGeom prst="rect">
            <a:avLst/>
          </a:prstGeom>
        </p:spPr>
      </p:pic>
      <p:sp>
        <p:nvSpPr>
          <p:cNvPr id="11" name="TextBox 10">
            <a:extLst>
              <a:ext uri="{FF2B5EF4-FFF2-40B4-BE49-F238E27FC236}">
                <a16:creationId xmlns:a16="http://schemas.microsoft.com/office/drawing/2014/main" id="{C8EC3C72-1491-FACF-F4B6-396186FD9E36}"/>
              </a:ext>
            </a:extLst>
          </p:cNvPr>
          <p:cNvSpPr txBox="1"/>
          <p:nvPr/>
        </p:nvSpPr>
        <p:spPr>
          <a:xfrm>
            <a:off x="-589797" y="6402234"/>
            <a:ext cx="6094948" cy="369332"/>
          </a:xfrm>
          <a:prstGeom prst="rect">
            <a:avLst/>
          </a:prstGeom>
          <a:noFill/>
        </p:spPr>
        <p:txBody>
          <a:bodyPr wrap="square">
            <a:spAutoFit/>
          </a:bodyPr>
          <a:lstStyle/>
          <a:p>
            <a:pPr algn="ctr"/>
            <a:r>
              <a:rPr lang="en-US" sz="1800" dirty="0">
                <a:hlinkClick r:id="rId4"/>
              </a:rPr>
              <a:t>https://sas.rochester.edu/chm/groups/franco/</a:t>
            </a:r>
            <a:r>
              <a:rPr lang="en-US" sz="1800" dirty="0"/>
              <a:t> </a:t>
            </a:r>
          </a:p>
        </p:txBody>
      </p:sp>
      <p:sp>
        <p:nvSpPr>
          <p:cNvPr id="13" name="TextBox 12">
            <a:extLst>
              <a:ext uri="{FF2B5EF4-FFF2-40B4-BE49-F238E27FC236}">
                <a16:creationId xmlns:a16="http://schemas.microsoft.com/office/drawing/2014/main" id="{3C34EFB7-3593-4E71-1612-5710D682B4DB}"/>
              </a:ext>
            </a:extLst>
          </p:cNvPr>
          <p:cNvSpPr txBox="1"/>
          <p:nvPr/>
        </p:nvSpPr>
        <p:spPr>
          <a:xfrm>
            <a:off x="398998" y="5515818"/>
            <a:ext cx="2699200" cy="830997"/>
          </a:xfrm>
          <a:prstGeom prst="rect">
            <a:avLst/>
          </a:prstGeom>
          <a:noFill/>
        </p:spPr>
        <p:txBody>
          <a:bodyPr wrap="none" rtlCol="0">
            <a:spAutoFit/>
          </a:bodyPr>
          <a:lstStyle/>
          <a:p>
            <a:pPr algn="ctr"/>
            <a:r>
              <a:rPr lang="en-US" sz="2400" dirty="0"/>
              <a:t>Prof. Ignacio Franco </a:t>
            </a:r>
          </a:p>
          <a:p>
            <a:pPr algn="ctr"/>
            <a:r>
              <a:rPr lang="en-US" sz="2400" dirty="0"/>
              <a:t>(U of Rochester)</a:t>
            </a:r>
          </a:p>
        </p:txBody>
      </p:sp>
      <p:pic>
        <p:nvPicPr>
          <p:cNvPr id="15" name="Picture 14">
            <a:extLst>
              <a:ext uri="{FF2B5EF4-FFF2-40B4-BE49-F238E27FC236}">
                <a16:creationId xmlns:a16="http://schemas.microsoft.com/office/drawing/2014/main" id="{152C1459-0789-39F5-C64D-512BDBEF0AAB}"/>
              </a:ext>
            </a:extLst>
          </p:cNvPr>
          <p:cNvPicPr>
            <a:picLocks noChangeAspect="1"/>
          </p:cNvPicPr>
          <p:nvPr/>
        </p:nvPicPr>
        <p:blipFill>
          <a:blip r:embed="rId5"/>
          <a:stretch>
            <a:fillRect/>
          </a:stretch>
        </p:blipFill>
        <p:spPr>
          <a:xfrm>
            <a:off x="944598" y="2929824"/>
            <a:ext cx="1640854" cy="2491193"/>
          </a:xfrm>
          <a:prstGeom prst="rect">
            <a:avLst/>
          </a:prstGeom>
        </p:spPr>
      </p:pic>
      <p:pic>
        <p:nvPicPr>
          <p:cNvPr id="16" name="Picture 15">
            <a:extLst>
              <a:ext uri="{FF2B5EF4-FFF2-40B4-BE49-F238E27FC236}">
                <a16:creationId xmlns:a16="http://schemas.microsoft.com/office/drawing/2014/main" id="{16B0CF31-54C4-31FF-F037-699D03D0FC24}"/>
              </a:ext>
              <a:ext uri="{C183D7F6-B498-43B3-948B-1728B52AA6E4}">
                <adec:decorative xmlns:adec="http://schemas.microsoft.com/office/drawing/2017/decorative" val="1"/>
              </a:ext>
            </a:extLst>
          </p:cNvPr>
          <p:cNvPicPr>
            <a:picLocks noChangeAspect="1"/>
          </p:cNvPicPr>
          <p:nvPr/>
        </p:nvPicPr>
        <p:blipFill>
          <a:blip r:embed="rId6"/>
          <a:srcRect l="12648" t="25495" r="8482"/>
          <a:stretch>
            <a:fillRect/>
          </a:stretch>
        </p:blipFill>
        <p:spPr>
          <a:xfrm>
            <a:off x="4756905" y="3322999"/>
            <a:ext cx="2298147" cy="2170993"/>
          </a:xfrm>
          <a:prstGeom prst="rect">
            <a:avLst/>
          </a:prstGeom>
        </p:spPr>
      </p:pic>
      <p:sp>
        <p:nvSpPr>
          <p:cNvPr id="18" name="TextBox 17">
            <a:extLst>
              <a:ext uri="{FF2B5EF4-FFF2-40B4-BE49-F238E27FC236}">
                <a16:creationId xmlns:a16="http://schemas.microsoft.com/office/drawing/2014/main" id="{F3CF1E58-3566-C3B6-A126-9EAF31827322}"/>
              </a:ext>
            </a:extLst>
          </p:cNvPr>
          <p:cNvSpPr txBox="1"/>
          <p:nvPr/>
        </p:nvSpPr>
        <p:spPr>
          <a:xfrm>
            <a:off x="4538891" y="2799995"/>
            <a:ext cx="4683935" cy="369332"/>
          </a:xfrm>
          <a:prstGeom prst="rect">
            <a:avLst/>
          </a:prstGeom>
          <a:noFill/>
        </p:spPr>
        <p:txBody>
          <a:bodyPr wrap="square">
            <a:spAutoFit/>
          </a:bodyPr>
          <a:lstStyle/>
          <a:p>
            <a:r>
              <a:rPr lang="en-US" b="1" dirty="0" err="1"/>
              <a:t>PyTENSO</a:t>
            </a:r>
            <a:r>
              <a:rPr lang="en-US" dirty="0"/>
              <a:t> </a:t>
            </a:r>
            <a:r>
              <a:rPr lang="en-US" dirty="0">
                <a:hlinkClick r:id="rId7"/>
              </a:rPr>
              <a:t>https://github.com/ifgroup/pytenso</a:t>
            </a:r>
            <a:r>
              <a:rPr lang="en-US" dirty="0"/>
              <a:t>   </a:t>
            </a:r>
          </a:p>
        </p:txBody>
      </p:sp>
      <p:sp>
        <p:nvSpPr>
          <p:cNvPr id="22" name="TextBox 21">
            <a:extLst>
              <a:ext uri="{FF2B5EF4-FFF2-40B4-BE49-F238E27FC236}">
                <a16:creationId xmlns:a16="http://schemas.microsoft.com/office/drawing/2014/main" id="{734CB504-1E35-299D-1302-203F57F5F983}"/>
              </a:ext>
            </a:extLst>
          </p:cNvPr>
          <p:cNvSpPr txBox="1"/>
          <p:nvPr/>
        </p:nvSpPr>
        <p:spPr>
          <a:xfrm>
            <a:off x="4692525" y="5571237"/>
            <a:ext cx="2959377" cy="1200329"/>
          </a:xfrm>
          <a:prstGeom prst="rect">
            <a:avLst/>
          </a:prstGeom>
          <a:noFill/>
        </p:spPr>
        <p:txBody>
          <a:bodyPr wrap="square">
            <a:spAutoFit/>
          </a:bodyPr>
          <a:lstStyle/>
          <a:p>
            <a:r>
              <a:rPr lang="en-US" sz="2400" dirty="0"/>
              <a:t>Mr. Juan, Camilo Rodríguez Betancourt</a:t>
            </a:r>
          </a:p>
          <a:p>
            <a:r>
              <a:rPr lang="en-US" sz="2400" dirty="0"/>
              <a:t>(U of Rochester)</a:t>
            </a:r>
          </a:p>
        </p:txBody>
      </p:sp>
      <p:pic>
        <p:nvPicPr>
          <p:cNvPr id="2" name="Picture 1">
            <a:extLst>
              <a:ext uri="{FF2B5EF4-FFF2-40B4-BE49-F238E27FC236}">
                <a16:creationId xmlns:a16="http://schemas.microsoft.com/office/drawing/2014/main" id="{9D5C61A9-3DAF-437C-7601-9E53004C5E74}"/>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839244" y="3125223"/>
            <a:ext cx="1868396" cy="2491194"/>
          </a:xfrm>
          <a:prstGeom prst="rect">
            <a:avLst/>
          </a:prstGeom>
        </p:spPr>
      </p:pic>
      <p:sp>
        <p:nvSpPr>
          <p:cNvPr id="4" name="TextBox 3">
            <a:extLst>
              <a:ext uri="{FF2B5EF4-FFF2-40B4-BE49-F238E27FC236}">
                <a16:creationId xmlns:a16="http://schemas.microsoft.com/office/drawing/2014/main" id="{18BBBF85-D296-8825-6CD1-5F5375C6B2D7}"/>
              </a:ext>
            </a:extLst>
          </p:cNvPr>
          <p:cNvSpPr txBox="1"/>
          <p:nvPr/>
        </p:nvSpPr>
        <p:spPr>
          <a:xfrm>
            <a:off x="8799830" y="5657671"/>
            <a:ext cx="2959377" cy="830997"/>
          </a:xfrm>
          <a:prstGeom prst="rect">
            <a:avLst/>
          </a:prstGeom>
          <a:noFill/>
        </p:spPr>
        <p:txBody>
          <a:bodyPr wrap="square">
            <a:spAutoFit/>
          </a:bodyPr>
          <a:lstStyle/>
          <a:p>
            <a:r>
              <a:rPr lang="en-US" sz="2400" dirty="0"/>
              <a:t>Dr. Michelle Anderson</a:t>
            </a:r>
          </a:p>
          <a:p>
            <a:r>
              <a:rPr lang="en-US" sz="2400" dirty="0"/>
              <a:t>(U of Rochester)</a:t>
            </a:r>
          </a:p>
        </p:txBody>
      </p:sp>
    </p:spTree>
    <p:extLst>
      <p:ext uri="{BB962C8B-B14F-4D97-AF65-F5344CB8AC3E}">
        <p14:creationId xmlns:p14="http://schemas.microsoft.com/office/powerpoint/2010/main" val="3832474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66202F-6917-7799-8672-DFECA5DD8BC2}"/>
              </a:ext>
            </a:extLst>
          </p:cNvPr>
          <p:cNvPicPr>
            <a:picLocks noChangeAspect="1"/>
          </p:cNvPicPr>
          <p:nvPr/>
        </p:nvPicPr>
        <p:blipFill>
          <a:blip r:embed="rId2" cstate="print">
            <a:extLst>
              <a:ext uri="{28A0092B-C50C-407E-A947-70E740481C1C}">
                <a14:useLocalDpi xmlns:a14="http://schemas.microsoft.com/office/drawing/2010/main" val="0"/>
              </a:ext>
            </a:extLst>
          </a:blip>
          <a:srcRect t="10164" b="19345"/>
          <a:stretch>
            <a:fillRect/>
          </a:stretch>
        </p:blipFill>
        <p:spPr>
          <a:xfrm>
            <a:off x="8785640" y="2339433"/>
            <a:ext cx="2318497" cy="2179134"/>
          </a:xfrm>
          <a:prstGeom prst="rect">
            <a:avLst/>
          </a:prstGeom>
        </p:spPr>
      </p:pic>
      <p:pic>
        <p:nvPicPr>
          <p:cNvPr id="7" name="Picture 6">
            <a:extLst>
              <a:ext uri="{FF2B5EF4-FFF2-40B4-BE49-F238E27FC236}">
                <a16:creationId xmlns:a16="http://schemas.microsoft.com/office/drawing/2014/main" id="{CD39242C-2EA7-046B-305E-BBCBA7FDCB06}"/>
              </a:ext>
            </a:extLst>
          </p:cNvPr>
          <p:cNvPicPr>
            <a:picLocks noChangeAspect="1"/>
          </p:cNvPicPr>
          <p:nvPr/>
        </p:nvPicPr>
        <p:blipFill>
          <a:blip r:embed="rId3"/>
          <a:stretch>
            <a:fillRect/>
          </a:stretch>
        </p:blipFill>
        <p:spPr>
          <a:xfrm>
            <a:off x="4804054" y="1907116"/>
            <a:ext cx="2108874" cy="2286512"/>
          </a:xfrm>
          <a:prstGeom prst="rect">
            <a:avLst/>
          </a:prstGeom>
        </p:spPr>
      </p:pic>
      <p:sp>
        <p:nvSpPr>
          <p:cNvPr id="9" name="TextBox 8">
            <a:extLst>
              <a:ext uri="{FF2B5EF4-FFF2-40B4-BE49-F238E27FC236}">
                <a16:creationId xmlns:a16="http://schemas.microsoft.com/office/drawing/2014/main" id="{79B32B71-FE26-24FF-36A1-46162C60A59D}"/>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Organizational and Preparatory</a:t>
            </a:r>
          </a:p>
        </p:txBody>
      </p:sp>
      <p:pic>
        <p:nvPicPr>
          <p:cNvPr id="11" name="Picture 7" descr="Image result for ub logo">
            <a:extLst>
              <a:ext uri="{FF2B5EF4-FFF2-40B4-BE49-F238E27FC236}">
                <a16:creationId xmlns:a16="http://schemas.microsoft.com/office/drawing/2014/main" id="{C209880F-13F4-4649-F546-9DF1EFC0C8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23602862-05DA-7665-67B3-0FCF87B128F8}"/>
              </a:ext>
            </a:extLst>
          </p:cNvPr>
          <p:cNvSpPr txBox="1"/>
          <p:nvPr/>
        </p:nvSpPr>
        <p:spPr>
          <a:xfrm>
            <a:off x="4263505" y="4698635"/>
            <a:ext cx="3189976" cy="1200329"/>
          </a:xfrm>
          <a:prstGeom prst="rect">
            <a:avLst/>
          </a:prstGeom>
          <a:noFill/>
        </p:spPr>
        <p:txBody>
          <a:bodyPr wrap="none" rtlCol="0">
            <a:spAutoFit/>
          </a:bodyPr>
          <a:lstStyle/>
          <a:p>
            <a:pPr algn="ctr"/>
            <a:r>
              <a:rPr lang="en-US" sz="2400" dirty="0"/>
              <a:t>Ms. Layla </a:t>
            </a:r>
            <a:r>
              <a:rPr lang="en-US" sz="2400" dirty="0" err="1"/>
              <a:t>Heydarizadeh</a:t>
            </a:r>
            <a:r>
              <a:rPr lang="en-US" sz="2400" dirty="0"/>
              <a:t> </a:t>
            </a:r>
          </a:p>
          <a:p>
            <a:pPr algn="ctr"/>
            <a:r>
              <a:rPr lang="en-US" sz="2400" dirty="0"/>
              <a:t>(UB, SUNY)</a:t>
            </a:r>
          </a:p>
          <a:p>
            <a:pPr marL="342900" indent="-342900" algn="ctr">
              <a:buFontTx/>
              <a:buChar char="-"/>
            </a:pPr>
            <a:r>
              <a:rPr lang="en-US" sz="2400" dirty="0"/>
              <a:t>paperwork</a:t>
            </a:r>
          </a:p>
        </p:txBody>
      </p:sp>
      <p:sp>
        <p:nvSpPr>
          <p:cNvPr id="15" name="TextBox 14">
            <a:extLst>
              <a:ext uri="{FF2B5EF4-FFF2-40B4-BE49-F238E27FC236}">
                <a16:creationId xmlns:a16="http://schemas.microsoft.com/office/drawing/2014/main" id="{9496C7F5-06A9-8DEC-2DCF-AC03F9AB8709}"/>
              </a:ext>
            </a:extLst>
          </p:cNvPr>
          <p:cNvSpPr txBox="1"/>
          <p:nvPr/>
        </p:nvSpPr>
        <p:spPr>
          <a:xfrm>
            <a:off x="712184" y="4698635"/>
            <a:ext cx="2737311" cy="830997"/>
          </a:xfrm>
          <a:prstGeom prst="rect">
            <a:avLst/>
          </a:prstGeom>
          <a:noFill/>
        </p:spPr>
        <p:txBody>
          <a:bodyPr wrap="square" rtlCol="0">
            <a:spAutoFit/>
          </a:bodyPr>
          <a:lstStyle/>
          <a:p>
            <a:pPr algn="ctr"/>
            <a:r>
              <a:rPr lang="en-US" sz="2400" dirty="0"/>
              <a:t>Prof. Alexey Akimov</a:t>
            </a:r>
          </a:p>
          <a:p>
            <a:pPr algn="ctr"/>
            <a:r>
              <a:rPr lang="en-US" sz="2400" dirty="0"/>
              <a:t>(UB, SUNY)</a:t>
            </a:r>
          </a:p>
        </p:txBody>
      </p:sp>
      <p:pic>
        <p:nvPicPr>
          <p:cNvPr id="17" name="Picture 16">
            <a:extLst>
              <a:ext uri="{FF2B5EF4-FFF2-40B4-BE49-F238E27FC236}">
                <a16:creationId xmlns:a16="http://schemas.microsoft.com/office/drawing/2014/main" id="{7DF5CED0-0ADA-2370-F2CD-77F9C92BEC8F}"/>
              </a:ext>
            </a:extLst>
          </p:cNvPr>
          <p:cNvPicPr>
            <a:picLocks noChangeAspect="1"/>
          </p:cNvPicPr>
          <p:nvPr/>
        </p:nvPicPr>
        <p:blipFill>
          <a:blip r:embed="rId5" cstate="print">
            <a:extLst>
              <a:ext uri="{28A0092B-C50C-407E-A947-70E740481C1C}">
                <a14:useLocalDpi xmlns:a14="http://schemas.microsoft.com/office/drawing/2010/main" val="0"/>
              </a:ext>
            </a:extLst>
          </a:blip>
          <a:srcRect l="40011" t="18479" b="23732"/>
          <a:stretch>
            <a:fillRect/>
          </a:stretch>
        </p:blipFill>
        <p:spPr>
          <a:xfrm>
            <a:off x="1177775" y="1862972"/>
            <a:ext cx="1924878" cy="2472413"/>
          </a:xfrm>
          <a:prstGeom prst="rect">
            <a:avLst/>
          </a:prstGeom>
        </p:spPr>
      </p:pic>
      <p:sp>
        <p:nvSpPr>
          <p:cNvPr id="19" name="TextBox 18">
            <a:extLst>
              <a:ext uri="{FF2B5EF4-FFF2-40B4-BE49-F238E27FC236}">
                <a16:creationId xmlns:a16="http://schemas.microsoft.com/office/drawing/2014/main" id="{242FAE04-71A2-733A-0C4F-CC31E300AD97}"/>
              </a:ext>
            </a:extLst>
          </p:cNvPr>
          <p:cNvSpPr txBox="1"/>
          <p:nvPr/>
        </p:nvSpPr>
        <p:spPr>
          <a:xfrm>
            <a:off x="8693406" y="4743829"/>
            <a:ext cx="2507994" cy="830997"/>
          </a:xfrm>
          <a:prstGeom prst="rect">
            <a:avLst/>
          </a:prstGeom>
          <a:noFill/>
        </p:spPr>
        <p:txBody>
          <a:bodyPr wrap="none" rtlCol="0">
            <a:spAutoFit/>
          </a:bodyPr>
          <a:lstStyle/>
          <a:p>
            <a:pPr algn="ctr"/>
            <a:r>
              <a:rPr lang="en-US" sz="2400" dirty="0"/>
              <a:t>Ms. Anna Akimova</a:t>
            </a:r>
          </a:p>
          <a:p>
            <a:pPr algn="ctr"/>
            <a:r>
              <a:rPr lang="en-US" sz="2400" dirty="0"/>
              <a:t>- inspirational</a:t>
            </a:r>
          </a:p>
        </p:txBody>
      </p:sp>
    </p:spTree>
    <p:extLst>
      <p:ext uri="{BB962C8B-B14F-4D97-AF65-F5344CB8AC3E}">
        <p14:creationId xmlns:p14="http://schemas.microsoft.com/office/powerpoint/2010/main" val="2371422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206D4E-3654-9F57-8FEC-023623FE5CE3}"/>
              </a:ext>
            </a:extLst>
          </p:cNvPr>
          <p:cNvPicPr>
            <a:picLocks noChangeAspect="1"/>
          </p:cNvPicPr>
          <p:nvPr/>
        </p:nvPicPr>
        <p:blipFill>
          <a:blip r:embed="rId2"/>
          <a:stretch>
            <a:fillRect/>
          </a:stretch>
        </p:blipFill>
        <p:spPr>
          <a:xfrm>
            <a:off x="2038662" y="445957"/>
            <a:ext cx="7954780" cy="5966085"/>
          </a:xfrm>
          <a:prstGeom prst="rect">
            <a:avLst/>
          </a:prstGeom>
        </p:spPr>
      </p:pic>
    </p:spTree>
    <p:extLst>
      <p:ext uri="{BB962C8B-B14F-4D97-AF65-F5344CB8AC3E}">
        <p14:creationId xmlns:p14="http://schemas.microsoft.com/office/powerpoint/2010/main" val="3066464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83788" y="2589081"/>
            <a:ext cx="7024423"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Name, position, affiliation, research group</a:t>
            </a:r>
          </a:p>
          <a:p>
            <a:pPr marL="285750" indent="-285750">
              <a:buFont typeface="Arial" panose="020B0604020202020204" pitchFamily="34" charset="0"/>
              <a:buChar char="•"/>
            </a:pPr>
            <a:r>
              <a:rPr lang="en-US" sz="2800" dirty="0"/>
              <a:t>Research interests and expertise</a:t>
            </a:r>
          </a:p>
          <a:p>
            <a:pPr marL="285750" indent="-285750">
              <a:buFont typeface="Arial" panose="020B0604020202020204" pitchFamily="34" charset="0"/>
              <a:buChar char="•"/>
            </a:pPr>
            <a:r>
              <a:rPr lang="en-US" sz="2800" dirty="0"/>
              <a:t>Anything else you would like to share with us</a:t>
            </a:r>
          </a:p>
        </p:txBody>
      </p:sp>
      <p:pic>
        <p:nvPicPr>
          <p:cNvPr id="6" name="Picture 7" descr="Image result for ub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434B34F-613F-55C5-B53D-026B34AE37EA}"/>
              </a:ext>
            </a:extLst>
          </p:cNvPr>
          <p:cNvSpPr txBox="1"/>
          <p:nvPr/>
        </p:nvSpPr>
        <p:spPr>
          <a:xfrm>
            <a:off x="1231692" y="268943"/>
            <a:ext cx="8979108" cy="523220"/>
          </a:xfrm>
          <a:prstGeom prst="rect">
            <a:avLst/>
          </a:prstGeom>
          <a:noFill/>
        </p:spPr>
        <p:txBody>
          <a:bodyPr wrap="square" rtlCol="0">
            <a:spAutoFit/>
          </a:bodyPr>
          <a:lstStyle/>
          <a:p>
            <a:pPr algn="ctr"/>
            <a:r>
              <a:rPr lang="en-US" sz="2800" b="1" dirty="0">
                <a:solidFill>
                  <a:srgbClr val="0070C0"/>
                </a:solidFill>
              </a:rPr>
              <a:t>Please Introduce Yourself</a:t>
            </a:r>
          </a:p>
        </p:txBody>
      </p:sp>
    </p:spTree>
    <p:extLst>
      <p:ext uri="{BB962C8B-B14F-4D97-AF65-F5344CB8AC3E}">
        <p14:creationId xmlns:p14="http://schemas.microsoft.com/office/powerpoint/2010/main" val="244030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7" descr="Image result for ub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178035" y="1884536"/>
            <a:ext cx="5827901" cy="707886"/>
          </a:xfrm>
          <a:prstGeom prst="rect">
            <a:avLst/>
          </a:prstGeom>
          <a:solidFill>
            <a:schemeClr val="bg1"/>
          </a:solidFill>
        </p:spPr>
        <p:txBody>
          <a:bodyPr wrap="square">
            <a:spAutoFit/>
          </a:bodyPr>
          <a:lstStyle/>
          <a:p>
            <a:r>
              <a:rPr lang="en-US" sz="2000" dirty="0">
                <a:solidFill>
                  <a:srgbClr val="0000FF"/>
                </a:solidFill>
                <a:cs typeface="Arial" panose="020B0604020202020204" pitchFamily="34" charset="0"/>
              </a:rPr>
              <a:t>Quantum Dynamics Hub: </a:t>
            </a:r>
            <a:r>
              <a:rPr lang="en-US" sz="2000" dirty="0">
                <a:hlinkClick r:id="rId3"/>
              </a:rPr>
              <a:t>https://quantum-dynamics-hub.github.io/</a:t>
            </a:r>
            <a:r>
              <a:rPr lang="en-US" sz="2000" dirty="0"/>
              <a:t> </a:t>
            </a:r>
          </a:p>
        </p:txBody>
      </p:sp>
      <p:sp>
        <p:nvSpPr>
          <p:cNvPr id="2" name="Rectangle 1"/>
          <p:cNvSpPr/>
          <p:nvPr/>
        </p:nvSpPr>
        <p:spPr>
          <a:xfrm>
            <a:off x="1908010" y="794913"/>
            <a:ext cx="8159670" cy="954107"/>
          </a:xfrm>
          <a:prstGeom prst="rect">
            <a:avLst/>
          </a:prstGeom>
        </p:spPr>
        <p:txBody>
          <a:bodyPr wrap="none">
            <a:spAutoFit/>
          </a:bodyPr>
          <a:lstStyle/>
          <a:p>
            <a:r>
              <a:rPr lang="en-US" sz="2800" dirty="0">
                <a:cs typeface="Arial" panose="020B0604020202020204" pitchFamily="34" charset="0"/>
              </a:rPr>
              <a:t>Codes: </a:t>
            </a:r>
            <a:r>
              <a:rPr lang="en-US" sz="2800" dirty="0">
                <a:cs typeface="Arial" panose="020B0604020202020204" pitchFamily="34" charset="0"/>
                <a:hlinkClick r:id="rId4"/>
              </a:rPr>
              <a:t>https://github.com/Quantum-Dynamics-Hub</a:t>
            </a:r>
            <a:r>
              <a:rPr lang="en-US" sz="2800" dirty="0">
                <a:cs typeface="Arial" panose="020B0604020202020204" pitchFamily="34" charset="0"/>
              </a:rPr>
              <a:t>  </a:t>
            </a:r>
          </a:p>
          <a:p>
            <a:r>
              <a:rPr lang="en-US" sz="2800" dirty="0">
                <a:cs typeface="Arial" panose="020B0604020202020204" pitchFamily="34" charset="0"/>
              </a:rPr>
              <a:t>Training: </a:t>
            </a:r>
            <a:r>
              <a:rPr lang="en-US" sz="2800" dirty="0">
                <a:cs typeface="Arial" panose="020B0604020202020204" pitchFamily="34" charset="0"/>
                <a:hlinkClick r:id="rId5"/>
              </a:rPr>
              <a:t>https://github.com/compchem-cybertraining</a:t>
            </a:r>
            <a:r>
              <a:rPr lang="en-US" sz="2800" dirty="0">
                <a:cs typeface="Arial" panose="020B0604020202020204" pitchFamily="34" charset="0"/>
              </a:rPr>
              <a:t> </a:t>
            </a:r>
          </a:p>
        </p:txBody>
      </p:sp>
      <p:sp>
        <p:nvSpPr>
          <p:cNvPr id="4" name="Rectangle 3"/>
          <p:cNvSpPr/>
          <p:nvPr/>
        </p:nvSpPr>
        <p:spPr>
          <a:xfrm>
            <a:off x="72596" y="3564384"/>
            <a:ext cx="6179736" cy="707886"/>
          </a:xfrm>
          <a:prstGeom prst="rect">
            <a:avLst/>
          </a:prstGeom>
        </p:spPr>
        <p:txBody>
          <a:bodyPr wrap="square">
            <a:spAutoFit/>
          </a:bodyPr>
          <a:lstStyle/>
          <a:p>
            <a:r>
              <a:rPr lang="en-US" sz="2000" b="1" dirty="0"/>
              <a:t>Libra Winter school</a:t>
            </a:r>
            <a:r>
              <a:rPr lang="en-US" sz="2000" dirty="0"/>
              <a:t>: </a:t>
            </a:r>
            <a:r>
              <a:rPr lang="en-US" sz="2000" dirty="0">
                <a:hlinkClick r:id="rId6"/>
              </a:rPr>
              <a:t>https://compchem-cybertraining.github.io/Libra_Winter_School_2022/</a:t>
            </a:r>
            <a:r>
              <a:rPr lang="en-US" sz="2000" dirty="0"/>
              <a:t> </a:t>
            </a:r>
          </a:p>
        </p:txBody>
      </p:sp>
      <p:sp>
        <p:nvSpPr>
          <p:cNvPr id="5" name="Rectangle 4"/>
          <p:cNvSpPr/>
          <p:nvPr/>
        </p:nvSpPr>
        <p:spPr>
          <a:xfrm>
            <a:off x="90435" y="2806193"/>
            <a:ext cx="6179736" cy="707886"/>
          </a:xfrm>
          <a:prstGeom prst="rect">
            <a:avLst/>
          </a:prstGeom>
        </p:spPr>
        <p:txBody>
          <a:bodyPr wrap="square">
            <a:spAutoFit/>
          </a:bodyPr>
          <a:lstStyle/>
          <a:p>
            <a:r>
              <a:rPr lang="en-US" sz="2000" b="1" dirty="0"/>
              <a:t>Summer 2021 workshop</a:t>
            </a:r>
            <a:r>
              <a:rPr lang="en-US" sz="2000" dirty="0"/>
              <a:t>: </a:t>
            </a:r>
            <a:r>
              <a:rPr lang="en-US" sz="2000" dirty="0">
                <a:hlinkClick r:id="rId7"/>
              </a:rPr>
              <a:t>https://compchem-cybertraining.github.io/Cyber_Training_Workshop_2021/</a:t>
            </a:r>
            <a:r>
              <a:rPr lang="en-US" sz="2000" dirty="0"/>
              <a:t> </a:t>
            </a:r>
          </a:p>
        </p:txBody>
      </p:sp>
      <p:sp>
        <p:nvSpPr>
          <p:cNvPr id="14" name="Rectangle 13">
            <a:extLst>
              <a:ext uri="{FF2B5EF4-FFF2-40B4-BE49-F238E27FC236}">
                <a16:creationId xmlns:a16="http://schemas.microsoft.com/office/drawing/2014/main" id="{0BA8A0DE-9015-8FF7-5183-B4EFFBCAF585}"/>
              </a:ext>
            </a:extLst>
          </p:cNvPr>
          <p:cNvSpPr/>
          <p:nvPr/>
        </p:nvSpPr>
        <p:spPr>
          <a:xfrm>
            <a:off x="90435" y="4272270"/>
            <a:ext cx="6313713" cy="707886"/>
          </a:xfrm>
          <a:prstGeom prst="rect">
            <a:avLst/>
          </a:prstGeom>
        </p:spPr>
        <p:txBody>
          <a:bodyPr wrap="square">
            <a:spAutoFit/>
          </a:bodyPr>
          <a:lstStyle/>
          <a:p>
            <a:r>
              <a:rPr lang="en-US" sz="2000" b="1" dirty="0"/>
              <a:t>Summer 2022 workshop</a:t>
            </a:r>
            <a:r>
              <a:rPr lang="en-US" sz="2000" dirty="0"/>
              <a:t>: </a:t>
            </a:r>
            <a:r>
              <a:rPr lang="en-US" sz="2000" dirty="0">
                <a:hlinkClick r:id="rId8"/>
              </a:rPr>
              <a:t>https://compchem-cybertraining.github.io/Cyber_Training_Workshop_2022/</a:t>
            </a:r>
            <a:r>
              <a:rPr lang="en-US" sz="2000" dirty="0"/>
              <a:t>  </a:t>
            </a:r>
          </a:p>
        </p:txBody>
      </p:sp>
      <p:sp>
        <p:nvSpPr>
          <p:cNvPr id="8" name="Rectangle 7">
            <a:extLst>
              <a:ext uri="{FF2B5EF4-FFF2-40B4-BE49-F238E27FC236}">
                <a16:creationId xmlns:a16="http://schemas.microsoft.com/office/drawing/2014/main" id="{2E010744-8F0C-8782-2866-4BFC81C518D1}"/>
              </a:ext>
            </a:extLst>
          </p:cNvPr>
          <p:cNvSpPr/>
          <p:nvPr/>
        </p:nvSpPr>
        <p:spPr>
          <a:xfrm>
            <a:off x="90436" y="4936261"/>
            <a:ext cx="6179736" cy="707886"/>
          </a:xfrm>
          <a:prstGeom prst="rect">
            <a:avLst/>
          </a:prstGeom>
        </p:spPr>
        <p:txBody>
          <a:bodyPr wrap="square">
            <a:spAutoFit/>
          </a:bodyPr>
          <a:lstStyle/>
          <a:p>
            <a:r>
              <a:rPr lang="en-US" sz="2000" b="1" dirty="0"/>
              <a:t>Summer 2023 workshop</a:t>
            </a:r>
            <a:r>
              <a:rPr lang="en-US" sz="2000" dirty="0"/>
              <a:t>: </a:t>
            </a:r>
            <a:r>
              <a:rPr lang="en-US" sz="2000" dirty="0">
                <a:hlinkClick r:id="rId9"/>
              </a:rPr>
              <a:t>https://compchem-cybertraining.github.io/Cyber_Training_Workshop_2023/</a:t>
            </a:r>
            <a:r>
              <a:rPr lang="en-US" sz="2000" dirty="0"/>
              <a:t>    </a:t>
            </a:r>
          </a:p>
        </p:txBody>
      </p:sp>
      <p:pic>
        <p:nvPicPr>
          <p:cNvPr id="11" name="Picture 10">
            <a:extLst>
              <a:ext uri="{FF2B5EF4-FFF2-40B4-BE49-F238E27FC236}">
                <a16:creationId xmlns:a16="http://schemas.microsoft.com/office/drawing/2014/main" id="{BFB019DD-76D4-0DE6-3A19-BDF3A410B03E}"/>
              </a:ext>
            </a:extLst>
          </p:cNvPr>
          <p:cNvPicPr>
            <a:picLocks noChangeAspect="1"/>
          </p:cNvPicPr>
          <p:nvPr/>
        </p:nvPicPr>
        <p:blipFill>
          <a:blip r:embed="rId10"/>
          <a:stretch>
            <a:fillRect/>
          </a:stretch>
        </p:blipFill>
        <p:spPr>
          <a:xfrm>
            <a:off x="6186065" y="1884536"/>
            <a:ext cx="5933338" cy="3893266"/>
          </a:xfrm>
          <a:prstGeom prst="rect">
            <a:avLst/>
          </a:prstGeom>
        </p:spPr>
      </p:pic>
      <p:sp>
        <p:nvSpPr>
          <p:cNvPr id="12" name="TextBox 11">
            <a:extLst>
              <a:ext uri="{FF2B5EF4-FFF2-40B4-BE49-F238E27FC236}">
                <a16:creationId xmlns:a16="http://schemas.microsoft.com/office/drawing/2014/main" id="{DD009EC5-AFC9-F1E7-CA0A-38B861682174}"/>
              </a:ext>
            </a:extLst>
          </p:cNvPr>
          <p:cNvSpPr txBox="1"/>
          <p:nvPr/>
        </p:nvSpPr>
        <p:spPr>
          <a:xfrm>
            <a:off x="1498291" y="127383"/>
            <a:ext cx="8979108" cy="523220"/>
          </a:xfrm>
          <a:prstGeom prst="rect">
            <a:avLst/>
          </a:prstGeom>
          <a:noFill/>
        </p:spPr>
        <p:txBody>
          <a:bodyPr wrap="square" rtlCol="0">
            <a:spAutoFit/>
          </a:bodyPr>
          <a:lstStyle/>
          <a:p>
            <a:pPr algn="ctr"/>
            <a:r>
              <a:rPr lang="en-US" sz="2800" b="1" dirty="0">
                <a:solidFill>
                  <a:srgbClr val="0070C0"/>
                </a:solidFill>
              </a:rPr>
              <a:t>More Resources</a:t>
            </a:r>
          </a:p>
        </p:txBody>
      </p:sp>
      <p:sp>
        <p:nvSpPr>
          <p:cNvPr id="6" name="TextBox 5">
            <a:extLst>
              <a:ext uri="{FF2B5EF4-FFF2-40B4-BE49-F238E27FC236}">
                <a16:creationId xmlns:a16="http://schemas.microsoft.com/office/drawing/2014/main" id="{2726E200-9F5D-53A9-9ECD-5CC42D94C12B}"/>
              </a:ext>
            </a:extLst>
          </p:cNvPr>
          <p:cNvSpPr txBox="1"/>
          <p:nvPr/>
        </p:nvSpPr>
        <p:spPr>
          <a:xfrm>
            <a:off x="2845150" y="5913318"/>
            <a:ext cx="7365650" cy="830997"/>
          </a:xfrm>
          <a:prstGeom prst="rect">
            <a:avLst/>
          </a:prstGeom>
          <a:noFill/>
        </p:spPr>
        <p:txBody>
          <a:bodyPr wrap="square">
            <a:spAutoFit/>
          </a:bodyPr>
          <a:lstStyle/>
          <a:p>
            <a:r>
              <a:rPr lang="en-US" sz="2400" b="1" dirty="0"/>
              <a:t>Summer 2026 workshop (this!) </a:t>
            </a:r>
            <a:r>
              <a:rPr lang="en-US" sz="2400" dirty="0">
                <a:hlinkClick r:id="rId11"/>
              </a:rPr>
              <a:t>https://compchem-cybertraining.github.io/Cyber_Training_Workshop_2026/</a:t>
            </a:r>
            <a:r>
              <a:rPr lang="en-US" sz="2400" dirty="0"/>
              <a:t> </a:t>
            </a:r>
          </a:p>
        </p:txBody>
      </p:sp>
    </p:spTree>
    <p:extLst>
      <p:ext uri="{BB962C8B-B14F-4D97-AF65-F5344CB8AC3E}">
        <p14:creationId xmlns:p14="http://schemas.microsoft.com/office/powerpoint/2010/main" val="13347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6C3C3F-02E6-4226-F20C-858B4A23CC77}"/>
              </a:ext>
            </a:extLst>
          </p:cNvPr>
          <p:cNvPicPr>
            <a:picLocks noChangeAspect="1"/>
          </p:cNvPicPr>
          <p:nvPr/>
        </p:nvPicPr>
        <p:blipFill>
          <a:blip r:embed="rId2"/>
          <a:stretch>
            <a:fillRect/>
          </a:stretch>
        </p:blipFill>
        <p:spPr>
          <a:xfrm>
            <a:off x="4707654" y="2974250"/>
            <a:ext cx="7248210" cy="3259827"/>
          </a:xfrm>
          <a:prstGeom prst="rect">
            <a:avLst/>
          </a:prstGeom>
        </p:spPr>
      </p:pic>
      <p:pic>
        <p:nvPicPr>
          <p:cNvPr id="5" name="Picture 7" descr="Image result for ub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18065" y="840684"/>
            <a:ext cx="10559845" cy="3785652"/>
          </a:xfrm>
          <a:prstGeom prst="rect">
            <a:avLst/>
          </a:prstGeom>
          <a:noFill/>
        </p:spPr>
        <p:txBody>
          <a:bodyPr wrap="square" rtlCol="0">
            <a:spAutoFit/>
          </a:bodyPr>
          <a:lstStyle/>
          <a:p>
            <a:r>
              <a:rPr lang="en-US" sz="2000" b="1" dirty="0"/>
              <a:t>Daily</a:t>
            </a:r>
          </a:p>
          <a:p>
            <a:pPr marL="285750" indent="-285750">
              <a:buFont typeface="Arial" panose="020B0604020202020204" pitchFamily="34" charset="0"/>
              <a:buChar char="•"/>
            </a:pPr>
            <a:r>
              <a:rPr lang="en-US" sz="2000" dirty="0"/>
              <a:t>Breakfast = hotel </a:t>
            </a:r>
          </a:p>
          <a:p>
            <a:pPr marL="285750" indent="-285750">
              <a:buFont typeface="Arial" panose="020B0604020202020204" pitchFamily="34" charset="0"/>
              <a:buChar char="•"/>
            </a:pPr>
            <a:r>
              <a:rPr lang="en-US" sz="2000" dirty="0"/>
              <a:t>9:00 am – 12:00 pm: Morning session  (Recording)</a:t>
            </a:r>
          </a:p>
          <a:p>
            <a:pPr marL="285750" indent="-285750">
              <a:buFont typeface="Arial" panose="020B0604020202020204" pitchFamily="34" charset="0"/>
              <a:buChar char="•"/>
            </a:pPr>
            <a:r>
              <a:rPr lang="en-US" sz="2000" dirty="0"/>
              <a:t>12:00 – 1:30 pm Working lunch/rest – on your own at “Commons”, rest, discuss, collaborate</a:t>
            </a:r>
          </a:p>
          <a:p>
            <a:pPr marL="285750" indent="-285750">
              <a:buFont typeface="Arial" panose="020B0604020202020204" pitchFamily="34" charset="0"/>
              <a:buChar char="•"/>
            </a:pPr>
            <a:r>
              <a:rPr lang="en-US" sz="2000" dirty="0"/>
              <a:t>1:30 pm – 5:00 pm: Afternoon session (Recording)</a:t>
            </a:r>
          </a:p>
          <a:p>
            <a:pPr marL="285750" indent="-285750">
              <a:buFont typeface="Arial" panose="020B0604020202020204" pitchFamily="34" charset="0"/>
              <a:buChar char="•"/>
            </a:pPr>
            <a:r>
              <a:rPr lang="en-US" sz="2000" dirty="0"/>
              <a:t>After 5:00 pm: collaborations/on your own, dinner on your own</a:t>
            </a:r>
          </a:p>
          <a:p>
            <a:pPr marL="285750" indent="-285750">
              <a:buFont typeface="Arial" panose="020B0604020202020204" pitchFamily="34" charset="0"/>
              <a:buChar char="•"/>
            </a:pPr>
            <a:endParaRPr lang="en-US" sz="2000" dirty="0"/>
          </a:p>
          <a:p>
            <a:r>
              <a:rPr lang="en-US" sz="2000" b="1" dirty="0"/>
              <a:t>Location</a:t>
            </a:r>
          </a:p>
          <a:p>
            <a:r>
              <a:rPr lang="en-US" sz="2000" u="sng" dirty="0"/>
              <a:t>Classes are @:  </a:t>
            </a:r>
          </a:p>
          <a:p>
            <a:r>
              <a:rPr lang="en-US" sz="2000" dirty="0"/>
              <a:t>Monday, Thursday: NSC 201</a:t>
            </a:r>
          </a:p>
          <a:p>
            <a:r>
              <a:rPr lang="en-US" sz="2000" dirty="0"/>
              <a:t>Tuesday: NSC 210</a:t>
            </a:r>
          </a:p>
          <a:p>
            <a:r>
              <a:rPr lang="en-US" sz="2000" dirty="0"/>
              <a:t>Wednesday, Friday: Clemens 120 </a:t>
            </a:r>
          </a:p>
        </p:txBody>
      </p:sp>
      <p:sp>
        <p:nvSpPr>
          <p:cNvPr id="3" name="TextBox 2">
            <a:extLst>
              <a:ext uri="{FF2B5EF4-FFF2-40B4-BE49-F238E27FC236}">
                <a16:creationId xmlns:a16="http://schemas.microsoft.com/office/drawing/2014/main" id="{111F0233-4820-D212-04B5-06C0530E5389}"/>
              </a:ext>
            </a:extLst>
          </p:cNvPr>
          <p:cNvSpPr txBox="1"/>
          <p:nvPr/>
        </p:nvSpPr>
        <p:spPr>
          <a:xfrm>
            <a:off x="218065" y="5310747"/>
            <a:ext cx="3973286" cy="923330"/>
          </a:xfrm>
          <a:prstGeom prst="rect">
            <a:avLst/>
          </a:prstGeom>
          <a:noFill/>
        </p:spPr>
        <p:txBody>
          <a:bodyPr wrap="square">
            <a:spAutoFit/>
          </a:bodyPr>
          <a:lstStyle/>
          <a:p>
            <a:r>
              <a:rPr lang="en-US" dirty="0"/>
              <a:t>Campus Map: </a:t>
            </a:r>
            <a:r>
              <a:rPr lang="en-US" dirty="0">
                <a:hlinkClick r:id="rId4"/>
              </a:rPr>
              <a:t>https://www.buffalo.edu/home/visiting-ub/map.html</a:t>
            </a:r>
            <a:r>
              <a:rPr lang="en-US" dirty="0"/>
              <a:t> </a:t>
            </a:r>
          </a:p>
        </p:txBody>
      </p:sp>
      <p:sp>
        <p:nvSpPr>
          <p:cNvPr id="9" name="TextBox 8">
            <a:extLst>
              <a:ext uri="{FF2B5EF4-FFF2-40B4-BE49-F238E27FC236}">
                <a16:creationId xmlns:a16="http://schemas.microsoft.com/office/drawing/2014/main" id="{539D2E4D-D37B-9AEE-1D32-279ACFB3B31A}"/>
              </a:ext>
            </a:extLst>
          </p:cNvPr>
          <p:cNvSpPr txBox="1"/>
          <p:nvPr/>
        </p:nvSpPr>
        <p:spPr>
          <a:xfrm>
            <a:off x="4559112" y="4838196"/>
            <a:ext cx="1254959" cy="369332"/>
          </a:xfrm>
          <a:prstGeom prst="rect">
            <a:avLst/>
          </a:prstGeom>
          <a:noFill/>
        </p:spPr>
        <p:txBody>
          <a:bodyPr wrap="none" rtlCol="0">
            <a:spAutoFit/>
          </a:bodyPr>
          <a:lstStyle/>
          <a:p>
            <a:r>
              <a:rPr lang="en-US" dirty="0">
                <a:highlight>
                  <a:srgbClr val="FFFF00"/>
                </a:highlight>
              </a:rPr>
              <a:t>Your Hotels</a:t>
            </a:r>
          </a:p>
        </p:txBody>
      </p:sp>
      <p:sp>
        <p:nvSpPr>
          <p:cNvPr id="10" name="TextBox 9">
            <a:extLst>
              <a:ext uri="{FF2B5EF4-FFF2-40B4-BE49-F238E27FC236}">
                <a16:creationId xmlns:a16="http://schemas.microsoft.com/office/drawing/2014/main" id="{A81678C2-401F-F1BF-C3F2-762B7614EABA}"/>
              </a:ext>
            </a:extLst>
          </p:cNvPr>
          <p:cNvSpPr txBox="1"/>
          <p:nvPr/>
        </p:nvSpPr>
        <p:spPr>
          <a:xfrm>
            <a:off x="8139250" y="3244334"/>
            <a:ext cx="745717" cy="369332"/>
          </a:xfrm>
          <a:prstGeom prst="rect">
            <a:avLst/>
          </a:prstGeom>
          <a:noFill/>
        </p:spPr>
        <p:txBody>
          <a:bodyPr wrap="none" rtlCol="0">
            <a:spAutoFit/>
          </a:bodyPr>
          <a:lstStyle/>
          <a:p>
            <a:r>
              <a:rPr lang="en-US" dirty="0">
                <a:solidFill>
                  <a:schemeClr val="bg1"/>
                </a:solidFill>
                <a:highlight>
                  <a:srgbClr val="800080"/>
                </a:highlight>
              </a:rPr>
              <a:t>Lunch</a:t>
            </a:r>
          </a:p>
        </p:txBody>
      </p:sp>
      <p:sp>
        <p:nvSpPr>
          <p:cNvPr id="11" name="TextBox 10">
            <a:extLst>
              <a:ext uri="{FF2B5EF4-FFF2-40B4-BE49-F238E27FC236}">
                <a16:creationId xmlns:a16="http://schemas.microsoft.com/office/drawing/2014/main" id="{19772C31-D20C-84F9-5310-84D59B8B4341}"/>
              </a:ext>
            </a:extLst>
          </p:cNvPr>
          <p:cNvSpPr txBox="1"/>
          <p:nvPr/>
        </p:nvSpPr>
        <p:spPr>
          <a:xfrm>
            <a:off x="8028642" y="5060874"/>
            <a:ext cx="856325" cy="369332"/>
          </a:xfrm>
          <a:prstGeom prst="rect">
            <a:avLst/>
          </a:prstGeom>
          <a:noFill/>
        </p:spPr>
        <p:txBody>
          <a:bodyPr wrap="none" rtlCol="0">
            <a:spAutoFit/>
          </a:bodyPr>
          <a:lstStyle/>
          <a:p>
            <a:r>
              <a:rPr lang="en-US" dirty="0">
                <a:solidFill>
                  <a:schemeClr val="bg1"/>
                </a:solidFill>
                <a:highlight>
                  <a:srgbClr val="FF0000"/>
                </a:highlight>
              </a:rPr>
              <a:t>Classes</a:t>
            </a:r>
          </a:p>
        </p:txBody>
      </p:sp>
      <p:sp>
        <p:nvSpPr>
          <p:cNvPr id="12" name="TextBox 11">
            <a:extLst>
              <a:ext uri="{FF2B5EF4-FFF2-40B4-BE49-F238E27FC236}">
                <a16:creationId xmlns:a16="http://schemas.microsoft.com/office/drawing/2014/main" id="{CE2D1A66-FCC2-7D78-B758-5BDD420DA824}"/>
              </a:ext>
            </a:extLst>
          </p:cNvPr>
          <p:cNvSpPr txBox="1"/>
          <p:nvPr/>
        </p:nvSpPr>
        <p:spPr>
          <a:xfrm>
            <a:off x="3164907" y="105604"/>
            <a:ext cx="5166852" cy="523220"/>
          </a:xfrm>
          <a:prstGeom prst="rect">
            <a:avLst/>
          </a:prstGeom>
          <a:noFill/>
        </p:spPr>
        <p:txBody>
          <a:bodyPr wrap="square" rtlCol="0">
            <a:spAutoFit/>
          </a:bodyPr>
          <a:lstStyle/>
          <a:p>
            <a:pPr algn="ctr"/>
            <a:r>
              <a:rPr lang="en-US" sz="2800" b="1" dirty="0">
                <a:solidFill>
                  <a:srgbClr val="0070C0"/>
                </a:solidFill>
              </a:rPr>
              <a:t>Daily Schedule</a:t>
            </a:r>
          </a:p>
        </p:txBody>
      </p:sp>
      <p:sp>
        <p:nvSpPr>
          <p:cNvPr id="7" name="Oval 6">
            <a:extLst>
              <a:ext uri="{FF2B5EF4-FFF2-40B4-BE49-F238E27FC236}">
                <a16:creationId xmlns:a16="http://schemas.microsoft.com/office/drawing/2014/main" id="{37AE9859-57CE-02DC-2539-54F78FE2D47B}"/>
              </a:ext>
            </a:extLst>
          </p:cNvPr>
          <p:cNvSpPr/>
          <p:nvPr/>
        </p:nvSpPr>
        <p:spPr>
          <a:xfrm>
            <a:off x="8512108" y="3922774"/>
            <a:ext cx="519347" cy="334229"/>
          </a:xfrm>
          <a:prstGeom prst="ellipse">
            <a:avLst/>
          </a:prstGeom>
          <a:no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C2E8AA4-B74C-3A4E-8023-859BCF8417E3}"/>
              </a:ext>
            </a:extLst>
          </p:cNvPr>
          <p:cNvSpPr/>
          <p:nvPr/>
        </p:nvSpPr>
        <p:spPr>
          <a:xfrm>
            <a:off x="7474936" y="4168042"/>
            <a:ext cx="519347" cy="334229"/>
          </a:xfrm>
          <a:prstGeom prst="ellipse">
            <a:avLst/>
          </a:prstGeom>
          <a:noFill/>
          <a:ln w="635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B48BE39-98B5-C64E-DFF7-791C4E5EE5A6}"/>
              </a:ext>
            </a:extLst>
          </p:cNvPr>
          <p:cNvSpPr/>
          <p:nvPr/>
        </p:nvSpPr>
        <p:spPr>
          <a:xfrm>
            <a:off x="8456804" y="4292107"/>
            <a:ext cx="519347" cy="334229"/>
          </a:xfrm>
          <a:prstGeom prst="ellipse">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12F2AE4-39EF-2ED4-2B97-3D68B32D3628}"/>
              </a:ext>
            </a:extLst>
          </p:cNvPr>
          <p:cNvSpPr/>
          <p:nvPr/>
        </p:nvSpPr>
        <p:spPr>
          <a:xfrm>
            <a:off x="7012415" y="4224265"/>
            <a:ext cx="519347" cy="334229"/>
          </a:xfrm>
          <a:prstGeom prst="ellipse">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BD9FFA3-7DD8-722A-1F0C-87C685CB3904}"/>
              </a:ext>
            </a:extLst>
          </p:cNvPr>
          <p:cNvSpPr/>
          <p:nvPr/>
        </p:nvSpPr>
        <p:spPr>
          <a:xfrm>
            <a:off x="5186591" y="5257976"/>
            <a:ext cx="519347" cy="334229"/>
          </a:xfrm>
          <a:prstGeom prst="ellipse">
            <a:avLst/>
          </a:prstGeom>
          <a:noFill/>
          <a:ln w="635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3868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116DE-B0C7-5690-4027-088FF6F32B4B}"/>
              </a:ext>
            </a:extLst>
          </p:cNvPr>
          <p:cNvSpPr>
            <a:spLocks noGrp="1"/>
          </p:cNvSpPr>
          <p:nvPr>
            <p:ph idx="1"/>
          </p:nvPr>
        </p:nvSpPr>
        <p:spPr>
          <a:xfrm>
            <a:off x="452284" y="1304516"/>
            <a:ext cx="10886768" cy="5233936"/>
          </a:xfrm>
        </p:spPr>
        <p:txBody>
          <a:bodyPr>
            <a:noAutofit/>
          </a:bodyPr>
          <a:lstStyle/>
          <a:p>
            <a:pPr marL="285750" indent="-285750">
              <a:spcBef>
                <a:spcPts val="0"/>
              </a:spcBef>
            </a:pPr>
            <a:r>
              <a:rPr lang="en-US" sz="2000" dirty="0"/>
              <a:t>We cover your hotel stay (except for the local folks). Stipends also cover the rest of expenses, please keep your receipts just in case. Let me know your flight expenses via the Google form provided on Slack channel.</a:t>
            </a:r>
          </a:p>
          <a:p>
            <a:pPr marL="285750" indent="-285750">
              <a:spcBef>
                <a:spcPts val="0"/>
              </a:spcBef>
              <a:buFont typeface="Arial" panose="020B0604020202020204" pitchFamily="34" charset="0"/>
              <a:buChar char="•"/>
            </a:pPr>
            <a:endParaRPr lang="en-US" sz="2000" dirty="0"/>
          </a:p>
          <a:p>
            <a:pPr marL="285750" indent="-285750">
              <a:spcBef>
                <a:spcPts val="0"/>
              </a:spcBef>
              <a:buFont typeface="Arial" panose="020B0604020202020204" pitchFamily="34" charset="0"/>
              <a:buChar char="•"/>
            </a:pPr>
            <a:r>
              <a:rPr lang="en-US" sz="2000" dirty="0"/>
              <a:t>Travel for the US participants to a reasonable amount, partially the international participants (as the funds allow), except for local/UB-affiliated folks.</a:t>
            </a:r>
          </a:p>
          <a:p>
            <a:pPr marL="285750" indent="-285750">
              <a:spcBef>
                <a:spcPts val="0"/>
              </a:spcBef>
              <a:buFont typeface="Arial" panose="020B0604020202020204" pitchFamily="34" charset="0"/>
              <a:buChar char="•"/>
            </a:pPr>
            <a:endParaRPr lang="en-US" sz="2000" dirty="0"/>
          </a:p>
          <a:p>
            <a:pPr marL="285750" indent="-285750">
              <a:spcBef>
                <a:spcPts val="0"/>
              </a:spcBef>
              <a:buFont typeface="Arial" panose="020B0604020202020204" pitchFamily="34" charset="0"/>
              <a:buChar char="•"/>
            </a:pPr>
            <a:r>
              <a:rPr lang="en-US" sz="2000" dirty="0"/>
              <a:t>Paperwork: </a:t>
            </a:r>
            <a:r>
              <a:rPr lang="en-US" sz="2000" b="0" i="0" dirty="0">
                <a:solidFill>
                  <a:srgbClr val="1D1C1D"/>
                </a:solidFill>
                <a:effectLst/>
              </a:rPr>
              <a:t>All trainees will need to fill in the </a:t>
            </a:r>
            <a:r>
              <a:rPr lang="en-US" sz="2000" b="0" i="0" dirty="0">
                <a:solidFill>
                  <a:srgbClr val="FF0000"/>
                </a:solidFill>
                <a:effectLst/>
              </a:rPr>
              <a:t>RF Participation Stipend</a:t>
            </a:r>
            <a:r>
              <a:rPr lang="en-US" sz="2000" b="0" i="0" dirty="0">
                <a:solidFill>
                  <a:srgbClr val="1D1C1D"/>
                </a:solidFill>
                <a:effectLst/>
              </a:rPr>
              <a:t> form and one of the other two forms: </a:t>
            </a:r>
            <a:r>
              <a:rPr lang="en-US" sz="2000" b="0" i="0" dirty="0">
                <a:solidFill>
                  <a:srgbClr val="0000FF"/>
                </a:solidFill>
                <a:effectLst/>
              </a:rPr>
              <a:t>W-9 - for the US residents</a:t>
            </a:r>
            <a:r>
              <a:rPr lang="en-US" sz="2000" b="0" i="0" dirty="0">
                <a:solidFill>
                  <a:srgbClr val="1D1C1D"/>
                </a:solidFill>
                <a:effectLst/>
              </a:rPr>
              <a:t> and </a:t>
            </a:r>
            <a:r>
              <a:rPr lang="en-US" sz="2000" b="0" i="0" dirty="0">
                <a:solidFill>
                  <a:srgbClr val="008000"/>
                </a:solidFill>
                <a:effectLst/>
              </a:rPr>
              <a:t>W-8BEN for the non-residents. </a:t>
            </a:r>
            <a:r>
              <a:rPr lang="en-US" sz="2000" dirty="0"/>
              <a:t>The forms are distributed to you </a:t>
            </a:r>
            <a:r>
              <a:rPr lang="en-US" sz="2000" b="1" dirty="0"/>
              <a:t>via Slack</a:t>
            </a:r>
            <a:r>
              <a:rPr lang="en-US" sz="2000" dirty="0"/>
              <a:t> – please </a:t>
            </a:r>
            <a:r>
              <a:rPr lang="en-US" sz="2000" b="1" dirty="0" err="1">
                <a:solidFill>
                  <a:srgbClr val="FF0000"/>
                </a:solidFill>
              </a:rPr>
              <a:t>DON’t</a:t>
            </a:r>
            <a:r>
              <a:rPr lang="en-US" sz="2000" b="1" dirty="0">
                <a:solidFill>
                  <a:srgbClr val="FF0000"/>
                </a:solidFill>
              </a:rPr>
              <a:t> send them back via e-mail</a:t>
            </a:r>
            <a:r>
              <a:rPr lang="en-US" sz="2000" dirty="0"/>
              <a:t> – upload to the form provided or via Slack. </a:t>
            </a:r>
          </a:p>
          <a:p>
            <a:pPr marL="0" indent="0">
              <a:spcBef>
                <a:spcPts val="0"/>
              </a:spcBef>
              <a:buNone/>
            </a:pPr>
            <a:endParaRPr lang="en-US" sz="2000" dirty="0"/>
          </a:p>
          <a:p>
            <a:pPr marL="285750" indent="-285750">
              <a:spcBef>
                <a:spcPts val="0"/>
              </a:spcBef>
              <a:buFont typeface="Arial" panose="020B0604020202020204" pitchFamily="34" charset="0"/>
              <a:buChar char="•"/>
            </a:pPr>
            <a:r>
              <a:rPr lang="en-US" sz="2000" dirty="0"/>
              <a:t>A lot of paperwork later – likely it’ll be just me handling most of the stuff</a:t>
            </a:r>
          </a:p>
          <a:p>
            <a:pPr marL="285750" indent="-285750">
              <a:spcBef>
                <a:spcPts val="0"/>
              </a:spcBef>
              <a:buFont typeface="Arial" panose="020B0604020202020204" pitchFamily="34" charset="0"/>
              <a:buChar char="•"/>
            </a:pPr>
            <a:endParaRPr lang="en-US" sz="2000" dirty="0"/>
          </a:p>
          <a:p>
            <a:pPr marL="285750" indent="-285750">
              <a:spcBef>
                <a:spcPts val="0"/>
              </a:spcBef>
              <a:buFont typeface="Arial" panose="020B0604020202020204" pitchFamily="34" charset="0"/>
              <a:buChar char="•"/>
            </a:pPr>
            <a:r>
              <a:rPr lang="en-US" sz="2000" dirty="0"/>
              <a:t>Prizes: $300 (1 first prize), $200 (3 second prizes), $100 (5 first prizes) – the project competition. Online and in-person participants are eligible. UB-affiliated participants are eligible too. </a:t>
            </a:r>
          </a:p>
          <a:p>
            <a:pPr marL="285750" indent="-285750">
              <a:spcBef>
                <a:spcPts val="0"/>
              </a:spcBef>
              <a:buFont typeface="Arial" panose="020B0604020202020204" pitchFamily="34" charset="0"/>
              <a:buChar char="•"/>
            </a:pPr>
            <a:endParaRPr lang="en-US" sz="2000" dirty="0"/>
          </a:p>
          <a:p>
            <a:pPr marL="285750" indent="-285750">
              <a:spcBef>
                <a:spcPts val="0"/>
              </a:spcBef>
              <a:buFont typeface="Arial" panose="020B0604020202020204" pitchFamily="34" charset="0"/>
              <a:buChar char="•"/>
            </a:pPr>
            <a:r>
              <a:rPr lang="en-US" sz="2000" dirty="0"/>
              <a:t>Reimbursement/honoraria to the instructors – a separate paperwork. Will send you instructions via the Instructors Channel on Slack. </a:t>
            </a:r>
          </a:p>
        </p:txBody>
      </p:sp>
      <p:pic>
        <p:nvPicPr>
          <p:cNvPr id="5" name="Picture 7" descr="Image result for ub logo">
            <a:extLst>
              <a:ext uri="{FF2B5EF4-FFF2-40B4-BE49-F238E27FC236}">
                <a16:creationId xmlns:a16="http://schemas.microsoft.com/office/drawing/2014/main" id="{6B76DC89-75AE-9245-77BB-0ECB8586C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23431FB4-B7CE-8BB0-5E10-E873C65AE149}"/>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Logistic</a:t>
            </a:r>
          </a:p>
        </p:txBody>
      </p:sp>
    </p:spTree>
    <p:extLst>
      <p:ext uri="{BB962C8B-B14F-4D97-AF65-F5344CB8AC3E}">
        <p14:creationId xmlns:p14="http://schemas.microsoft.com/office/powerpoint/2010/main" val="2458227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descr="Image result for ub logo">
            <a:extLst>
              <a:ext uri="{FF2B5EF4-FFF2-40B4-BE49-F238E27FC236}">
                <a16:creationId xmlns:a16="http://schemas.microsoft.com/office/drawing/2014/main" id="{470936BA-7813-3303-75AC-EC076F4962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52B4DB27-6DEC-3ECB-BC23-49C2F59F1541}"/>
              </a:ext>
            </a:extLst>
          </p:cNvPr>
          <p:cNvSpPr/>
          <p:nvPr/>
        </p:nvSpPr>
        <p:spPr>
          <a:xfrm>
            <a:off x="6297662" y="3441827"/>
            <a:ext cx="3868994" cy="4129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4D5DD66-9182-3E74-54CA-B25F2F256C0F}"/>
              </a:ext>
            </a:extLst>
          </p:cNvPr>
          <p:cNvSpPr txBox="1"/>
          <p:nvPr/>
        </p:nvSpPr>
        <p:spPr>
          <a:xfrm>
            <a:off x="2049517" y="5066977"/>
            <a:ext cx="7498080" cy="307777"/>
          </a:xfrm>
          <a:prstGeom prst="rect">
            <a:avLst/>
          </a:prstGeom>
          <a:noFill/>
        </p:spPr>
        <p:txBody>
          <a:bodyPr wrap="square">
            <a:spAutoFit/>
          </a:bodyPr>
          <a:lstStyle/>
          <a:p>
            <a:r>
              <a:rPr lang="en-US" sz="1400" dirty="0">
                <a:hlinkClick r:id="rId3"/>
              </a:rPr>
              <a:t>https://compchem-cybertraining.github.io/Cyber_Training_Workshop_2021/_episodes/13-projects</a:t>
            </a:r>
            <a:endParaRPr lang="en-US" sz="1400" dirty="0"/>
          </a:p>
        </p:txBody>
      </p:sp>
      <p:sp>
        <p:nvSpPr>
          <p:cNvPr id="12" name="TextBox 11">
            <a:extLst>
              <a:ext uri="{FF2B5EF4-FFF2-40B4-BE49-F238E27FC236}">
                <a16:creationId xmlns:a16="http://schemas.microsoft.com/office/drawing/2014/main" id="{C78E6D7D-B2D9-4FB6-3651-659A3CD9638E}"/>
              </a:ext>
            </a:extLst>
          </p:cNvPr>
          <p:cNvSpPr txBox="1"/>
          <p:nvPr/>
        </p:nvSpPr>
        <p:spPr>
          <a:xfrm>
            <a:off x="3812491" y="4361089"/>
            <a:ext cx="3404843" cy="369332"/>
          </a:xfrm>
          <a:prstGeom prst="rect">
            <a:avLst/>
          </a:prstGeom>
          <a:noFill/>
        </p:spPr>
        <p:txBody>
          <a:bodyPr wrap="none" rtlCol="0">
            <a:spAutoFit/>
          </a:bodyPr>
          <a:lstStyle/>
          <a:p>
            <a:r>
              <a:rPr lang="en-US" dirty="0">
                <a:solidFill>
                  <a:srgbClr val="0000FF"/>
                </a:solidFill>
              </a:rPr>
              <a:t>Check out the past years’ projects:</a:t>
            </a:r>
          </a:p>
        </p:txBody>
      </p:sp>
      <p:sp>
        <p:nvSpPr>
          <p:cNvPr id="14" name="TextBox 13">
            <a:extLst>
              <a:ext uri="{FF2B5EF4-FFF2-40B4-BE49-F238E27FC236}">
                <a16:creationId xmlns:a16="http://schemas.microsoft.com/office/drawing/2014/main" id="{F281A70C-6ED2-EB64-26C4-CEE0C334596E}"/>
              </a:ext>
            </a:extLst>
          </p:cNvPr>
          <p:cNvSpPr txBox="1"/>
          <p:nvPr/>
        </p:nvSpPr>
        <p:spPr>
          <a:xfrm>
            <a:off x="2049517" y="4730421"/>
            <a:ext cx="8059332" cy="307777"/>
          </a:xfrm>
          <a:prstGeom prst="rect">
            <a:avLst/>
          </a:prstGeom>
          <a:noFill/>
        </p:spPr>
        <p:txBody>
          <a:bodyPr wrap="square">
            <a:spAutoFit/>
          </a:bodyPr>
          <a:lstStyle/>
          <a:p>
            <a:r>
              <a:rPr lang="en-US" sz="1400" dirty="0">
                <a:hlinkClick r:id="rId4"/>
              </a:rPr>
              <a:t>https://github.com/compchem-cybertraining/Cyber_Training_Workshop_2021/tree/gh-pages/course_work</a:t>
            </a:r>
            <a:r>
              <a:rPr lang="en-US" sz="1400" dirty="0"/>
              <a:t> </a:t>
            </a:r>
          </a:p>
        </p:txBody>
      </p:sp>
      <p:sp>
        <p:nvSpPr>
          <p:cNvPr id="3" name="TextBox 2">
            <a:extLst>
              <a:ext uri="{FF2B5EF4-FFF2-40B4-BE49-F238E27FC236}">
                <a16:creationId xmlns:a16="http://schemas.microsoft.com/office/drawing/2014/main" id="{D6CD67DF-A41E-CFAB-3534-E096F740A169}"/>
              </a:ext>
            </a:extLst>
          </p:cNvPr>
          <p:cNvSpPr txBox="1"/>
          <p:nvPr/>
        </p:nvSpPr>
        <p:spPr>
          <a:xfrm>
            <a:off x="2111019" y="855446"/>
            <a:ext cx="10216055" cy="369332"/>
          </a:xfrm>
          <a:prstGeom prst="rect">
            <a:avLst/>
          </a:prstGeom>
          <a:noFill/>
        </p:spPr>
        <p:txBody>
          <a:bodyPr wrap="square">
            <a:spAutoFit/>
          </a:bodyPr>
          <a:lstStyle/>
          <a:p>
            <a:r>
              <a:rPr lang="en-US" dirty="0">
                <a:hlinkClick r:id="rId5"/>
              </a:rPr>
              <a:t>https://compchem-cybertraining.github.io/Cyber_Training_Workshop_2026/CODE_OF_CONDUCT.html</a:t>
            </a:r>
            <a:r>
              <a:rPr lang="en-US" dirty="0"/>
              <a:t> </a:t>
            </a:r>
          </a:p>
        </p:txBody>
      </p:sp>
      <p:sp>
        <p:nvSpPr>
          <p:cNvPr id="10" name="TextBox 9">
            <a:extLst>
              <a:ext uri="{FF2B5EF4-FFF2-40B4-BE49-F238E27FC236}">
                <a16:creationId xmlns:a16="http://schemas.microsoft.com/office/drawing/2014/main" id="{ED7DCEC8-CC4C-D2CE-076A-C95B59CB639C}"/>
              </a:ext>
            </a:extLst>
          </p:cNvPr>
          <p:cNvSpPr txBox="1"/>
          <p:nvPr/>
        </p:nvSpPr>
        <p:spPr>
          <a:xfrm>
            <a:off x="2049518" y="5416023"/>
            <a:ext cx="8002576" cy="307777"/>
          </a:xfrm>
          <a:prstGeom prst="rect">
            <a:avLst/>
          </a:prstGeom>
          <a:noFill/>
        </p:spPr>
        <p:txBody>
          <a:bodyPr wrap="square">
            <a:spAutoFit/>
          </a:bodyPr>
          <a:lstStyle/>
          <a:p>
            <a:r>
              <a:rPr lang="en-US" sz="1400" dirty="0">
                <a:hlinkClick r:id="rId6"/>
              </a:rPr>
              <a:t>https://github.com/compchem-cybertraining/Cyber_Training_Workshop_2022/tree/gh-pages/course_work</a:t>
            </a:r>
            <a:r>
              <a:rPr lang="en-US" sz="1400" dirty="0"/>
              <a:t> </a:t>
            </a:r>
          </a:p>
        </p:txBody>
      </p:sp>
      <p:sp>
        <p:nvSpPr>
          <p:cNvPr id="15" name="TextBox 14">
            <a:extLst>
              <a:ext uri="{FF2B5EF4-FFF2-40B4-BE49-F238E27FC236}">
                <a16:creationId xmlns:a16="http://schemas.microsoft.com/office/drawing/2014/main" id="{45108DD8-C16B-2A83-6E9E-3DEC9C73AD6B}"/>
              </a:ext>
            </a:extLst>
          </p:cNvPr>
          <p:cNvSpPr txBox="1"/>
          <p:nvPr/>
        </p:nvSpPr>
        <p:spPr>
          <a:xfrm>
            <a:off x="2049518" y="5739324"/>
            <a:ext cx="7384568" cy="307777"/>
          </a:xfrm>
          <a:prstGeom prst="rect">
            <a:avLst/>
          </a:prstGeom>
          <a:noFill/>
        </p:spPr>
        <p:txBody>
          <a:bodyPr wrap="square">
            <a:spAutoFit/>
          </a:bodyPr>
          <a:lstStyle/>
          <a:p>
            <a:r>
              <a:rPr lang="en-US" sz="1400" dirty="0">
                <a:hlinkClick r:id="rId7"/>
              </a:rPr>
              <a:t>https://compchem-cybertraining.github.io/Cyber_Training_Workshop_2022/_episodes/15-projects</a:t>
            </a:r>
            <a:r>
              <a:rPr lang="ru-RU" sz="1400" dirty="0"/>
              <a:t> </a:t>
            </a:r>
            <a:endParaRPr lang="en-US" sz="1400" dirty="0"/>
          </a:p>
        </p:txBody>
      </p:sp>
      <p:sp>
        <p:nvSpPr>
          <p:cNvPr id="16" name="TextBox 15">
            <a:extLst>
              <a:ext uri="{FF2B5EF4-FFF2-40B4-BE49-F238E27FC236}">
                <a16:creationId xmlns:a16="http://schemas.microsoft.com/office/drawing/2014/main" id="{2BA46ED6-DACE-C5B3-A519-3A9DC0856786}"/>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Course Project</a:t>
            </a:r>
          </a:p>
        </p:txBody>
      </p:sp>
      <p:sp>
        <p:nvSpPr>
          <p:cNvPr id="13" name="TextBox 12">
            <a:extLst>
              <a:ext uri="{FF2B5EF4-FFF2-40B4-BE49-F238E27FC236}">
                <a16:creationId xmlns:a16="http://schemas.microsoft.com/office/drawing/2014/main" id="{B9E543A0-888D-61EA-2A47-AB659BB0A9B4}"/>
              </a:ext>
            </a:extLst>
          </p:cNvPr>
          <p:cNvSpPr txBox="1"/>
          <p:nvPr/>
        </p:nvSpPr>
        <p:spPr>
          <a:xfrm>
            <a:off x="683953" y="2942776"/>
            <a:ext cx="11193517" cy="369332"/>
          </a:xfrm>
          <a:prstGeom prst="rect">
            <a:avLst/>
          </a:prstGeom>
          <a:noFill/>
        </p:spPr>
        <p:txBody>
          <a:bodyPr wrap="square">
            <a:spAutoFit/>
          </a:bodyPr>
          <a:lstStyle/>
          <a:p>
            <a:r>
              <a:rPr lang="en-US" b="1" dirty="0"/>
              <a:t>Project Timeline: </a:t>
            </a:r>
            <a:r>
              <a:rPr lang="en-US" dirty="0">
                <a:hlinkClick r:id="rId8"/>
              </a:rPr>
              <a:t>https://compchem-cybertraining.github.io/Cyber_Training_Workshop_2026/_episodes/07-project</a:t>
            </a:r>
            <a:r>
              <a:rPr lang="en-US" dirty="0"/>
              <a:t> </a:t>
            </a:r>
          </a:p>
        </p:txBody>
      </p:sp>
      <p:sp>
        <p:nvSpPr>
          <p:cNvPr id="17" name="TextBox 16">
            <a:extLst>
              <a:ext uri="{FF2B5EF4-FFF2-40B4-BE49-F238E27FC236}">
                <a16:creationId xmlns:a16="http://schemas.microsoft.com/office/drawing/2014/main" id="{E6748CA6-6443-FCF1-7104-FD0E4D376388}"/>
              </a:ext>
            </a:extLst>
          </p:cNvPr>
          <p:cNvSpPr txBox="1"/>
          <p:nvPr/>
        </p:nvSpPr>
        <p:spPr>
          <a:xfrm>
            <a:off x="750438" y="3308040"/>
            <a:ext cx="8525091" cy="923330"/>
          </a:xfrm>
          <a:prstGeom prst="rect">
            <a:avLst/>
          </a:prstGeom>
          <a:noFill/>
        </p:spPr>
        <p:txBody>
          <a:bodyPr wrap="none" rtlCol="0">
            <a:spAutoFit/>
          </a:bodyPr>
          <a:lstStyle/>
          <a:p>
            <a:pPr marL="285750" indent="-285750">
              <a:buFont typeface="Arial" panose="020B0604020202020204" pitchFamily="34" charset="0"/>
              <a:buChar char="•"/>
            </a:pPr>
            <a:r>
              <a:rPr lang="en-US" dirty="0"/>
              <a:t>Have your work accepted to the GitHub repo by </a:t>
            </a:r>
            <a:r>
              <a:rPr lang="en-US" b="1" dirty="0">
                <a:solidFill>
                  <a:srgbClr val="FF0000"/>
                </a:solidFill>
              </a:rPr>
              <a:t>July 18 (Saturday), 5 pm Buffalo time</a:t>
            </a:r>
          </a:p>
          <a:p>
            <a:pPr marL="285750" indent="-285750">
              <a:buFont typeface="Arial" panose="020B0604020202020204" pitchFamily="34" charset="0"/>
              <a:buChar char="•"/>
            </a:pPr>
            <a:r>
              <a:rPr lang="en-US" dirty="0"/>
              <a:t>First stage winners are selected by </a:t>
            </a:r>
            <a:r>
              <a:rPr lang="en-US" b="1" dirty="0">
                <a:solidFill>
                  <a:srgbClr val="FF0000"/>
                </a:solidFill>
              </a:rPr>
              <a:t>July 22</a:t>
            </a:r>
          </a:p>
          <a:p>
            <a:pPr marL="285750" indent="-285750">
              <a:buFont typeface="Arial" panose="020B0604020202020204" pitchFamily="34" charset="0"/>
              <a:buChar char="•"/>
            </a:pPr>
            <a:r>
              <a:rPr lang="en-US" dirty="0"/>
              <a:t>Zoom oral presentations - </a:t>
            </a:r>
            <a:r>
              <a:rPr lang="en-US" b="1" dirty="0">
                <a:solidFill>
                  <a:srgbClr val="FF0000"/>
                </a:solidFill>
              </a:rPr>
              <a:t>July 24-26 (the exact dates are to be determined) </a:t>
            </a:r>
          </a:p>
        </p:txBody>
      </p:sp>
      <p:sp>
        <p:nvSpPr>
          <p:cNvPr id="19" name="TextBox 18">
            <a:extLst>
              <a:ext uri="{FF2B5EF4-FFF2-40B4-BE49-F238E27FC236}">
                <a16:creationId xmlns:a16="http://schemas.microsoft.com/office/drawing/2014/main" id="{3557E48D-2DC9-C1FA-0FE3-0B7767BED934}"/>
              </a:ext>
            </a:extLst>
          </p:cNvPr>
          <p:cNvSpPr txBox="1"/>
          <p:nvPr/>
        </p:nvSpPr>
        <p:spPr>
          <a:xfrm>
            <a:off x="693250" y="914143"/>
            <a:ext cx="10844980" cy="1846659"/>
          </a:xfrm>
          <a:prstGeom prst="rect">
            <a:avLst/>
          </a:prstGeom>
          <a:noFill/>
        </p:spPr>
        <p:txBody>
          <a:bodyPr wrap="square">
            <a:spAutoFit/>
          </a:bodyPr>
          <a:lstStyle/>
          <a:p>
            <a:pPr>
              <a:buNone/>
            </a:pPr>
            <a:r>
              <a:rPr lang="en-US" b="1" dirty="0"/>
              <a:t>Project rules</a:t>
            </a:r>
          </a:p>
          <a:p>
            <a:pPr>
              <a:buFont typeface="Arial" panose="020B0604020202020204" pitchFamily="34" charset="0"/>
              <a:buChar char="•"/>
            </a:pPr>
            <a:r>
              <a:rPr lang="en-US" sz="1200" dirty="0"/>
              <a:t> Consist of: a) short written report, b) presentation at the last day of workshop; c) set of input/output files deposited on the GitHub repository</a:t>
            </a:r>
          </a:p>
          <a:p>
            <a:pPr>
              <a:buFont typeface="Arial" panose="020B0604020202020204" pitchFamily="34" charset="0"/>
              <a:buChar char="•"/>
            </a:pPr>
            <a:r>
              <a:rPr lang="en-US" sz="1200" dirty="0"/>
              <a:t> Should actively involve one of the packages discussed over the workshop period</a:t>
            </a:r>
          </a:p>
          <a:p>
            <a:pPr>
              <a:buFont typeface="Arial" panose="020B0604020202020204" pitchFamily="34" charset="0"/>
              <a:buChar char="•"/>
            </a:pPr>
            <a:r>
              <a:rPr lang="en-US" sz="1200" dirty="0"/>
              <a:t> Preferably not something you have an extensive experience with</a:t>
            </a:r>
          </a:p>
          <a:p>
            <a:pPr>
              <a:buFont typeface="Arial" panose="020B0604020202020204" pitchFamily="34" charset="0"/>
              <a:buChar char="•"/>
            </a:pPr>
            <a:r>
              <a:rPr lang="en-US" sz="1200" dirty="0"/>
              <a:t> Doesn’t have to be a full-scale research project, but can be a step towards this direction</a:t>
            </a:r>
          </a:p>
          <a:p>
            <a:pPr>
              <a:buFont typeface="Arial" panose="020B0604020202020204" pitchFamily="34" charset="0"/>
              <a:buChar char="•"/>
            </a:pPr>
            <a:r>
              <a:rPr lang="en-US" sz="1200" dirty="0"/>
              <a:t> Projects completed using local or home institution resources are eligible</a:t>
            </a:r>
          </a:p>
          <a:p>
            <a:pPr>
              <a:buFont typeface="Arial" panose="020B0604020202020204" pitchFamily="34" charset="0"/>
              <a:buChar char="•"/>
            </a:pPr>
            <a:r>
              <a:rPr lang="en-US" sz="1200" dirty="0"/>
              <a:t> Can be an application or a coding project</a:t>
            </a:r>
          </a:p>
          <a:p>
            <a:pPr>
              <a:buFont typeface="Arial" panose="020B0604020202020204" pitchFamily="34" charset="0"/>
              <a:buChar char="•"/>
            </a:pPr>
            <a:r>
              <a:rPr lang="en-US" sz="1200" dirty="0"/>
              <a:t> The consistency in your course work during this school will contribute to your chances to win the awards</a:t>
            </a:r>
          </a:p>
          <a:p>
            <a:pPr>
              <a:buFont typeface="Arial" panose="020B0604020202020204" pitchFamily="34" charset="0"/>
              <a:buChar char="•"/>
            </a:pPr>
            <a:r>
              <a:rPr lang="en-US" sz="1200" dirty="0"/>
              <a:t> The awards decisions will be made based on the committee evaluation. The awards will be: 1 first prize ($300), 3 second, and 5 third prizes.</a:t>
            </a:r>
          </a:p>
        </p:txBody>
      </p:sp>
      <p:sp>
        <p:nvSpPr>
          <p:cNvPr id="21" name="TextBox 20">
            <a:extLst>
              <a:ext uri="{FF2B5EF4-FFF2-40B4-BE49-F238E27FC236}">
                <a16:creationId xmlns:a16="http://schemas.microsoft.com/office/drawing/2014/main" id="{9642291C-7418-C00F-3BFB-602B1382B98E}"/>
              </a:ext>
            </a:extLst>
          </p:cNvPr>
          <p:cNvSpPr txBox="1"/>
          <p:nvPr/>
        </p:nvSpPr>
        <p:spPr>
          <a:xfrm>
            <a:off x="2054417" y="6088370"/>
            <a:ext cx="7121114" cy="307777"/>
          </a:xfrm>
          <a:prstGeom prst="rect">
            <a:avLst/>
          </a:prstGeom>
          <a:noFill/>
        </p:spPr>
        <p:txBody>
          <a:bodyPr wrap="square">
            <a:spAutoFit/>
          </a:bodyPr>
          <a:lstStyle/>
          <a:p>
            <a:r>
              <a:rPr lang="en-US" sz="1400" dirty="0">
                <a:hlinkClick r:id="rId9"/>
              </a:rPr>
              <a:t>https://github.com/compchem-cybertraining/Cyber_Training_Workshop2023_course_projects</a:t>
            </a:r>
            <a:r>
              <a:rPr lang="en-US" sz="1400" dirty="0"/>
              <a:t> </a:t>
            </a:r>
          </a:p>
        </p:txBody>
      </p:sp>
      <p:sp>
        <p:nvSpPr>
          <p:cNvPr id="23" name="TextBox 22">
            <a:extLst>
              <a:ext uri="{FF2B5EF4-FFF2-40B4-BE49-F238E27FC236}">
                <a16:creationId xmlns:a16="http://schemas.microsoft.com/office/drawing/2014/main" id="{C78AF567-C20C-2A32-132B-15A4308CB0E9}"/>
              </a:ext>
            </a:extLst>
          </p:cNvPr>
          <p:cNvSpPr txBox="1"/>
          <p:nvPr/>
        </p:nvSpPr>
        <p:spPr>
          <a:xfrm>
            <a:off x="2049517" y="6350625"/>
            <a:ext cx="7384568" cy="307777"/>
          </a:xfrm>
          <a:prstGeom prst="rect">
            <a:avLst/>
          </a:prstGeom>
          <a:noFill/>
        </p:spPr>
        <p:txBody>
          <a:bodyPr wrap="square">
            <a:spAutoFit/>
          </a:bodyPr>
          <a:lstStyle/>
          <a:p>
            <a:r>
              <a:rPr lang="en-US" sz="1400" dirty="0">
                <a:hlinkClick r:id="rId10"/>
              </a:rPr>
              <a:t>https://compchem-cybertraining.github.io/Cyber_Training_Workshop_2023/_episodes/08-projects</a:t>
            </a:r>
            <a:r>
              <a:rPr lang="en-US" sz="1400" dirty="0"/>
              <a:t> </a:t>
            </a:r>
          </a:p>
        </p:txBody>
      </p:sp>
    </p:spTree>
    <p:extLst>
      <p:ext uri="{BB962C8B-B14F-4D97-AF65-F5344CB8AC3E}">
        <p14:creationId xmlns:p14="http://schemas.microsoft.com/office/powerpoint/2010/main" val="760707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989137" y="2202508"/>
            <a:ext cx="81375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buNone/>
            </a:pPr>
            <a:r>
              <a:rPr lang="pt-BR" sz="4000" i="1" dirty="0">
                <a:solidFill>
                  <a:srgbClr val="0000FF"/>
                </a:solidFill>
              </a:rPr>
              <a:t>Getting Started on </a:t>
            </a:r>
            <a:r>
              <a:rPr lang="pt-BR" sz="4000" i="1" dirty="0"/>
              <a:t>UB CCR</a:t>
            </a:r>
          </a:p>
        </p:txBody>
      </p:sp>
      <p:pic>
        <p:nvPicPr>
          <p:cNvPr id="5" name="Picture 7" descr="Image result for ub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6158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9305FD2-BF7E-8DD7-3EDF-8448FDB278B3}"/>
              </a:ext>
            </a:extLst>
          </p:cNvPr>
          <p:cNvSpPr txBox="1"/>
          <p:nvPr/>
        </p:nvSpPr>
        <p:spPr>
          <a:xfrm>
            <a:off x="250389" y="669352"/>
            <a:ext cx="2451377" cy="400110"/>
          </a:xfrm>
          <a:prstGeom prst="rect">
            <a:avLst/>
          </a:prstGeom>
          <a:noFill/>
        </p:spPr>
        <p:txBody>
          <a:bodyPr wrap="none" rtlCol="0">
            <a:spAutoFit/>
          </a:bodyPr>
          <a:lstStyle/>
          <a:p>
            <a:r>
              <a:rPr lang="en-US" sz="2000" b="1" dirty="0"/>
              <a:t>Before the Workshop</a:t>
            </a:r>
          </a:p>
        </p:txBody>
      </p:sp>
      <p:sp>
        <p:nvSpPr>
          <p:cNvPr id="7" name="TextBox 6">
            <a:extLst>
              <a:ext uri="{FF2B5EF4-FFF2-40B4-BE49-F238E27FC236}">
                <a16:creationId xmlns:a16="http://schemas.microsoft.com/office/drawing/2014/main" id="{17FE9EBC-61FD-0745-C32C-B9DDCA7847D4}"/>
              </a:ext>
            </a:extLst>
          </p:cNvPr>
          <p:cNvSpPr txBox="1"/>
          <p:nvPr/>
        </p:nvSpPr>
        <p:spPr>
          <a:xfrm>
            <a:off x="288031" y="2130853"/>
            <a:ext cx="4152804" cy="400110"/>
          </a:xfrm>
          <a:prstGeom prst="rect">
            <a:avLst/>
          </a:prstGeom>
          <a:noFill/>
        </p:spPr>
        <p:txBody>
          <a:bodyPr wrap="none" rtlCol="0">
            <a:spAutoFit/>
          </a:bodyPr>
          <a:lstStyle/>
          <a:p>
            <a:r>
              <a:rPr lang="en-US" sz="2000" b="1" dirty="0"/>
              <a:t>OnDemand (not Firefox, use Chrome)</a:t>
            </a:r>
          </a:p>
        </p:txBody>
      </p:sp>
      <p:sp>
        <p:nvSpPr>
          <p:cNvPr id="9" name="TextBox 8">
            <a:extLst>
              <a:ext uri="{FF2B5EF4-FFF2-40B4-BE49-F238E27FC236}">
                <a16:creationId xmlns:a16="http://schemas.microsoft.com/office/drawing/2014/main" id="{E25D24B3-4FC8-4BEF-A12F-EE6EB9710795}"/>
              </a:ext>
            </a:extLst>
          </p:cNvPr>
          <p:cNvSpPr txBox="1"/>
          <p:nvPr/>
        </p:nvSpPr>
        <p:spPr>
          <a:xfrm>
            <a:off x="802901" y="3342964"/>
            <a:ext cx="3637934" cy="369332"/>
          </a:xfrm>
          <a:prstGeom prst="rect">
            <a:avLst/>
          </a:prstGeom>
          <a:noFill/>
        </p:spPr>
        <p:txBody>
          <a:bodyPr wrap="square">
            <a:spAutoFit/>
          </a:bodyPr>
          <a:lstStyle/>
          <a:p>
            <a:r>
              <a:rPr lang="en-US" dirty="0">
                <a:hlinkClick r:id="rId2"/>
              </a:rPr>
              <a:t>https://ondemand.ccr.buffalo.edu/</a:t>
            </a:r>
            <a:r>
              <a:rPr lang="en-US" dirty="0"/>
              <a:t> </a:t>
            </a:r>
          </a:p>
        </p:txBody>
      </p:sp>
      <p:pic>
        <p:nvPicPr>
          <p:cNvPr id="11" name="Picture 10" descr="A screenshot of a computer&#10;&#10;Description automatically generated">
            <a:extLst>
              <a:ext uri="{FF2B5EF4-FFF2-40B4-BE49-F238E27FC236}">
                <a16:creationId xmlns:a16="http://schemas.microsoft.com/office/drawing/2014/main" id="{8B7CE1F1-7BC2-80D9-78DC-262C20C294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0027" y="2047195"/>
            <a:ext cx="4271808" cy="2362821"/>
          </a:xfrm>
          <a:prstGeom prst="rect">
            <a:avLst/>
          </a:prstGeom>
        </p:spPr>
      </p:pic>
      <p:sp>
        <p:nvSpPr>
          <p:cNvPr id="12" name="TextBox 11">
            <a:extLst>
              <a:ext uri="{FF2B5EF4-FFF2-40B4-BE49-F238E27FC236}">
                <a16:creationId xmlns:a16="http://schemas.microsoft.com/office/drawing/2014/main" id="{B5A3EB4A-46D0-0863-3447-4F225EDDF59C}"/>
              </a:ext>
            </a:extLst>
          </p:cNvPr>
          <p:cNvSpPr txBox="1"/>
          <p:nvPr/>
        </p:nvSpPr>
        <p:spPr>
          <a:xfrm>
            <a:off x="884798" y="2527481"/>
            <a:ext cx="2992807" cy="646331"/>
          </a:xfrm>
          <a:prstGeom prst="rect">
            <a:avLst/>
          </a:prstGeom>
          <a:noFill/>
        </p:spPr>
        <p:txBody>
          <a:bodyPr wrap="none" rtlCol="0">
            <a:spAutoFit/>
          </a:bodyPr>
          <a:lstStyle/>
          <a:p>
            <a:r>
              <a:rPr lang="en-US" dirty="0"/>
              <a:t>On campus – nothing special; </a:t>
            </a:r>
          </a:p>
          <a:p>
            <a:r>
              <a:rPr lang="en-US" dirty="0"/>
              <a:t>Off-campus – use UB VPN</a:t>
            </a:r>
          </a:p>
        </p:txBody>
      </p:sp>
      <p:sp>
        <p:nvSpPr>
          <p:cNvPr id="13" name="TextBox 12">
            <a:extLst>
              <a:ext uri="{FF2B5EF4-FFF2-40B4-BE49-F238E27FC236}">
                <a16:creationId xmlns:a16="http://schemas.microsoft.com/office/drawing/2014/main" id="{791556AD-02BD-4A9E-1164-FC258FEC1B6C}"/>
              </a:ext>
            </a:extLst>
          </p:cNvPr>
          <p:cNvSpPr txBox="1"/>
          <p:nvPr/>
        </p:nvSpPr>
        <p:spPr>
          <a:xfrm>
            <a:off x="304800" y="4159331"/>
            <a:ext cx="1519070" cy="400110"/>
          </a:xfrm>
          <a:prstGeom prst="rect">
            <a:avLst/>
          </a:prstGeom>
          <a:noFill/>
        </p:spPr>
        <p:txBody>
          <a:bodyPr wrap="none" rtlCol="0">
            <a:spAutoFit/>
          </a:bodyPr>
          <a:lstStyle/>
          <a:p>
            <a:r>
              <a:rPr lang="en-US" sz="2000" b="1" dirty="0" err="1"/>
              <a:t>Moba</a:t>
            </a:r>
            <a:r>
              <a:rPr lang="en-US" sz="2000" b="1" dirty="0"/>
              <a:t> </a:t>
            </a:r>
            <a:r>
              <a:rPr lang="en-US" sz="2000" b="1" dirty="0" err="1"/>
              <a:t>Xterm</a:t>
            </a:r>
            <a:endParaRPr lang="en-US" sz="2000" b="1" dirty="0"/>
          </a:p>
        </p:txBody>
      </p:sp>
      <p:sp>
        <p:nvSpPr>
          <p:cNvPr id="15" name="TextBox 14">
            <a:extLst>
              <a:ext uri="{FF2B5EF4-FFF2-40B4-BE49-F238E27FC236}">
                <a16:creationId xmlns:a16="http://schemas.microsoft.com/office/drawing/2014/main" id="{A8C0F671-11CC-2D71-797C-158C2DD7A1A2}"/>
              </a:ext>
            </a:extLst>
          </p:cNvPr>
          <p:cNvSpPr txBox="1"/>
          <p:nvPr/>
        </p:nvSpPr>
        <p:spPr>
          <a:xfrm>
            <a:off x="1327356" y="1147165"/>
            <a:ext cx="9065342" cy="369332"/>
          </a:xfrm>
          <a:prstGeom prst="rect">
            <a:avLst/>
          </a:prstGeom>
          <a:noFill/>
        </p:spPr>
        <p:txBody>
          <a:bodyPr wrap="square">
            <a:spAutoFit/>
          </a:bodyPr>
          <a:lstStyle/>
          <a:p>
            <a:r>
              <a:rPr lang="en-US" dirty="0">
                <a:hlinkClick r:id="rId4"/>
              </a:rPr>
              <a:t>https://compchem-cybertraining.github.io/Cyber_Training_Workshop_2026/setup.html</a:t>
            </a:r>
            <a:r>
              <a:rPr lang="en-US" dirty="0"/>
              <a:t> </a:t>
            </a:r>
          </a:p>
        </p:txBody>
      </p:sp>
      <p:sp>
        <p:nvSpPr>
          <p:cNvPr id="17" name="TextBox 16">
            <a:extLst>
              <a:ext uri="{FF2B5EF4-FFF2-40B4-BE49-F238E27FC236}">
                <a16:creationId xmlns:a16="http://schemas.microsoft.com/office/drawing/2014/main" id="{38B16EC8-B811-5D6E-8AB5-875C74336595}"/>
              </a:ext>
            </a:extLst>
          </p:cNvPr>
          <p:cNvSpPr txBox="1"/>
          <p:nvPr/>
        </p:nvSpPr>
        <p:spPr>
          <a:xfrm>
            <a:off x="393290" y="6003888"/>
            <a:ext cx="5161935" cy="369332"/>
          </a:xfrm>
          <a:prstGeom prst="rect">
            <a:avLst/>
          </a:prstGeom>
          <a:noFill/>
        </p:spPr>
        <p:txBody>
          <a:bodyPr wrap="square">
            <a:spAutoFit/>
          </a:bodyPr>
          <a:lstStyle/>
          <a:p>
            <a:r>
              <a:rPr lang="en-US" dirty="0">
                <a:hlinkClick r:id="rId5"/>
              </a:rPr>
              <a:t>https://docs.ccr.buffalo.edu/en/latest/portals/idm/</a:t>
            </a:r>
            <a:r>
              <a:rPr lang="en-US" dirty="0"/>
              <a:t> </a:t>
            </a:r>
          </a:p>
        </p:txBody>
      </p:sp>
      <p:pic>
        <p:nvPicPr>
          <p:cNvPr id="19" name="Picture 18">
            <a:extLst>
              <a:ext uri="{FF2B5EF4-FFF2-40B4-BE49-F238E27FC236}">
                <a16:creationId xmlns:a16="http://schemas.microsoft.com/office/drawing/2014/main" id="{D4682AC4-15F3-7E63-B35E-E9B7E0DC8495}"/>
              </a:ext>
            </a:extLst>
          </p:cNvPr>
          <p:cNvPicPr>
            <a:picLocks noChangeAspect="1"/>
          </p:cNvPicPr>
          <p:nvPr/>
        </p:nvPicPr>
        <p:blipFill>
          <a:blip r:embed="rId6"/>
          <a:stretch>
            <a:fillRect/>
          </a:stretch>
        </p:blipFill>
        <p:spPr>
          <a:xfrm>
            <a:off x="6007711" y="4493635"/>
            <a:ext cx="4271808" cy="2352734"/>
          </a:xfrm>
          <a:prstGeom prst="rect">
            <a:avLst/>
          </a:prstGeom>
        </p:spPr>
      </p:pic>
      <p:sp>
        <p:nvSpPr>
          <p:cNvPr id="20" name="TextBox 19">
            <a:extLst>
              <a:ext uri="{FF2B5EF4-FFF2-40B4-BE49-F238E27FC236}">
                <a16:creationId xmlns:a16="http://schemas.microsoft.com/office/drawing/2014/main" id="{AC298FDB-FD1F-39F9-BED9-0EFF90EFA3EB}"/>
              </a:ext>
            </a:extLst>
          </p:cNvPr>
          <p:cNvSpPr txBox="1"/>
          <p:nvPr/>
        </p:nvSpPr>
        <p:spPr>
          <a:xfrm>
            <a:off x="948479" y="4945776"/>
            <a:ext cx="4051558" cy="923330"/>
          </a:xfrm>
          <a:prstGeom prst="rect">
            <a:avLst/>
          </a:prstGeom>
          <a:noFill/>
        </p:spPr>
        <p:txBody>
          <a:bodyPr wrap="none" rtlCol="0">
            <a:spAutoFit/>
          </a:bodyPr>
          <a:lstStyle/>
          <a:p>
            <a:r>
              <a:rPr lang="en-US" dirty="0"/>
              <a:t>Generate the SSH public/private key. </a:t>
            </a:r>
          </a:p>
          <a:p>
            <a:pPr marL="285750" indent="-285750">
              <a:buFont typeface="Arial" panose="020B0604020202020204" pitchFamily="34" charset="0"/>
              <a:buChar char="•"/>
            </a:pPr>
            <a:r>
              <a:rPr lang="en-US" dirty="0"/>
              <a:t>Use </a:t>
            </a:r>
            <a:r>
              <a:rPr lang="en-US" dirty="0" err="1"/>
              <a:t>Moba</a:t>
            </a:r>
            <a:r>
              <a:rPr lang="en-US" dirty="0"/>
              <a:t> Tools -&gt; </a:t>
            </a:r>
            <a:r>
              <a:rPr lang="en-US" dirty="0" err="1"/>
              <a:t>MobaKeyGen</a:t>
            </a:r>
            <a:endParaRPr lang="en-US" dirty="0"/>
          </a:p>
          <a:p>
            <a:pPr marL="285750" indent="-285750">
              <a:buFont typeface="Arial" panose="020B0604020202020204" pitchFamily="34" charset="0"/>
              <a:buChar char="•"/>
            </a:pPr>
            <a:r>
              <a:rPr lang="en-US" dirty="0"/>
              <a:t>Coordinate it with your UB credentials</a:t>
            </a:r>
          </a:p>
        </p:txBody>
      </p:sp>
      <p:sp>
        <p:nvSpPr>
          <p:cNvPr id="21" name="TextBox 20">
            <a:extLst>
              <a:ext uri="{FF2B5EF4-FFF2-40B4-BE49-F238E27FC236}">
                <a16:creationId xmlns:a16="http://schemas.microsoft.com/office/drawing/2014/main" id="{F3A99D62-6D8C-1EA5-168C-61CA65713862}"/>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Accessing UB Computing Resources</a:t>
            </a:r>
          </a:p>
        </p:txBody>
      </p:sp>
      <p:pic>
        <p:nvPicPr>
          <p:cNvPr id="22" name="Picture 7" descr="Image result for ub logo">
            <a:extLst>
              <a:ext uri="{FF2B5EF4-FFF2-40B4-BE49-F238E27FC236}">
                <a16:creationId xmlns:a16="http://schemas.microsoft.com/office/drawing/2014/main" id="{F6D6FA6F-D6C5-1CA1-4959-7A752A9A75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31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104DCA-E387-E39E-9AF8-C249BB815371}"/>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Accessing UB Computing Resources</a:t>
            </a:r>
          </a:p>
        </p:txBody>
      </p:sp>
      <p:pic>
        <p:nvPicPr>
          <p:cNvPr id="5" name="Picture 7" descr="Image result for ub logo">
            <a:extLst>
              <a:ext uri="{FF2B5EF4-FFF2-40B4-BE49-F238E27FC236}">
                <a16:creationId xmlns:a16="http://schemas.microsoft.com/office/drawing/2014/main" id="{74F9D31E-B466-C23E-D260-D8E318C3CE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DEA8F50-90B6-85F1-3B89-86D9ED22FD3B}"/>
              </a:ext>
            </a:extLst>
          </p:cNvPr>
          <p:cNvSpPr txBox="1"/>
          <p:nvPr/>
        </p:nvSpPr>
        <p:spPr>
          <a:xfrm>
            <a:off x="1970901" y="956687"/>
            <a:ext cx="8829367" cy="2862322"/>
          </a:xfrm>
          <a:prstGeom prst="rect">
            <a:avLst/>
          </a:prstGeom>
          <a:noFill/>
        </p:spPr>
        <p:txBody>
          <a:bodyPr wrap="square" rtlCol="0">
            <a:spAutoFit/>
          </a:bodyPr>
          <a:lstStyle/>
          <a:p>
            <a:r>
              <a:rPr lang="en-US" dirty="0">
                <a:solidFill>
                  <a:schemeClr val="accent5">
                    <a:lumMod val="75000"/>
                  </a:schemeClr>
                </a:solidFill>
              </a:rPr>
              <a:t># .</a:t>
            </a:r>
            <a:r>
              <a:rPr lang="en-US" dirty="0" err="1">
                <a:solidFill>
                  <a:schemeClr val="accent5">
                    <a:lumMod val="75000"/>
                  </a:schemeClr>
                </a:solidFill>
              </a:rPr>
              <a:t>bashrc</a:t>
            </a:r>
            <a:endParaRPr lang="en-US" dirty="0">
              <a:solidFill>
                <a:schemeClr val="accent5">
                  <a:lumMod val="75000"/>
                </a:schemeClr>
              </a:solidFill>
            </a:endParaRPr>
          </a:p>
          <a:p>
            <a:endParaRPr lang="en-US" dirty="0">
              <a:solidFill>
                <a:schemeClr val="accent5">
                  <a:lumMod val="75000"/>
                </a:schemeClr>
              </a:solidFill>
            </a:endParaRPr>
          </a:p>
          <a:p>
            <a:r>
              <a:rPr lang="en-US" dirty="0">
                <a:solidFill>
                  <a:schemeClr val="accent5">
                    <a:lumMod val="75000"/>
                  </a:schemeClr>
                </a:solidFill>
              </a:rPr>
              <a:t># User specific aliases and functions</a:t>
            </a:r>
          </a:p>
          <a:p>
            <a:endParaRPr lang="en-US" dirty="0">
              <a:solidFill>
                <a:schemeClr val="accent5">
                  <a:lumMod val="75000"/>
                </a:schemeClr>
              </a:solidFill>
            </a:endParaRPr>
          </a:p>
          <a:p>
            <a:r>
              <a:rPr lang="en-US" dirty="0">
                <a:solidFill>
                  <a:schemeClr val="accent5">
                    <a:lumMod val="75000"/>
                  </a:schemeClr>
                </a:solidFill>
              </a:rPr>
              <a:t># Source global definitions</a:t>
            </a:r>
          </a:p>
          <a:p>
            <a:r>
              <a:rPr lang="en-US" dirty="0">
                <a:solidFill>
                  <a:schemeClr val="accent5">
                    <a:lumMod val="75000"/>
                  </a:schemeClr>
                </a:solidFill>
              </a:rPr>
              <a:t>if [ -f /</a:t>
            </a:r>
            <a:r>
              <a:rPr lang="en-US" dirty="0" err="1">
                <a:solidFill>
                  <a:schemeClr val="accent5">
                    <a:lumMod val="75000"/>
                  </a:schemeClr>
                </a:solidFill>
              </a:rPr>
              <a:t>etc</a:t>
            </a:r>
            <a:r>
              <a:rPr lang="en-US" dirty="0">
                <a:solidFill>
                  <a:schemeClr val="accent5">
                    <a:lumMod val="75000"/>
                  </a:schemeClr>
                </a:solidFill>
              </a:rPr>
              <a:t>/</a:t>
            </a:r>
            <a:r>
              <a:rPr lang="en-US" dirty="0" err="1">
                <a:solidFill>
                  <a:schemeClr val="accent5">
                    <a:lumMod val="75000"/>
                  </a:schemeClr>
                </a:solidFill>
              </a:rPr>
              <a:t>bashrc</a:t>
            </a:r>
            <a:r>
              <a:rPr lang="en-US" dirty="0">
                <a:solidFill>
                  <a:schemeClr val="accent5">
                    <a:lumMod val="75000"/>
                  </a:schemeClr>
                </a:solidFill>
              </a:rPr>
              <a:t> ]; then</a:t>
            </a:r>
          </a:p>
          <a:p>
            <a:r>
              <a:rPr lang="en-US" dirty="0">
                <a:solidFill>
                  <a:schemeClr val="accent5">
                    <a:lumMod val="75000"/>
                  </a:schemeClr>
                </a:solidFill>
              </a:rPr>
              <a:t>        . /</a:t>
            </a:r>
            <a:r>
              <a:rPr lang="en-US" dirty="0" err="1">
                <a:solidFill>
                  <a:schemeClr val="accent5">
                    <a:lumMod val="75000"/>
                  </a:schemeClr>
                </a:solidFill>
              </a:rPr>
              <a:t>etc</a:t>
            </a:r>
            <a:r>
              <a:rPr lang="en-US" dirty="0">
                <a:solidFill>
                  <a:schemeClr val="accent5">
                    <a:lumMod val="75000"/>
                  </a:schemeClr>
                </a:solidFill>
              </a:rPr>
              <a:t>/</a:t>
            </a:r>
            <a:r>
              <a:rPr lang="en-US" dirty="0" err="1">
                <a:solidFill>
                  <a:schemeClr val="accent5">
                    <a:lumMod val="75000"/>
                  </a:schemeClr>
                </a:solidFill>
              </a:rPr>
              <a:t>bashrc</a:t>
            </a:r>
            <a:endParaRPr lang="en-US" dirty="0">
              <a:solidFill>
                <a:schemeClr val="accent5">
                  <a:lumMod val="75000"/>
                </a:schemeClr>
              </a:solidFill>
            </a:endParaRPr>
          </a:p>
          <a:p>
            <a:r>
              <a:rPr lang="en-US" dirty="0">
                <a:solidFill>
                  <a:schemeClr val="accent5">
                    <a:lumMod val="75000"/>
                  </a:schemeClr>
                </a:solidFill>
              </a:rPr>
              <a:t>fi</a:t>
            </a:r>
          </a:p>
          <a:p>
            <a:r>
              <a:rPr lang="en-US" dirty="0">
                <a:solidFill>
                  <a:schemeClr val="accent5">
                    <a:lumMod val="75000"/>
                  </a:schemeClr>
                </a:solidFill>
              </a:rPr>
              <a:t>module use /projects/academic/cyberwksp21/MODULES</a:t>
            </a:r>
          </a:p>
          <a:p>
            <a:r>
              <a:rPr lang="en-US" dirty="0">
                <a:solidFill>
                  <a:schemeClr val="accent5">
                    <a:lumMod val="75000"/>
                  </a:schemeClr>
                </a:solidFill>
              </a:rPr>
              <a:t>module load </a:t>
            </a:r>
            <a:r>
              <a:rPr lang="en-US" dirty="0" err="1">
                <a:solidFill>
                  <a:schemeClr val="accent5">
                    <a:lumMod val="75000"/>
                  </a:schemeClr>
                </a:solidFill>
              </a:rPr>
              <a:t>libra_ava</a:t>
            </a:r>
            <a:r>
              <a:rPr lang="en-US" dirty="0">
                <a:solidFill>
                  <a:schemeClr val="accent5">
                    <a:lumMod val="75000"/>
                  </a:schemeClr>
                </a:solidFill>
              </a:rPr>
              <a:t>/devel</a:t>
            </a:r>
          </a:p>
        </p:txBody>
      </p:sp>
      <p:sp>
        <p:nvSpPr>
          <p:cNvPr id="7" name="TextBox 6">
            <a:extLst>
              <a:ext uri="{FF2B5EF4-FFF2-40B4-BE49-F238E27FC236}">
                <a16:creationId xmlns:a16="http://schemas.microsoft.com/office/drawing/2014/main" id="{683EC89C-14A3-0468-ACED-BA707073C5DF}"/>
              </a:ext>
            </a:extLst>
          </p:cNvPr>
          <p:cNvSpPr txBox="1"/>
          <p:nvPr/>
        </p:nvSpPr>
        <p:spPr>
          <a:xfrm>
            <a:off x="4277859" y="669191"/>
            <a:ext cx="4020460" cy="369332"/>
          </a:xfrm>
          <a:prstGeom prst="rect">
            <a:avLst/>
          </a:prstGeom>
          <a:noFill/>
        </p:spPr>
        <p:txBody>
          <a:bodyPr wrap="none" rtlCol="0">
            <a:spAutoFit/>
          </a:bodyPr>
          <a:lstStyle/>
          <a:p>
            <a:r>
              <a:rPr lang="en-US" dirty="0"/>
              <a:t>Your </a:t>
            </a:r>
            <a:r>
              <a:rPr lang="en-US" b="1" dirty="0"/>
              <a:t>.</a:t>
            </a:r>
            <a:r>
              <a:rPr lang="en-US" b="1" dirty="0" err="1"/>
              <a:t>bashrc</a:t>
            </a:r>
            <a:r>
              <a:rPr lang="en-US" dirty="0"/>
              <a:t> file (in your home directory)</a:t>
            </a:r>
          </a:p>
        </p:txBody>
      </p:sp>
      <p:sp>
        <p:nvSpPr>
          <p:cNvPr id="8" name="TextBox 7">
            <a:extLst>
              <a:ext uri="{FF2B5EF4-FFF2-40B4-BE49-F238E27FC236}">
                <a16:creationId xmlns:a16="http://schemas.microsoft.com/office/drawing/2014/main" id="{03E5EE1F-2BE7-28B7-E02C-0A50A43A0B16}"/>
              </a:ext>
            </a:extLst>
          </p:cNvPr>
          <p:cNvSpPr txBox="1"/>
          <p:nvPr/>
        </p:nvSpPr>
        <p:spPr>
          <a:xfrm>
            <a:off x="2153944" y="4156745"/>
            <a:ext cx="8268289" cy="923330"/>
          </a:xfrm>
          <a:prstGeom prst="rect">
            <a:avLst/>
          </a:prstGeom>
          <a:noFill/>
        </p:spPr>
        <p:txBody>
          <a:bodyPr wrap="none" rtlCol="0">
            <a:spAutoFit/>
          </a:bodyPr>
          <a:lstStyle/>
          <a:p>
            <a:pPr marL="285750" indent="-285750">
              <a:buFont typeface="Arial" panose="020B0604020202020204" pitchFamily="34" charset="0"/>
              <a:buChar char="•"/>
            </a:pPr>
            <a:r>
              <a:rPr lang="en-US" dirty="0"/>
              <a:t>Restart terminal or `source .</a:t>
            </a:r>
            <a:r>
              <a:rPr lang="en-US" dirty="0" err="1"/>
              <a:t>bashrc</a:t>
            </a:r>
            <a:r>
              <a:rPr lang="en-US" dirty="0"/>
              <a:t>`</a:t>
            </a:r>
          </a:p>
          <a:p>
            <a:pPr marL="285750" indent="-285750">
              <a:buFont typeface="Arial" panose="020B0604020202020204" pitchFamily="34" charset="0"/>
              <a:buChar char="•"/>
            </a:pPr>
            <a:r>
              <a:rPr lang="en-US" dirty="0"/>
              <a:t>For terminal-based operations: Activate </a:t>
            </a:r>
            <a:r>
              <a:rPr lang="en-US" dirty="0" err="1"/>
              <a:t>conda</a:t>
            </a:r>
            <a:r>
              <a:rPr lang="en-US" dirty="0"/>
              <a:t> environment: `</a:t>
            </a:r>
            <a:r>
              <a:rPr lang="en-US" dirty="0" err="1"/>
              <a:t>conda</a:t>
            </a:r>
            <a:r>
              <a:rPr lang="en-US" dirty="0"/>
              <a:t> activate libra2`</a:t>
            </a:r>
          </a:p>
          <a:p>
            <a:pPr marL="285750" indent="-285750">
              <a:buFont typeface="Arial" panose="020B0604020202020204" pitchFamily="34" charset="0"/>
              <a:buChar char="•"/>
            </a:pPr>
            <a:r>
              <a:rPr lang="en-US" dirty="0"/>
              <a:t>For </a:t>
            </a:r>
            <a:r>
              <a:rPr lang="en-US" dirty="0" err="1"/>
              <a:t>Jupyter</a:t>
            </a:r>
            <a:r>
              <a:rPr lang="en-US" dirty="0"/>
              <a:t> – just launch it</a:t>
            </a:r>
          </a:p>
        </p:txBody>
      </p:sp>
      <p:sp>
        <p:nvSpPr>
          <p:cNvPr id="10" name="TextBox 9">
            <a:extLst>
              <a:ext uri="{FF2B5EF4-FFF2-40B4-BE49-F238E27FC236}">
                <a16:creationId xmlns:a16="http://schemas.microsoft.com/office/drawing/2014/main" id="{41D789E5-B069-1F60-CBF0-7010AB9BC475}"/>
              </a:ext>
            </a:extLst>
          </p:cNvPr>
          <p:cNvSpPr txBox="1"/>
          <p:nvPr/>
        </p:nvSpPr>
        <p:spPr>
          <a:xfrm>
            <a:off x="776747" y="5531981"/>
            <a:ext cx="10517669" cy="923330"/>
          </a:xfrm>
          <a:prstGeom prst="rect">
            <a:avLst/>
          </a:prstGeom>
          <a:noFill/>
        </p:spPr>
        <p:txBody>
          <a:bodyPr wrap="square">
            <a:spAutoFit/>
          </a:bodyPr>
          <a:lstStyle/>
          <a:p>
            <a:r>
              <a:rPr lang="en-US" b="1" dirty="0"/>
              <a:t>Projects directory:  /projects/academic/cyberwksp21  </a:t>
            </a:r>
            <a:r>
              <a:rPr lang="en-US" dirty="0"/>
              <a:t>- slower, smaller, but permanent, </a:t>
            </a:r>
            <a:r>
              <a:rPr lang="en-US" b="1" dirty="0">
                <a:solidFill>
                  <a:srgbClr val="FF0000"/>
                </a:solidFill>
              </a:rPr>
              <a:t>limited space</a:t>
            </a:r>
            <a:r>
              <a:rPr lang="en-US" dirty="0"/>
              <a:t>!</a:t>
            </a:r>
          </a:p>
          <a:p>
            <a:r>
              <a:rPr lang="en-US" b="1" dirty="0">
                <a:solidFill>
                  <a:srgbClr val="0000FF"/>
                </a:solidFill>
              </a:rPr>
              <a:t>Scratch space: </a:t>
            </a:r>
            <a:r>
              <a:rPr lang="en-US" b="1" dirty="0"/>
              <a:t>/</a:t>
            </a:r>
            <a:r>
              <a:rPr lang="en-US" b="1" dirty="0" err="1"/>
              <a:t>vscratch</a:t>
            </a:r>
            <a:r>
              <a:rPr lang="en-US" b="1" dirty="0"/>
              <a:t>/grp-cyberwksp21</a:t>
            </a:r>
            <a:r>
              <a:rPr lang="en-US" b="1" dirty="0">
                <a:solidFill>
                  <a:srgbClr val="0000FF"/>
                </a:solidFill>
              </a:rPr>
              <a:t> </a:t>
            </a:r>
            <a:r>
              <a:rPr lang="en-US" dirty="0"/>
              <a:t>- faster, larger, but temporary; content will be purged in 60 days</a:t>
            </a:r>
          </a:p>
          <a:p>
            <a:r>
              <a:rPr lang="en-US" b="1" dirty="0"/>
              <a:t>Home directory:</a:t>
            </a:r>
            <a:r>
              <a:rPr lang="en-US" dirty="0"/>
              <a:t> convenient to use, but others can not access it in case you need them check something</a:t>
            </a:r>
          </a:p>
        </p:txBody>
      </p:sp>
    </p:spTree>
    <p:extLst>
      <p:ext uri="{BB962C8B-B14F-4D97-AF65-F5344CB8AC3E}">
        <p14:creationId xmlns:p14="http://schemas.microsoft.com/office/powerpoint/2010/main" val="3559873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104DCA-E387-E39E-9AF8-C249BB815371}"/>
              </a:ext>
            </a:extLst>
          </p:cNvPr>
          <p:cNvSpPr txBox="1"/>
          <p:nvPr/>
        </p:nvSpPr>
        <p:spPr>
          <a:xfrm>
            <a:off x="1300411" y="166113"/>
            <a:ext cx="8979108" cy="523220"/>
          </a:xfrm>
          <a:prstGeom prst="rect">
            <a:avLst/>
          </a:prstGeom>
          <a:noFill/>
        </p:spPr>
        <p:txBody>
          <a:bodyPr wrap="square" rtlCol="0">
            <a:spAutoFit/>
          </a:bodyPr>
          <a:lstStyle/>
          <a:p>
            <a:pPr algn="ctr"/>
            <a:r>
              <a:rPr lang="en-US" sz="2800" b="1" dirty="0">
                <a:solidFill>
                  <a:srgbClr val="0070C0"/>
                </a:solidFill>
              </a:rPr>
              <a:t>Using </a:t>
            </a:r>
            <a:r>
              <a:rPr lang="en-US" sz="2800" b="1" dirty="0" err="1">
                <a:solidFill>
                  <a:srgbClr val="0070C0"/>
                </a:solidFill>
              </a:rPr>
              <a:t>Jupyter</a:t>
            </a:r>
            <a:r>
              <a:rPr lang="en-US" sz="2800" b="1" dirty="0">
                <a:solidFill>
                  <a:srgbClr val="0070C0"/>
                </a:solidFill>
              </a:rPr>
              <a:t> Notebooks</a:t>
            </a:r>
          </a:p>
        </p:txBody>
      </p:sp>
      <p:pic>
        <p:nvPicPr>
          <p:cNvPr id="5" name="Picture 7" descr="Image result for ub logo">
            <a:extLst>
              <a:ext uri="{FF2B5EF4-FFF2-40B4-BE49-F238E27FC236}">
                <a16:creationId xmlns:a16="http://schemas.microsoft.com/office/drawing/2014/main" id="{74F9D31E-B466-C23E-D260-D8E318C3CE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0800" y="0"/>
            <a:ext cx="19812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1DD438E0-46E7-6C22-F9E3-BE8BB2E7FF9D}"/>
              </a:ext>
            </a:extLst>
          </p:cNvPr>
          <p:cNvSpPr txBox="1"/>
          <p:nvPr/>
        </p:nvSpPr>
        <p:spPr>
          <a:xfrm>
            <a:off x="822270" y="958276"/>
            <a:ext cx="9935390" cy="369332"/>
          </a:xfrm>
          <a:prstGeom prst="rect">
            <a:avLst/>
          </a:prstGeom>
          <a:noFill/>
        </p:spPr>
        <p:txBody>
          <a:bodyPr wrap="square">
            <a:spAutoFit/>
          </a:bodyPr>
          <a:lstStyle/>
          <a:p>
            <a:r>
              <a:rPr lang="en-US" dirty="0">
                <a:hlinkClick r:id="rId3"/>
              </a:rPr>
              <a:t>https://compchem-cybertraining.github.io/Cyber_Training_Workshop_2026/_episodes/04-tsh</a:t>
            </a:r>
            <a:r>
              <a:rPr lang="en-US" dirty="0"/>
              <a:t> </a:t>
            </a:r>
          </a:p>
        </p:txBody>
      </p:sp>
      <p:pic>
        <p:nvPicPr>
          <p:cNvPr id="13" name="Picture 12" descr="A screenshot of a computer&#10;&#10;Description automatically generated">
            <a:extLst>
              <a:ext uri="{FF2B5EF4-FFF2-40B4-BE49-F238E27FC236}">
                <a16:creationId xmlns:a16="http://schemas.microsoft.com/office/drawing/2014/main" id="{D4F327DF-0240-A885-6F1D-A79DAA0EA8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110" y="2154380"/>
            <a:ext cx="3726771" cy="3648665"/>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E720DB7F-9C3C-C3F6-342B-3CADCE7DAE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75881" y="2154380"/>
            <a:ext cx="3253264" cy="3648666"/>
          </a:xfrm>
          <a:prstGeom prst="rect">
            <a:avLst/>
          </a:prstGeom>
        </p:spPr>
      </p:pic>
      <p:pic>
        <p:nvPicPr>
          <p:cNvPr id="17" name="Picture 16" descr="A screenshot of a computer&#10;&#10;Description automatically generated with medium confidence">
            <a:extLst>
              <a:ext uri="{FF2B5EF4-FFF2-40B4-BE49-F238E27FC236}">
                <a16:creationId xmlns:a16="http://schemas.microsoft.com/office/drawing/2014/main" id="{196DAEE8-EE7C-ECD2-18A7-2C30FC4CD8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85334" y="1584261"/>
            <a:ext cx="4757556" cy="2382162"/>
          </a:xfrm>
          <a:prstGeom prst="rect">
            <a:avLst/>
          </a:prstGeom>
        </p:spPr>
      </p:pic>
      <p:pic>
        <p:nvPicPr>
          <p:cNvPr id="19" name="Picture 18" descr="A screenshot of a computer&#10;&#10;Description automatically generated with medium confidence">
            <a:extLst>
              <a:ext uri="{FF2B5EF4-FFF2-40B4-BE49-F238E27FC236}">
                <a16:creationId xmlns:a16="http://schemas.microsoft.com/office/drawing/2014/main" id="{3C6AF05F-24FE-243B-781F-CCD53EB6B19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84570" y="4112460"/>
            <a:ext cx="4681288" cy="2622804"/>
          </a:xfrm>
          <a:prstGeom prst="rect">
            <a:avLst/>
          </a:prstGeom>
        </p:spPr>
      </p:pic>
    </p:spTree>
    <p:extLst>
      <p:ext uri="{BB962C8B-B14F-4D97-AF65-F5344CB8AC3E}">
        <p14:creationId xmlns:p14="http://schemas.microsoft.com/office/powerpoint/2010/main" val="1120453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1863</TotalTime>
  <Words>1693</Words>
  <Application>Microsoft Office PowerPoint</Application>
  <PresentationFormat>Widescreen</PresentationFormat>
  <Paragraphs>178</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Alexey-user</dc:creator>
  <cp:lastModifiedBy>Alexey Akimov</cp:lastModifiedBy>
  <cp:revision>80</cp:revision>
  <dcterms:created xsi:type="dcterms:W3CDTF">2021-12-20T14:51:30Z</dcterms:created>
  <dcterms:modified xsi:type="dcterms:W3CDTF">2026-07-02T23:02:57Z</dcterms:modified>
</cp:coreProperties>
</file>