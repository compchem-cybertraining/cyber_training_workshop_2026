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82" r:id="rId2"/>
    <p:sldId id="851" r:id="rId3"/>
    <p:sldId id="846" r:id="rId4"/>
    <p:sldId id="891" r:id="rId5"/>
    <p:sldId id="437" r:id="rId6"/>
    <p:sldId id="296" r:id="rId7"/>
    <p:sldId id="896" r:id="rId8"/>
    <p:sldId id="892" r:id="rId9"/>
    <p:sldId id="893" r:id="rId10"/>
    <p:sldId id="777" r:id="rId11"/>
    <p:sldId id="912" r:id="rId12"/>
    <p:sldId id="813" r:id="rId13"/>
    <p:sldId id="894" r:id="rId14"/>
    <p:sldId id="438" r:id="rId15"/>
    <p:sldId id="895" r:id="rId16"/>
    <p:sldId id="878" r:id="rId17"/>
    <p:sldId id="880" r:id="rId18"/>
    <p:sldId id="898" r:id="rId19"/>
    <p:sldId id="879" r:id="rId20"/>
    <p:sldId id="881" r:id="rId21"/>
    <p:sldId id="882" r:id="rId22"/>
    <p:sldId id="857" r:id="rId23"/>
    <p:sldId id="859" r:id="rId24"/>
    <p:sldId id="757" r:id="rId25"/>
    <p:sldId id="889" r:id="rId26"/>
    <p:sldId id="883" r:id="rId27"/>
    <p:sldId id="884" r:id="rId28"/>
    <p:sldId id="885" r:id="rId29"/>
    <p:sldId id="886" r:id="rId30"/>
    <p:sldId id="887" r:id="rId31"/>
    <p:sldId id="888" r:id="rId32"/>
    <p:sldId id="890" r:id="rId33"/>
    <p:sldId id="899" r:id="rId34"/>
    <p:sldId id="304" r:id="rId35"/>
    <p:sldId id="440" r:id="rId36"/>
    <p:sldId id="441" r:id="rId37"/>
    <p:sldId id="442" r:id="rId38"/>
    <p:sldId id="443" r:id="rId39"/>
    <p:sldId id="439" r:id="rId40"/>
    <p:sldId id="900" r:id="rId41"/>
    <p:sldId id="277" r:id="rId42"/>
    <p:sldId id="901" r:id="rId43"/>
    <p:sldId id="871" r:id="rId44"/>
    <p:sldId id="445" r:id="rId45"/>
    <p:sldId id="902" r:id="rId46"/>
    <p:sldId id="446" r:id="rId47"/>
    <p:sldId id="292" r:id="rId48"/>
    <p:sldId id="431" r:id="rId49"/>
    <p:sldId id="447" r:id="rId50"/>
    <p:sldId id="305" r:id="rId51"/>
    <p:sldId id="873" r:id="rId52"/>
    <p:sldId id="448" r:id="rId53"/>
    <p:sldId id="449" r:id="rId54"/>
    <p:sldId id="904" r:id="rId55"/>
    <p:sldId id="876" r:id="rId56"/>
    <p:sldId id="903" r:id="rId57"/>
    <p:sldId id="432" r:id="rId58"/>
    <p:sldId id="433" r:id="rId59"/>
    <p:sldId id="434" r:id="rId60"/>
    <p:sldId id="877" r:id="rId61"/>
    <p:sldId id="457" r:id="rId62"/>
    <p:sldId id="869" r:id="rId63"/>
    <p:sldId id="906" r:id="rId64"/>
    <p:sldId id="905" r:id="rId65"/>
    <p:sldId id="907" r:id="rId66"/>
    <p:sldId id="908" r:id="rId67"/>
    <p:sldId id="909" r:id="rId68"/>
    <p:sldId id="910" r:id="rId69"/>
    <p:sldId id="911" r:id="rId70"/>
    <p:sldId id="444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376" y="68"/>
      </p:cViewPr>
      <p:guideLst>
        <p:guide orient="horz" pos="2184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4DB4D-FF22-4E5B-AF21-D2DB554E5F3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705F4-8DF6-49D4-B409-99F4CCA28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09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5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1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7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5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8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7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5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4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5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4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51D3B-DC9D-461A-BA7B-0ABC057AFFA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E6BBC-6800-4A8B-8759-CEA4BB75C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0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chem-cybertraining.github.io/Cyber_Training_Workshop_2026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.jpeg"/><Relationship Id="rId7" Type="http://schemas.openxmlformats.org/officeDocument/2006/relationships/image" Target="NULL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0.png"/><Relationship Id="rId2" Type="http://schemas.openxmlformats.org/officeDocument/2006/relationships/image" Target="../media/image1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hyperlink" Target="https://github.com/compchem-cybertraining/Tutorials_Libra/tree/master/15_citools" TargetMode="Externa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hyperlink" Target="https://github.com/compchem-cybertraining/Tutorials_Libra/blob/master/14_molecular_integrals/4_libint2_advanced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.jpeg"/><Relationship Id="rId7" Type="http://schemas.openxmlformats.org/officeDocument/2006/relationships/image" Target="../media/image17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jpeg"/><Relationship Id="rId7" Type="http://schemas.openxmlformats.org/officeDocument/2006/relationships/image" Target="NULL"/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1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84.png"/><Relationship Id="rId4" Type="http://schemas.openxmlformats.org/officeDocument/2006/relationships/image" Target="NULL"/><Relationship Id="rId9" Type="http://schemas.openxmlformats.org/officeDocument/2006/relationships/image" Target="../media/image18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34.png"/><Relationship Id="rId4" Type="http://schemas.openxmlformats.org/officeDocument/2006/relationships/image" Target="../media/image18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Relationship Id="rId9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.jpe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35.pn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1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1.jpe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jpeg"/><Relationship Id="rId7" Type="http://schemas.openxmlformats.org/officeDocument/2006/relationships/image" Target="NUL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7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6.png"/><Relationship Id="rId7" Type="http://schemas.openxmlformats.org/officeDocument/2006/relationships/image" Target="../media/image199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.jpeg"/><Relationship Id="rId4" Type="http://schemas.openxmlformats.org/officeDocument/2006/relationships/image" Target="../media/image19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1.jpe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.jpe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1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jpe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14362" y="1231075"/>
            <a:ext cx="109632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sz="4000" b="1" dirty="0">
                <a:solidFill>
                  <a:srgbClr val="0070C0"/>
                </a:solidFill>
              </a:rPr>
              <a:t>CyberTraining: Modeling </a:t>
            </a:r>
            <a:r>
              <a:rPr lang="en-US" sz="4000" b="1" dirty="0">
                <a:solidFill>
                  <a:srgbClr val="FF0000"/>
                </a:solidFill>
              </a:rPr>
              <a:t>Quantum Dynamics </a:t>
            </a:r>
            <a:r>
              <a:rPr lang="en-US" sz="4000" b="1" dirty="0">
                <a:solidFill>
                  <a:srgbClr val="0070C0"/>
                </a:solidFill>
              </a:rPr>
              <a:t>of </a:t>
            </a:r>
            <a:r>
              <a:rPr lang="en-US" sz="4000" b="1" dirty="0">
                <a:solidFill>
                  <a:srgbClr val="008000"/>
                </a:solidFill>
              </a:rPr>
              <a:t>Excited States </a:t>
            </a:r>
            <a:r>
              <a:rPr lang="en-US" sz="4000" b="1" dirty="0">
                <a:solidFill>
                  <a:srgbClr val="0070C0"/>
                </a:solidFill>
              </a:rPr>
              <a:t>in Materials in the Era of </a:t>
            </a:r>
            <a:r>
              <a:rPr lang="en-US" sz="4000" b="1" dirty="0">
                <a:solidFill>
                  <a:srgbClr val="0000FF"/>
                </a:solidFill>
              </a:rPr>
              <a:t>Machine Learning</a:t>
            </a:r>
            <a:r>
              <a:rPr lang="en-US" sz="4000" b="1" dirty="0">
                <a:solidFill>
                  <a:srgbClr val="0070C0"/>
                </a:solidFill>
              </a:rPr>
              <a:t>, 2026</a:t>
            </a:r>
          </a:p>
        </p:txBody>
      </p:sp>
      <p:pic>
        <p:nvPicPr>
          <p:cNvPr id="5" name="Picture 7" descr="Image result for ub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768825" y="3577468"/>
            <a:ext cx="21762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u="sng" dirty="0">
                <a:latin typeface="Times New Roman" panose="02020603050405020304" pitchFamily="18" charset="0"/>
              </a:rPr>
              <a:t>Alexey Akimov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9300" y="4563158"/>
            <a:ext cx="3541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University at Buffalo, SUNY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4667" y="5024823"/>
            <a:ext cx="1404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July 9,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B5F83-1937-B973-9192-B448A7C1C509}"/>
              </a:ext>
            </a:extLst>
          </p:cNvPr>
          <p:cNvSpPr txBox="1"/>
          <p:nvPr/>
        </p:nvSpPr>
        <p:spPr>
          <a:xfrm>
            <a:off x="2618654" y="5886598"/>
            <a:ext cx="7401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https://compchem-cybertraining.github.io/Cyber_Training_Workshop_2026/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407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DA10-ED24-778F-3ACF-AF96FD39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47C27E33-27D9-D5C0-867C-A5AE5990E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23" y="2101884"/>
            <a:ext cx="114858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000" b="1" i="1" dirty="0"/>
              <a:t>Part 4: </a:t>
            </a:r>
            <a:r>
              <a:rPr lang="pt-BR" sz="4000" b="1" i="1" dirty="0" err="1">
                <a:solidFill>
                  <a:srgbClr val="0000FF"/>
                </a:solidFill>
              </a:rPr>
              <a:t>Algorithms</a:t>
            </a:r>
            <a:r>
              <a:rPr lang="pt-BR" sz="4000" b="1" i="1" dirty="0">
                <a:solidFill>
                  <a:srgbClr val="0000FF"/>
                </a:solidFill>
              </a:rPr>
              <a:t> </a:t>
            </a:r>
            <a:r>
              <a:rPr lang="pt-BR" sz="4000" b="1" i="1" dirty="0" err="1">
                <a:solidFill>
                  <a:srgbClr val="0000FF"/>
                </a:solidFill>
              </a:rPr>
              <a:t>and</a:t>
            </a:r>
            <a:r>
              <a:rPr lang="pt-BR" sz="4000" b="1" i="1" dirty="0">
                <a:solidFill>
                  <a:srgbClr val="0000FF"/>
                </a:solidFill>
              </a:rPr>
              <a:t> </a:t>
            </a:r>
            <a:r>
              <a:rPr lang="pt-BR" sz="4000" b="1" i="1" dirty="0" err="1">
                <a:solidFill>
                  <a:srgbClr val="FF0000"/>
                </a:solidFill>
              </a:rPr>
              <a:t>Methods</a:t>
            </a:r>
            <a:r>
              <a:rPr lang="pt-BR" sz="4000" b="1" i="1" dirty="0">
                <a:solidFill>
                  <a:srgbClr val="0000FF"/>
                </a:solidFill>
              </a:rPr>
              <a:t> for </a:t>
            </a:r>
            <a:r>
              <a:rPr lang="pt-BR" sz="4000" b="1" i="1" dirty="0">
                <a:solidFill>
                  <a:srgbClr val="008000"/>
                </a:solidFill>
              </a:rPr>
              <a:t>NA-MD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256341B5-6BB0-6E95-CB0D-B4148A4F1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027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/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/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/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/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/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/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/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/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/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/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/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AC807-D5DB-A5E2-29A5-1B1EB172AA4F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The general NA-MD workflow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21616D4E-8B12-BA67-0A71-104C1A679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4CBBDEEF-834A-F2F8-F525-AA8A885DE428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3F07D590-594D-622F-5C30-4A0493DEFC28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2AF9EEAD-CB4F-3C79-9A82-5C5EA29D0640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62DA8E59-E077-3CB6-7AB1-C528DFEE5C53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3D143674-6D31-DC43-7A8D-7B277EF32B93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B99580AE-A76B-AB39-F1D1-4ACFFB90DB1F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63E3-DFE1-F817-224B-F77265485C7F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12394568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6C04-05F5-BA27-C08C-A8432675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D5F07A-09EC-8FE6-1A51-B6B48295863F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42703F79-AA47-13B5-625E-1733D6FC4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171B977E-2FAA-3242-A7A0-B02EB050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3723B20E-2148-A444-E3F8-BFBACFA55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3124B5F1-4264-D7BF-BC3A-E8FAEA697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BE07E59-F500-F300-E277-2BBD7EBE0C80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DE3DDB-571A-56C1-F67C-012BC4279FD5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BE158B0-9E16-1375-B3AD-DD57FB816FB4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EA4512-BE6E-B500-CFDA-39285ADAE93D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A5A280-CCF0-4890-2C87-2207D4B47000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EDDB08B-20DB-A00B-3196-EE9E75D7BCCA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3AF9F1B5-B1B8-8CAD-0241-D23318AD7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B67D4FB-EC7F-9BA5-8473-9CD5ED813898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4EC3A62D-4027-B678-B51C-831AD4CF4002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8F853529-8350-9CAC-9CCB-E52B442AD1DF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6A3C7383-9A6C-8BC1-B18D-9DE1BE34F729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A8883600-9E93-E55E-69B1-60FBA708B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B167B63-2206-B915-C9EB-521483273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2E6D7-A308-1809-5975-C84C10FCBAAF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FF16FF8-0433-0EBE-A26C-DB3D6955FC15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E113810D-8B85-33BC-A23B-DE0586B81FBE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5EA64D-3240-F8CD-7A7A-E6FA6F8B34E4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075B7D1-50C7-1385-CF44-5BB9AD8A111E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3F49048D-D5D8-5E85-5038-E60F4E638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50B8C-712B-D17E-32A4-94382A58FCB9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6628D244-E5C7-A5DD-471E-D943B39C35B5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CEBFF234-DAA2-1A77-CB20-AD5C0EEDAA46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ADC780F2-DA50-5E52-F383-B221D5022842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BAFC65A4-AE11-4846-793D-AE8B013D0C75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03899E14-E321-AB75-B186-1D312F7535A6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B0C3676B-BBEF-AEDA-4352-DD69D2A1A81C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DEF5A0-BFAC-0EE5-D4F9-21F5A09C0DAC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3556B-B2E4-4DF2-7AE2-87B92C1BC2C3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4.1: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Integrating Nuclear EOM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EC208747-566A-19F9-F6EC-44C39D69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A6A316DC-3FAC-E396-89D1-F730B222E864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B6555103-72ED-C32F-9EC5-B9A4087AD190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FCBBAD49-6A86-AD42-D587-229718ABD87B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6D64F09F-41C7-7673-9701-CE76085D0194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70B4F69A-F4FC-BEAB-CD78-5940008184E7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BD32352F-CFF9-2F68-E6EE-2AA2A7CDA5FD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6654D-630B-3A84-9756-F5E2E69EAA3E}"/>
              </a:ext>
            </a:extLst>
          </p:cNvPr>
          <p:cNvSpPr/>
          <p:nvPr/>
        </p:nvSpPr>
        <p:spPr>
          <a:xfrm>
            <a:off x="6912241" y="987585"/>
            <a:ext cx="2062426" cy="613664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AEA78D-9C20-37EC-5A50-EA5AD8940E6B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33823310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2D3CBE-6064-F86A-C92E-42C5C0A3E6E5}"/>
              </a:ext>
            </a:extLst>
          </p:cNvPr>
          <p:cNvSpPr txBox="1"/>
          <p:nvPr/>
        </p:nvSpPr>
        <p:spPr>
          <a:xfrm>
            <a:off x="226566" y="746233"/>
            <a:ext cx="28819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force_method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rep_force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3807B-8347-27C7-4616-56ECCDD5B276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Options for the Dynamics: Forces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4FF4BD-FFBF-BFF6-CA48-0E80B7EA1728}"/>
                  </a:ext>
                </a:extLst>
              </p:cNvPr>
              <p:cNvSpPr txBox="1"/>
              <p:nvPr/>
            </p:nvSpPr>
            <p:spPr>
              <a:xfrm>
                <a:off x="2076096" y="1301428"/>
                <a:ext cx="8457252" cy="1892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to compute nuclear forces:</a:t>
                </a:r>
              </a:p>
              <a:p>
                <a:r>
                  <a:rPr lang="en-US" dirty="0"/>
                  <a:t>0 – don’t compute it – typical for the NBRA workflows</a:t>
                </a:r>
              </a:p>
              <a:p>
                <a:r>
                  <a:rPr lang="en-US" dirty="0"/>
                  <a:t>[1 – state-specific forces]: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𝒂𝒅𝒊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for the active adiabatic state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r>
                  <a:rPr lang="en-US" dirty="0"/>
                  <a:t>2 – </a:t>
                </a:r>
                <a:r>
                  <a:rPr lang="en-US" dirty="0" err="1"/>
                  <a:t>Ehrenfest</a:t>
                </a:r>
                <a:r>
                  <a:rPr lang="en-US" dirty="0"/>
                  <a:t> forces (mean-field = MF)</a:t>
                </a:r>
              </a:p>
              <a:p>
                <a:r>
                  <a:rPr lang="en-US" dirty="0"/>
                  <a:t>3 – QTSH forces – the off-diagonal contributions of the Ehrenfest force</a:t>
                </a:r>
              </a:p>
              <a:p>
                <a:r>
                  <a:rPr lang="en-US" dirty="0"/>
                  <a:t>4 - KC-RPMD force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4FF4BD-FFBF-BFF6-CA48-0E80B7EA1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096" y="1301428"/>
                <a:ext cx="8457252" cy="1892698"/>
              </a:xfrm>
              <a:prstGeom prst="rect">
                <a:avLst/>
              </a:prstGeom>
              <a:blipFill>
                <a:blip r:embed="rId2"/>
                <a:stretch>
                  <a:fillRect l="-649" t="-1608" b="-4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7E8A3C7-004A-BAF3-8770-EEF239BFF804}"/>
              </a:ext>
            </a:extLst>
          </p:cNvPr>
          <p:cNvSpPr txBox="1"/>
          <p:nvPr/>
        </p:nvSpPr>
        <p:spPr>
          <a:xfrm>
            <a:off x="2076096" y="3734807"/>
            <a:ext cx="668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– using only diabatic properties;        [1 – using adiabatic properties]</a:t>
            </a:r>
          </a:p>
        </p:txBody>
      </p:sp>
      <p:pic>
        <p:nvPicPr>
          <p:cNvPr id="20" name="Picture 7" descr="Image result for ub logo">
            <a:extLst>
              <a:ext uri="{FF2B5EF4-FFF2-40B4-BE49-F238E27FC236}">
                <a16:creationId xmlns:a16="http://schemas.microsoft.com/office/drawing/2014/main" id="{C9188644-C896-E3EA-BDE5-7224C1DF1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3A7B2-04BB-31C3-2BEE-9D7BD3B243F8}"/>
                  </a:ext>
                </a:extLst>
              </p:cNvPr>
              <p:cNvSpPr txBox="1"/>
              <p:nvPr/>
            </p:nvSpPr>
            <p:spPr>
              <a:xfrm>
                <a:off x="3589790" y="4000382"/>
                <a:ext cx="8088655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𝑀𝐹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≡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MF</m:t>
                          </m:r>
                        </m:sup>
                      </m:sSubSup>
                      <m:r>
                        <a:rPr 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𝐻𝐹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p>
                      </m:sSubSup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  <m:sup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  <m:sup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𝐻𝐹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53A7B2-04BB-31C3-2BEE-9D7BD3B24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790" y="4000382"/>
                <a:ext cx="8088655" cy="6790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F91446-42C9-7944-25B6-D6CA12AD1875}"/>
                  </a:ext>
                </a:extLst>
              </p:cNvPr>
              <p:cNvSpPr txBox="1"/>
              <p:nvPr/>
            </p:nvSpPr>
            <p:spPr>
              <a:xfrm>
                <a:off x="4577102" y="5719094"/>
                <a:ext cx="7384026" cy="411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</m:d>
                      <m:r>
                        <a:rPr lang="en-US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F91446-42C9-7944-25B6-D6CA12AD1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102" y="5719094"/>
                <a:ext cx="7384026" cy="411203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29777F-2EB5-2978-1623-B650DCCA1AE9}"/>
                  </a:ext>
                </a:extLst>
              </p:cNvPr>
              <p:cNvSpPr/>
              <p:nvPr/>
            </p:nvSpPr>
            <p:spPr>
              <a:xfrm>
                <a:off x="4690067" y="5151721"/>
                <a:ext cx="7647264" cy="411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p>
                      </m:sSubSup>
                      <m:r>
                        <a:rPr 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𝑑𝑖𝑎</m:t>
                              </m:r>
                              <m:r>
                                <a:rPr 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29777F-2EB5-2978-1623-B650DCCA1A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067" y="5151721"/>
                <a:ext cx="7647264" cy="411203"/>
              </a:xfrm>
              <a:prstGeom prst="rect">
                <a:avLst/>
              </a:prstGeom>
              <a:blipFill>
                <a:blip r:embed="rId6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BAB07E7-6BE1-9535-2B80-4F3C1536D086}"/>
              </a:ext>
            </a:extLst>
          </p:cNvPr>
          <p:cNvSpPr/>
          <p:nvPr/>
        </p:nvSpPr>
        <p:spPr>
          <a:xfrm>
            <a:off x="386237" y="4679414"/>
            <a:ext cx="307545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nHamiltonian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00FF"/>
                </a:solidFill>
              </a:rPr>
              <a:t>Ehrenfest_forces_dia</a:t>
            </a:r>
            <a:endParaRPr lang="en-US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Ehrenfest_forces_adi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00FF"/>
                </a:solidFill>
              </a:rPr>
              <a:t>Ehrenfest_forces_tens_dia</a:t>
            </a:r>
            <a:endParaRPr lang="en-US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Ehrenfest_forces_tens_adi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B42DAB-78FA-A5F4-CEFC-2EA324295D16}"/>
              </a:ext>
            </a:extLst>
          </p:cNvPr>
          <p:cNvCxnSpPr>
            <a:cxnSpLocks/>
          </p:cNvCxnSpPr>
          <p:nvPr/>
        </p:nvCxnSpPr>
        <p:spPr>
          <a:xfrm flipV="1">
            <a:off x="2884824" y="4669289"/>
            <a:ext cx="2720542" cy="46107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F498D8-B30E-B552-A7FC-070B01B4179F}"/>
              </a:ext>
            </a:extLst>
          </p:cNvPr>
          <p:cNvCxnSpPr>
            <a:cxnSpLocks/>
          </p:cNvCxnSpPr>
          <p:nvPr/>
        </p:nvCxnSpPr>
        <p:spPr>
          <a:xfrm flipV="1">
            <a:off x="2941618" y="4679414"/>
            <a:ext cx="5327497" cy="70089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49415-5FD6-001B-62EB-FD841565F476}"/>
              </a:ext>
            </a:extLst>
          </p:cNvPr>
          <p:cNvCxnSpPr>
            <a:cxnSpLocks/>
          </p:cNvCxnSpPr>
          <p:nvPr/>
        </p:nvCxnSpPr>
        <p:spPr>
          <a:xfrm flipV="1">
            <a:off x="3383655" y="5445193"/>
            <a:ext cx="1483499" cy="18566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1EF214-C32E-D3B7-3A66-60208E146D37}"/>
              </a:ext>
            </a:extLst>
          </p:cNvPr>
          <p:cNvCxnSpPr>
            <a:cxnSpLocks/>
          </p:cNvCxnSpPr>
          <p:nvPr/>
        </p:nvCxnSpPr>
        <p:spPr>
          <a:xfrm>
            <a:off x="3351088" y="5963922"/>
            <a:ext cx="12828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50E8E-84D7-9647-51D4-913183D35D65}"/>
                  </a:ext>
                </a:extLst>
              </p:cNvPr>
              <p:cNvSpPr txBox="1"/>
              <p:nvPr/>
            </p:nvSpPr>
            <p:spPr>
              <a:xfrm>
                <a:off x="8706833" y="2434185"/>
                <a:ext cx="3594001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𝑄𝑇𝑆𝐻</m:t>
                          </m:r>
                        </m:sup>
                      </m:sSubSup>
                      <m:r>
                        <a:rPr lang="en-US" i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  <m:sup>
                              <m:r>
                                <a:rPr lang="en-US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  <m:sup>
                          <m:r>
                            <a:rPr lang="en-US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𝑄𝑇𝑆𝐻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50E8E-84D7-9647-51D4-913183D3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833" y="2434185"/>
                <a:ext cx="3594001" cy="6790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49C7D3B-D04C-70AC-B33E-838DA331754B}"/>
                  </a:ext>
                </a:extLst>
              </p:cNvPr>
              <p:cNvSpPr txBox="1"/>
              <p:nvPr/>
            </p:nvSpPr>
            <p:spPr>
              <a:xfrm>
                <a:off x="4690067" y="6367674"/>
                <a:ext cx="6174595" cy="444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i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𝑄𝑇𝑆𝐻</m:t>
                          </m:r>
                        </m:sup>
                      </m:sSubSup>
                      <m:r>
                        <a:rPr lang="en-US" i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</m:d>
                      <m:r>
                        <a:rPr lang="en-US" b="0" i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008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49C7D3B-D04C-70AC-B33E-838DA3317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067" y="6367674"/>
                <a:ext cx="6174595" cy="444865"/>
              </a:xfrm>
              <a:prstGeom prst="rect">
                <a:avLst/>
              </a:prstGeom>
              <a:blipFill>
                <a:blip r:embed="rId8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34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B5524-EBF4-75B7-DDEF-B68100DF0482}"/>
              </a:ext>
            </a:extLst>
          </p:cNvPr>
          <p:cNvSpPr txBox="1"/>
          <p:nvPr/>
        </p:nvSpPr>
        <p:spPr>
          <a:xfrm>
            <a:off x="608836" y="3849256"/>
            <a:ext cx="28376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enforce_state_following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enforced_state_index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650510" y="4179734"/>
            <a:ext cx="7543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Whether we want to enforce nuclear dynamics to be on a given state, regardless of the TSH transitions:  [0 – no]; 1 – yes (the dynamics is governed by the given PES, but the hopping may still be happening).  The option 1 can be used for NBRA for the excited-state surfaces.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10" y="5695915"/>
            <a:ext cx="80952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we enforce the nuclear dynamics to be on a given state, what is the index of that state [any integer &gt; 0, default = 0 ]</a:t>
            </a:r>
          </a:p>
          <a:p>
            <a:r>
              <a:rPr lang="en-US" dirty="0"/>
              <a:t>The default value of 0 enforces the nuclear dynamics to be on the ground state. </a:t>
            </a:r>
          </a:p>
        </p:txBody>
      </p:sp>
      <p:pic>
        <p:nvPicPr>
          <p:cNvPr id="15" name="Picture 7" descr="Image result for ub logo">
            <a:extLst>
              <a:ext uri="{FF2B5EF4-FFF2-40B4-BE49-F238E27FC236}">
                <a16:creationId xmlns:a16="http://schemas.microsoft.com/office/drawing/2014/main" id="{71477016-E0B8-00DD-A8EB-05A4C355E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D82D9E-5C27-E02F-06C2-9BCFB64A2DF6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Options for the Dynamics: Forces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FD4225-C540-32C4-CE32-4318AA90C47B}"/>
                  </a:ext>
                </a:extLst>
              </p:cNvPr>
              <p:cNvSpPr txBox="1"/>
              <p:nvPr/>
            </p:nvSpPr>
            <p:spPr>
              <a:xfrm>
                <a:off x="3446502" y="1825743"/>
                <a:ext cx="7384026" cy="411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</m:d>
                      <m:r>
                        <a:rPr lang="en-US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  <m: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FD4225-C540-32C4-CE32-4318AA90C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02" y="1825743"/>
                <a:ext cx="7384026" cy="411203"/>
              </a:xfrm>
              <a:prstGeom prst="rect">
                <a:avLst/>
              </a:prstGeom>
              <a:blipFill>
                <a:blip r:embed="rId3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8987643-D03C-8453-6B17-C67E21D3D473}"/>
              </a:ext>
            </a:extLst>
          </p:cNvPr>
          <p:cNvSpPr txBox="1"/>
          <p:nvPr/>
        </p:nvSpPr>
        <p:spPr>
          <a:xfrm>
            <a:off x="863600" y="792163"/>
            <a:ext cx="105915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on the </a:t>
            </a:r>
            <a:r>
              <a:rPr lang="en-US" dirty="0" err="1"/>
              <a:t>Ehrenfest</a:t>
            </a:r>
            <a:r>
              <a:rPr lang="en-US" dirty="0"/>
              <a:t> force calculations: </a:t>
            </a:r>
          </a:p>
          <a:p>
            <a:endParaRPr lang="en-US" dirty="0"/>
          </a:p>
          <a:p>
            <a:r>
              <a:rPr lang="en-US" dirty="0"/>
              <a:t>In the normal approach, when we rely on the TD-SE integrator that uses NACs, the force tensor is computed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FA63DC-9159-BEBE-4EE7-829C718E677B}"/>
                  </a:ext>
                </a:extLst>
              </p:cNvPr>
              <p:cNvSpPr txBox="1"/>
              <p:nvPr/>
            </p:nvSpPr>
            <p:spPr>
              <a:xfrm>
                <a:off x="467360" y="2418680"/>
                <a:ext cx="11562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However, when the local diabatization integrators are used, the NACs vanish,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,  so the force tensor becomes just: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FA63DC-9159-BEBE-4EE7-829C718E6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2418680"/>
                <a:ext cx="11562080" cy="369332"/>
              </a:xfrm>
              <a:prstGeom prst="rect">
                <a:avLst/>
              </a:prstGeom>
              <a:blipFill>
                <a:blip r:embed="rId4"/>
                <a:stretch>
                  <a:fillRect l="-47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038B9F-D723-373D-0194-415DD7050DDA}"/>
                  </a:ext>
                </a:extLst>
              </p:cNvPr>
              <p:cNvSpPr txBox="1"/>
              <p:nvPr/>
            </p:nvSpPr>
            <p:spPr>
              <a:xfrm>
                <a:off x="3446502" y="2867068"/>
                <a:ext cx="7384026" cy="432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𝐿𝐷</m:t>
                          </m:r>
                        </m:sup>
                      </m:sSubSup>
                      <m:r>
                        <a:rPr 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038B9F-D723-373D-0194-415DD7050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02" y="2867068"/>
                <a:ext cx="7384026" cy="432170"/>
              </a:xfrm>
              <a:prstGeom prst="rect">
                <a:avLst/>
              </a:prstGeom>
              <a:blipFill>
                <a:blip r:embed="rId5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38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F5789-E08B-EDC1-4252-366049DD3BAC}"/>
              </a:ext>
            </a:extLst>
          </p:cNvPr>
          <p:cNvSpPr txBox="1"/>
          <p:nvPr/>
        </p:nvSpPr>
        <p:spPr>
          <a:xfrm>
            <a:off x="372826" y="1318230"/>
            <a:ext cx="1353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use_qtsh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D7C76CA6-EFA5-DDB5-69DC-AE4CC435C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D27597-3A9A-F1C4-2595-1BB20615DF13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QTSH Forces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65ADE8-9741-BA2C-10E1-6C6EE8BCA1CC}"/>
                  </a:ext>
                </a:extLst>
              </p:cNvPr>
              <p:cNvSpPr txBox="1"/>
              <p:nvPr/>
            </p:nvSpPr>
            <p:spPr>
              <a:xfrm>
                <a:off x="387680" y="1839195"/>
                <a:ext cx="3924344" cy="657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[0 – don’t use non-classical force,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𝑛𝑐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]</a:t>
                </a:r>
              </a:p>
              <a:p>
                <a:r>
                  <a:rPr lang="en-US" dirty="0"/>
                  <a:t>1 - use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65ADE8-9741-BA2C-10E1-6C6EE8BCA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80" y="1839195"/>
                <a:ext cx="3924344" cy="657809"/>
              </a:xfrm>
              <a:prstGeom prst="rect">
                <a:avLst/>
              </a:prstGeom>
              <a:blipFill>
                <a:blip r:embed="rId3"/>
                <a:stretch>
                  <a:fillRect l="-1400" t="-3704" r="-467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BDD06D6-587F-FABF-B439-3BC3E85BA5C1}"/>
              </a:ext>
            </a:extLst>
          </p:cNvPr>
          <p:cNvSpPr txBox="1"/>
          <p:nvPr/>
        </p:nvSpPr>
        <p:spPr>
          <a:xfrm>
            <a:off x="309937" y="3119515"/>
            <a:ext cx="2201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qtsh_force_option</a:t>
            </a:r>
            <a:endParaRPr lang="en-US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E4A368-F9A7-E647-178B-64604FA87EAA}"/>
                  </a:ext>
                </a:extLst>
              </p:cNvPr>
              <p:cNvSpPr txBox="1"/>
              <p:nvPr/>
            </p:nvSpPr>
            <p:spPr>
              <a:xfrm>
                <a:off x="2609015" y="3073238"/>
                <a:ext cx="7992533" cy="1223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Nonclassical force options in the adiabatic QTSH. Only used with `</a:t>
                </a:r>
                <a:r>
                  <a:rPr lang="en-US" dirty="0" err="1"/>
                  <a:t>use_qtsh</a:t>
                </a:r>
                <a:r>
                  <a:rPr lang="en-US" dirty="0"/>
                  <a:t> == 1`</a:t>
                </a:r>
              </a:p>
              <a:p>
                <a:r>
                  <a:rPr lang="en-US" dirty="0"/>
                  <a:t>Options:</a:t>
                </a:r>
              </a:p>
              <a:p>
                <a:r>
                  <a:rPr lang="en-US" dirty="0"/>
                  <a:t>      - 0: Considering only the first-order force, i.e., off-diagonal Ehrenfest force,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      - 1: The whole force including the second-order term is used [default],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E4A368-F9A7-E647-178B-64604FA87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015" y="3073238"/>
                <a:ext cx="7992533" cy="1223284"/>
              </a:xfrm>
              <a:prstGeom prst="rect">
                <a:avLst/>
              </a:prstGeom>
              <a:blipFill>
                <a:blip r:embed="rId4"/>
                <a:stretch>
                  <a:fillRect l="-686" t="-2488" b="-6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C6A46-BA1E-90C3-0745-186397865F0F}"/>
                  </a:ext>
                </a:extLst>
              </p:cNvPr>
              <p:cNvSpPr txBox="1"/>
              <p:nvPr/>
            </p:nvSpPr>
            <p:spPr>
              <a:xfrm>
                <a:off x="7505989" y="2038248"/>
                <a:ext cx="4198357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b="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C6A46-BA1E-90C3-0745-186397865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989" y="2038248"/>
                <a:ext cx="4198357" cy="3779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E739EB-CC52-528E-F7C9-F037E32F1B52}"/>
                  </a:ext>
                </a:extLst>
              </p:cNvPr>
              <p:cNvSpPr txBox="1"/>
              <p:nvPr/>
            </p:nvSpPr>
            <p:spPr>
              <a:xfrm>
                <a:off x="4615239" y="2042378"/>
                <a:ext cx="2281271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</m:ac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𝑛𝑐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E739EB-CC52-528E-F7C9-F037E32F1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239" y="2042378"/>
                <a:ext cx="2281271" cy="38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052E19-1F28-6541-5DD4-682BEDBA507B}"/>
                  </a:ext>
                </a:extLst>
              </p:cNvPr>
              <p:cNvSpPr txBox="1"/>
              <p:nvPr/>
            </p:nvSpPr>
            <p:spPr>
              <a:xfrm>
                <a:off x="4139513" y="4451963"/>
                <a:ext cx="2810991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𝑛𝑐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052E19-1F28-6541-5DD4-682BEDBA5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513" y="4451963"/>
                <a:ext cx="2810991" cy="3808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3756BF-1F70-CD46-3507-2BCCA220C76F}"/>
                  </a:ext>
                </a:extLst>
              </p:cNvPr>
              <p:cNvSpPr txBox="1"/>
              <p:nvPr/>
            </p:nvSpPr>
            <p:spPr>
              <a:xfrm>
                <a:off x="0" y="5222490"/>
                <a:ext cx="3454224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𝑗𝑗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3756BF-1F70-CD46-3507-2BCCA220C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22490"/>
                <a:ext cx="3454224" cy="7958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8D0D2F-EAD3-6318-14BF-B4EC416422CA}"/>
                  </a:ext>
                </a:extLst>
              </p:cNvPr>
              <p:cNvSpPr txBox="1"/>
              <p:nvPr/>
            </p:nvSpPr>
            <p:spPr>
              <a:xfrm>
                <a:off x="3710530" y="5169141"/>
                <a:ext cx="4600511" cy="902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=−2ℏ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𝑘𝑗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𝑘𝑗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8D0D2F-EAD3-6318-14BF-B4EC41642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530" y="5169141"/>
                <a:ext cx="4600511" cy="9025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6F5296-C624-5291-3ECB-760EB9CD3E3E}"/>
                  </a:ext>
                </a:extLst>
              </p:cNvPr>
              <p:cNvSpPr txBox="1"/>
              <p:nvPr/>
            </p:nvSpPr>
            <p:spPr>
              <a:xfrm>
                <a:off x="8569913" y="5277844"/>
                <a:ext cx="3048525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</m:ctrlPr>
                        </m:sSupPr>
                        <m:e>
                          <m:r>
                            <a:rPr lang="en-US" sz="1800" b="1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=2ℏ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</m:ctrlPr>
                        </m:naryPr>
                        <m:sub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</m:ctrlPr>
                            </m:sSubPr>
                            <m:e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 ker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800" b="1" i="1" ker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sub>
                              </m:sSub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b="1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</m:ctrlPr>
                            </m:sSubPr>
                            <m:e>
                              <m:r>
                                <a:rPr lang="en-US" sz="1800" b="1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1800" i="1" ker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6F5296-C624-5291-3ECB-760EB9CD3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913" y="5277844"/>
                <a:ext cx="3048525" cy="7958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A5BF36-1F83-DD6A-7D70-2292EBA664D7}"/>
                  </a:ext>
                </a:extLst>
              </p:cNvPr>
              <p:cNvSpPr txBox="1"/>
              <p:nvPr/>
            </p:nvSpPr>
            <p:spPr>
              <a:xfrm>
                <a:off x="5152064" y="2581670"/>
                <a:ext cx="18844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A5BF36-1F83-DD6A-7D70-2292EBA6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064" y="2581670"/>
                <a:ext cx="188447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9AE3E7AA-A17C-013A-33AE-8FFBE3BA810E}"/>
              </a:ext>
            </a:extLst>
          </p:cNvPr>
          <p:cNvSpPr/>
          <p:nvPr/>
        </p:nvSpPr>
        <p:spPr>
          <a:xfrm rot="16200000">
            <a:off x="6927105" y="1895975"/>
            <a:ext cx="365760" cy="67476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15B82-110A-890D-A025-5A03E3358F38}"/>
                  </a:ext>
                </a:extLst>
              </p:cNvPr>
              <p:cNvSpPr txBox="1"/>
              <p:nvPr/>
            </p:nvSpPr>
            <p:spPr>
              <a:xfrm>
                <a:off x="609070" y="636230"/>
                <a:ext cx="3895660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𝑴</m:t>
                      </m:r>
                      <m:acc>
                        <m:accPr>
                          <m:chr m:val="̇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−2ℏ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15B82-110A-890D-A025-5A03E335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70" y="636230"/>
                <a:ext cx="3895660" cy="6357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E93E5-9ED8-BDA5-C5AD-4AA8B1D20BB6}"/>
                  </a:ext>
                </a:extLst>
              </p:cNvPr>
              <p:cNvSpPr txBox="1"/>
              <p:nvPr/>
            </p:nvSpPr>
            <p:spPr>
              <a:xfrm>
                <a:off x="5082015" y="1372508"/>
                <a:ext cx="20279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  -  QTSH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B6E93E5-9ED8-BDA5-C5AD-4AA8B1D20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015" y="1372508"/>
                <a:ext cx="2027970" cy="369332"/>
              </a:xfrm>
              <a:prstGeom prst="rect">
                <a:avLst/>
              </a:prstGeom>
              <a:blipFill>
                <a:blip r:embed="rId13"/>
                <a:stretch>
                  <a:fillRect t="-8197" r="-18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6D9D86-3C73-7995-88C7-A6CC3C297B13}"/>
                  </a:ext>
                </a:extLst>
              </p:cNvPr>
              <p:cNvSpPr txBox="1"/>
              <p:nvPr/>
            </p:nvSpPr>
            <p:spPr>
              <a:xfrm>
                <a:off x="4754518" y="750238"/>
                <a:ext cx="5144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 – kinematic momentum;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– canonical momentum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6D9D86-3C73-7995-88C7-A6CC3C297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518" y="750238"/>
                <a:ext cx="5144229" cy="369332"/>
              </a:xfrm>
              <a:prstGeom prst="rect">
                <a:avLst/>
              </a:prstGeom>
              <a:blipFill>
                <a:blip r:embed="rId14"/>
                <a:stretch>
                  <a:fillRect t="-8197" r="-59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08FE6A-FC04-F7C7-9E54-0031DAF38E77}"/>
                  </a:ext>
                </a:extLst>
              </p:cNvPr>
              <p:cNvSpPr txBox="1"/>
              <p:nvPr/>
            </p:nvSpPr>
            <p:spPr>
              <a:xfrm>
                <a:off x="7555288" y="1378955"/>
                <a:ext cx="30462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0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/>
                  <a:t>  -  other methods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08FE6A-FC04-F7C7-9E54-0031DAF38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288" y="1378955"/>
                <a:ext cx="3046260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F7FCD192-95C1-DD57-54DB-D1E15A4BA733}"/>
              </a:ext>
            </a:extLst>
          </p:cNvPr>
          <p:cNvSpPr/>
          <p:nvPr/>
        </p:nvSpPr>
        <p:spPr>
          <a:xfrm>
            <a:off x="5923919" y="1915500"/>
            <a:ext cx="700401" cy="61366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B37DB7-D7FD-216B-2C01-16CA64EE90DA}"/>
              </a:ext>
            </a:extLst>
          </p:cNvPr>
          <p:cNvSpPr/>
          <p:nvPr/>
        </p:nvSpPr>
        <p:spPr>
          <a:xfrm>
            <a:off x="8995626" y="1925951"/>
            <a:ext cx="2031361" cy="61366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616A8C-7A47-EC51-6046-2CB16B576BB4}"/>
              </a:ext>
            </a:extLst>
          </p:cNvPr>
          <p:cNvSpPr/>
          <p:nvPr/>
        </p:nvSpPr>
        <p:spPr>
          <a:xfrm>
            <a:off x="5078624" y="1229864"/>
            <a:ext cx="2031361" cy="61366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737C4B-EBE9-CA75-2FF7-CEE612C1B625}"/>
              </a:ext>
            </a:extLst>
          </p:cNvPr>
          <p:cNvSpPr txBox="1"/>
          <p:nvPr/>
        </p:nvSpPr>
        <p:spPr>
          <a:xfrm>
            <a:off x="8705467" y="6097779"/>
            <a:ext cx="3395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(not computed explicitly, but replaced by decoherence option)</a:t>
            </a:r>
          </a:p>
        </p:txBody>
      </p:sp>
    </p:spTree>
    <p:extLst>
      <p:ext uri="{BB962C8B-B14F-4D97-AF65-F5344CB8AC3E}">
        <p14:creationId xmlns:p14="http://schemas.microsoft.com/office/powerpoint/2010/main" val="350633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D560-76EE-EAB3-DC48-F8714161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B300DE-0E49-A679-C637-DE63AE627B86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40B0FF68-21C6-C2D8-7DA4-3A7345823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BA859896-173F-C065-2308-3C50687E0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DD259DD8-DE27-634D-A027-DA1FD3A62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B7085D84-0709-79F0-265B-C4CFCDB95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12887FF8-4AB3-746E-429F-BEF731C1C24A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8D628C-8766-BAE6-0B9A-90E1E2270484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B15A08-1CC6-B947-4142-A109A560C4F6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766F7-633E-5832-CA4C-8D0876A06926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D8544-6CA3-4D07-BC1E-25943EA8C307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9ECEAEF-5778-833B-3176-8883DD945842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39C57FEB-5301-46AB-9BE8-EF74A56B1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AB5231-42EB-FE1B-7E18-07B4A788F2A9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571F2669-612D-E691-2511-39054FA850EE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C3F5F8B9-EC7B-D519-4926-3252C068DAD3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939AA39-C55D-0EF7-BA66-DC9A716110DF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FA1CD6F1-35CD-CDF1-1074-E7DBB908E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D50F8F49-D1D0-1BE2-EE82-46FFF416E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DA4A1-4ED5-0473-00DD-C83D4F608D12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A52B3A-FA6A-1994-EEBF-F533503E4FF3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7960494-E24B-845B-1346-D9EFC30B4090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497214-D2B4-4A0C-58C6-490E2741D688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199CBE0-3A9A-0C8C-3C66-DDE3C4DBD240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4CE62B1B-3651-D144-55C5-3826C90B8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347C8A-389F-107F-C0D8-AF6867EBB102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991685C8-5C23-AEF1-D270-02AEB376CBA6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33672E7F-9D61-3269-237E-0AF81AF5951B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39C59C56-EA3E-133D-A085-A5B70A662BEF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E95130C3-79D1-0AFE-8879-A86FBCC96109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DFAA353-63F2-8297-C19C-A7225352E2EC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9A633B34-459C-5189-DA70-14A043262C30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90C215-74F9-814E-D942-17389AFB58A1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4135D-F777-2438-9E52-0C6E09A1DFE3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4.2: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Electronic Hamiltonian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81347A23-8EA6-F20B-BC9D-6190ECD03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6305B30E-5EF8-8BA2-E5E6-0FB6F444AE62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563F19D5-9960-760D-BAD0-8D1A2D7979D4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32FED716-3432-905F-B23C-404467DE4689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D06C79B6-F692-2116-689C-0D6616779438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0CBCE3A7-4D30-4A82-4382-7EFC21B3525B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B33992A4-CF55-7B47-3EC2-15FC576D5003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BD9EE-E505-9B71-C64B-9C61AB8DC4C1}"/>
              </a:ext>
            </a:extLst>
          </p:cNvPr>
          <p:cNvSpPr/>
          <p:nvPr/>
        </p:nvSpPr>
        <p:spPr>
          <a:xfrm>
            <a:off x="6912241" y="1793608"/>
            <a:ext cx="2062426" cy="613664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F2BB19-2A75-872E-95EA-602D09095DC3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4165608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4FAB99-E364-EFF8-D136-A7FEDA8B2399}"/>
              </a:ext>
            </a:extLst>
          </p:cNvPr>
          <p:cNvSpPr txBox="1"/>
          <p:nvPr/>
        </p:nvSpPr>
        <p:spPr>
          <a:xfrm>
            <a:off x="252262" y="792163"/>
            <a:ext cx="28819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ham_update_method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ham_transform_method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A432EE-3792-199E-E8B8-F379E0054B7B}"/>
                  </a:ext>
                </a:extLst>
              </p:cNvPr>
              <p:cNvSpPr txBox="1"/>
              <p:nvPr/>
            </p:nvSpPr>
            <p:spPr>
              <a:xfrm>
                <a:off x="2966257" y="1242775"/>
                <a:ext cx="897348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how to update Ham: </a:t>
                </a:r>
              </a:p>
              <a:p>
                <a:r>
                  <a:rPr lang="en-US" dirty="0"/>
                  <a:t>- 0 – don’t;              </a:t>
                </a:r>
              </a:p>
              <a:p>
                <a:r>
                  <a:rPr lang="en-US" dirty="0"/>
                  <a:t>- [1 –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;  - calls an external Python function that computes this matrix; </a:t>
                </a:r>
              </a:p>
              <a:p>
                <a:r>
                  <a:rPr lang="en-US" dirty="0"/>
                  <a:t>                                       common choice for model Hamiltonians (</a:t>
                </a:r>
                <a:r>
                  <a:rPr lang="en-US" b="1" dirty="0">
                    <a:solidFill>
                      <a:srgbClr val="FF0000"/>
                    </a:solidFill>
                  </a:rPr>
                  <a:t>common for model problems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- 2 –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dirty="0"/>
                  <a:t> - the Python function directly gives this matrix, we may not have the</a:t>
                </a:r>
              </a:p>
              <a:p>
                <a:r>
                  <a:rPr lang="en-US" dirty="0"/>
                  <a:t>                                  diabatic properties in this case; suitable for the atomistic on-the-fly</a:t>
                </a:r>
              </a:p>
              <a:p>
                <a:r>
                  <a:rPr lang="en-US" dirty="0"/>
                  <a:t>                                  NA-MD calculations or NBRA NA-MD calculations (</a:t>
                </a:r>
                <a:r>
                  <a:rPr lang="en-US" b="1" dirty="0">
                    <a:solidFill>
                      <a:srgbClr val="008000"/>
                    </a:solidFill>
                  </a:rPr>
                  <a:t>for NBRA or on-the-fly</a:t>
                </a:r>
              </a:p>
              <a:p>
                <a:r>
                  <a:rPr lang="en-US" b="1" dirty="0">
                    <a:solidFill>
                      <a:srgbClr val="008000"/>
                    </a:solidFill>
                  </a:rPr>
                  <a:t>                                  calculations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A432EE-3792-199E-E8B8-F379E0054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257" y="1242775"/>
                <a:ext cx="8973482" cy="2308324"/>
              </a:xfrm>
              <a:prstGeom prst="rect">
                <a:avLst/>
              </a:prstGeom>
              <a:blipFill>
                <a:blip r:embed="rId2"/>
                <a:stretch>
                  <a:fillRect l="-611" t="-158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AF68C-25D0-886F-9B2E-55BE781D7973}"/>
                  </a:ext>
                </a:extLst>
              </p:cNvPr>
              <p:cNvSpPr txBox="1"/>
              <p:nvPr/>
            </p:nvSpPr>
            <p:spPr>
              <a:xfrm>
                <a:off x="3199521" y="4059806"/>
                <a:ext cx="8674875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to update Ham via transformation : </a:t>
                </a:r>
              </a:p>
              <a:p>
                <a:r>
                  <a:rPr lang="en-US" dirty="0"/>
                  <a:t>0 – don’t, so one doesn’t override the adiabatic properties read from the files; typical</a:t>
                </a:r>
              </a:p>
              <a:p>
                <a:r>
                  <a:rPr lang="en-US" dirty="0"/>
                  <a:t>       for the atomistic workflows (e.g. with the </a:t>
                </a:r>
                <a:r>
                  <a:rPr lang="en-US" dirty="0" err="1"/>
                  <a:t>ham_update_method</a:t>
                </a:r>
                <a:r>
                  <a:rPr lang="en-US" dirty="0"/>
                  <a:t> == 2)</a:t>
                </a:r>
              </a:p>
              <a:p>
                <a:r>
                  <a:rPr lang="en-US" dirty="0"/>
                  <a:t>[1 –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/>
                  <a:t> by solving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</a:t>
                </a:r>
                <a:r>
                  <a:rPr lang="en-US" b="1" dirty="0">
                    <a:solidFill>
                      <a:srgbClr val="FF0000"/>
                    </a:solidFill>
                  </a:rPr>
                  <a:t>common for model problems</a:t>
                </a:r>
                <a:r>
                  <a:rPr lang="en-US" dirty="0"/>
                  <a:t>)</a:t>
                </a:r>
              </a:p>
              <a:p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2 –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by using a provided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𝑆𝑈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sSub>
                      <m:sSub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3 –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by using a provided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sSup>
                      <m:sSupPr>
                        <m:ctrlP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4 -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by using a local diabatization approach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AF68C-25D0-886F-9B2E-55BE781D7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521" y="4059806"/>
                <a:ext cx="8674875" cy="2031325"/>
              </a:xfrm>
              <a:prstGeom prst="rect">
                <a:avLst/>
              </a:prstGeom>
              <a:blipFill>
                <a:blip r:embed="rId3"/>
                <a:stretch>
                  <a:fillRect l="-632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7B97819-EEC5-9EDA-D8EC-CE3860846BFC}"/>
              </a:ext>
            </a:extLst>
          </p:cNvPr>
          <p:cNvSpPr txBox="1"/>
          <p:nvPr/>
        </p:nvSpPr>
        <p:spPr>
          <a:xfrm>
            <a:off x="889368" y="5387586"/>
            <a:ext cx="19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be implemented</a:t>
            </a:r>
          </a:p>
        </p:txBody>
      </p:sp>
      <p:pic>
        <p:nvPicPr>
          <p:cNvPr id="13" name="Picture 7" descr="Image result for ub logo">
            <a:extLst>
              <a:ext uri="{FF2B5EF4-FFF2-40B4-BE49-F238E27FC236}">
                <a16:creationId xmlns:a16="http://schemas.microsoft.com/office/drawing/2014/main" id="{9633CE47-46B5-80C6-27A9-13925B35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3AE0D6-C9C8-8E94-EE39-AF9A0C078068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Hamiltonian Options</a:t>
            </a:r>
          </a:p>
        </p:txBody>
      </p:sp>
    </p:spTree>
    <p:extLst>
      <p:ext uri="{BB962C8B-B14F-4D97-AF65-F5344CB8AC3E}">
        <p14:creationId xmlns:p14="http://schemas.microsoft.com/office/powerpoint/2010/main" val="1504236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524000" y="152400"/>
            <a:ext cx="762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70C0"/>
                </a:solidFill>
              </a:rPr>
              <a:t>Computing time-overlaps and NACs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AFEDB2-3214-05AD-1653-DC3C0A53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94" y="1784739"/>
            <a:ext cx="3860436" cy="237529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A993D22-061A-2EE3-2248-C78CE5C62ECF}"/>
              </a:ext>
            </a:extLst>
          </p:cNvPr>
          <p:cNvSpPr txBox="1"/>
          <p:nvPr/>
        </p:nvSpPr>
        <p:spPr>
          <a:xfrm>
            <a:off x="182895" y="924551"/>
            <a:ext cx="3058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Single-particle description of excited states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DC2618-6347-AA13-1636-F84CE907117A}"/>
              </a:ext>
            </a:extLst>
          </p:cNvPr>
          <p:cNvSpPr/>
          <p:nvPr/>
        </p:nvSpPr>
        <p:spPr>
          <a:xfrm>
            <a:off x="327363" y="6137035"/>
            <a:ext cx="37037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Akimov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A. V.;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Prezhdo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O. V.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JCTC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2013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4959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C69A5A-8E79-E6F2-749F-1A0A41E4DD04}"/>
              </a:ext>
            </a:extLst>
          </p:cNvPr>
          <p:cNvSpPr/>
          <p:nvPr/>
        </p:nvSpPr>
        <p:spPr>
          <a:xfrm>
            <a:off x="327363" y="5764090"/>
            <a:ext cx="37037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Silva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Oliboni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R.; et al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JPCC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27688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D7C85F-0E94-AA5F-1F86-E5E79F42B5E5}"/>
              </a:ext>
            </a:extLst>
          </p:cNvPr>
          <p:cNvSpPr/>
          <p:nvPr/>
        </p:nvSpPr>
        <p:spPr>
          <a:xfrm>
            <a:off x="327363" y="6444812"/>
            <a:ext cx="39954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Oberhofer, H.; Blumberger, J.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PCCP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2012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13846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6F1595-547D-FBBB-2D9D-E8466307E6F8}"/>
              </a:ext>
            </a:extLst>
          </p:cNvPr>
          <p:cNvSpPr txBox="1"/>
          <p:nvPr/>
        </p:nvSpPr>
        <p:spPr>
          <a:xfrm>
            <a:off x="4110151" y="4454999"/>
            <a:ext cx="374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Smith, B. A.;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M.; AVA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JCTC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17, 678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5CC940-6C0A-5074-0BB7-50F1FEC41D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91" t="23986" r="70486" b="53230"/>
          <a:stretch/>
        </p:blipFill>
        <p:spPr>
          <a:xfrm>
            <a:off x="4900974" y="5036437"/>
            <a:ext cx="1130233" cy="100465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8BA5447-6D3F-C283-8A47-3FE28DFEA747}"/>
              </a:ext>
            </a:extLst>
          </p:cNvPr>
          <p:cNvSpPr txBox="1"/>
          <p:nvPr/>
        </p:nvSpPr>
        <p:spPr>
          <a:xfrm>
            <a:off x="5425409" y="6477752"/>
            <a:ext cx="2200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Mohammad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FBEA16-C530-0B07-2A07-202E77B59E65}"/>
              </a:ext>
            </a:extLst>
          </p:cNvPr>
          <p:cNvSpPr txBox="1"/>
          <p:nvPr/>
        </p:nvSpPr>
        <p:spPr>
          <a:xfrm>
            <a:off x="4445769" y="6145199"/>
            <a:ext cx="1959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Brendan Smith</a:t>
            </a:r>
          </a:p>
        </p:txBody>
      </p:sp>
      <p:pic>
        <p:nvPicPr>
          <p:cNvPr id="33" name="Picture 4" descr="Mohammad Shakiba">
            <a:extLst>
              <a:ext uri="{FF2B5EF4-FFF2-40B4-BE49-F238E27FC236}">
                <a16:creationId xmlns:a16="http://schemas.microsoft.com/office/drawing/2014/main" id="{850497C9-959E-C394-48C1-C698C8C54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795" y="5248419"/>
            <a:ext cx="1069016" cy="107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9DEFDD-F4DB-ABAF-9C21-FB3ECE86ACC2}"/>
                  </a:ext>
                </a:extLst>
              </p:cNvPr>
              <p:cNvSpPr txBox="1"/>
              <p:nvPr/>
            </p:nvSpPr>
            <p:spPr>
              <a:xfrm>
                <a:off x="3941764" y="2033670"/>
                <a:ext cx="37427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99DEFDD-F4DB-ABAF-9C21-FB3ECE86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64" y="2033670"/>
                <a:ext cx="37427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81E582D0-0B41-6F45-07C0-EBACA4671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014" y="2433572"/>
            <a:ext cx="2733790" cy="205500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62B88B7-26FF-E7E1-FBE8-3B52EC169E20}"/>
              </a:ext>
            </a:extLst>
          </p:cNvPr>
          <p:cNvSpPr txBox="1"/>
          <p:nvPr/>
        </p:nvSpPr>
        <p:spPr>
          <a:xfrm>
            <a:off x="4101126" y="812539"/>
            <a:ext cx="309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Many-body description generally accelerates the dynamics </a:t>
            </a:r>
            <a:endParaRPr lang="en-US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542980-CB45-818D-EE6F-6267A7EE0957}"/>
              </a:ext>
            </a:extLst>
          </p:cNvPr>
          <p:cNvSpPr/>
          <p:nvPr/>
        </p:nvSpPr>
        <p:spPr>
          <a:xfrm>
            <a:off x="4110151" y="4726971"/>
            <a:ext cx="3735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Smith, B. A.;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M.; AVA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JPCL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12, 2444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4A990-5700-3D99-1EB4-185B756E7A14}"/>
              </a:ext>
            </a:extLst>
          </p:cNvPr>
          <p:cNvSpPr txBox="1"/>
          <p:nvPr/>
        </p:nvSpPr>
        <p:spPr>
          <a:xfrm>
            <a:off x="-32642" y="4523500"/>
            <a:ext cx="4291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Usually okay for lower excited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less symmetric systems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8B8B997-405E-C766-21D3-FB84131856B2}"/>
              </a:ext>
            </a:extLst>
          </p:cNvPr>
          <p:cNvSpPr/>
          <p:nvPr/>
        </p:nvSpPr>
        <p:spPr>
          <a:xfrm>
            <a:off x="3607623" y="1169979"/>
            <a:ext cx="41515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164E3C7-24E2-A6E7-BD2C-61F517382762}"/>
              </a:ext>
            </a:extLst>
          </p:cNvPr>
          <p:cNvSpPr/>
          <p:nvPr/>
        </p:nvSpPr>
        <p:spPr>
          <a:xfrm>
            <a:off x="7406640" y="1112113"/>
            <a:ext cx="41515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D2009C-50B8-AD94-0DC3-E3294F224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5004" y="1539311"/>
            <a:ext cx="3697005" cy="20214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1B097E-77A1-0259-CD7F-3480C1376897}"/>
              </a:ext>
            </a:extLst>
          </p:cNvPr>
          <p:cNvSpPr txBox="1"/>
          <p:nvPr/>
        </p:nvSpPr>
        <p:spPr>
          <a:xfrm>
            <a:off x="8139063" y="948742"/>
            <a:ext cx="3760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Spin-adapted configurations</a:t>
            </a:r>
            <a:endParaRPr lang="en-US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118F25-A845-EA72-4A21-4C68F6EA6A46}"/>
                  </a:ext>
                </a:extLst>
              </p:cNvPr>
              <p:cNvSpPr txBox="1"/>
              <p:nvPr/>
            </p:nvSpPr>
            <p:spPr>
              <a:xfrm>
                <a:off x="7933136" y="3524709"/>
                <a:ext cx="8524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118F25-A845-EA72-4A21-4C68F6EA6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136" y="3524709"/>
                <a:ext cx="85247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7E137D-66FA-43F5-92E4-D331188B6D9E}"/>
                  </a:ext>
                </a:extLst>
              </p:cNvPr>
              <p:cNvSpPr txBox="1"/>
              <p:nvPr/>
            </p:nvSpPr>
            <p:spPr>
              <a:xfrm>
                <a:off x="9182189" y="3344334"/>
                <a:ext cx="1674496" cy="537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7E137D-66FA-43F5-92E4-D331188B6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189" y="3344334"/>
                <a:ext cx="1674496" cy="537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E122A2F-A93A-14ED-3EB7-DF3CFC669079}"/>
                  </a:ext>
                </a:extLst>
              </p:cNvPr>
              <p:cNvSpPr txBox="1"/>
              <p:nvPr/>
            </p:nvSpPr>
            <p:spPr>
              <a:xfrm>
                <a:off x="9139298" y="3832486"/>
                <a:ext cx="1687000" cy="5373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E122A2F-A93A-14ED-3EB7-DF3CFC669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298" y="3832486"/>
                <a:ext cx="1687000" cy="5373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" name="Picture 41">
            <a:extLst>
              <a:ext uri="{FF2B5EF4-FFF2-40B4-BE49-F238E27FC236}">
                <a16:creationId xmlns:a16="http://schemas.microsoft.com/office/drawing/2014/main" id="{77CEF840-A66C-8879-5168-0E5409C3AE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1798" y="4167163"/>
            <a:ext cx="2834859" cy="192375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0FA3DD8-6276-E196-8977-2A3FEC6B64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4116" y="5365761"/>
            <a:ext cx="2225696" cy="123538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09646F5-A80E-19CE-3ED8-1D216FF58776}"/>
              </a:ext>
            </a:extLst>
          </p:cNvPr>
          <p:cNvSpPr txBox="1"/>
          <p:nvPr/>
        </p:nvSpPr>
        <p:spPr>
          <a:xfrm>
            <a:off x="10611036" y="5655740"/>
            <a:ext cx="1410843" cy="3693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79C35-CB62-25DD-A5A4-DE5C779AF383}"/>
              </a:ext>
            </a:extLst>
          </p:cNvPr>
          <p:cNvSpPr txBox="1"/>
          <p:nvPr/>
        </p:nvSpPr>
        <p:spPr>
          <a:xfrm>
            <a:off x="7684559" y="6583312"/>
            <a:ext cx="42152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Shakiba, M.; Stippel, E.; Li, W.; AVA </a:t>
            </a:r>
            <a:r>
              <a:rPr lang="de-DE" alt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JCTC</a:t>
            </a:r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2022, </a:t>
            </a:r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18, 5157</a:t>
            </a:r>
            <a:endParaRPr lang="en-US" altLang="en-US" sz="1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Picture 7" descr="Image result for ub logo">
            <a:extLst>
              <a:ext uri="{FF2B5EF4-FFF2-40B4-BE49-F238E27FC236}">
                <a16:creationId xmlns:a16="http://schemas.microsoft.com/office/drawing/2014/main" id="{FC2C4476-552E-25BA-08FE-CF9F85988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80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2">
            <a:extLst>
              <a:ext uri="{FF2B5EF4-FFF2-40B4-BE49-F238E27FC236}">
                <a16:creationId xmlns:a16="http://schemas.microsoft.com/office/drawing/2014/main" id="{C34A06F9-3558-0076-3BFC-F86687892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2400"/>
            <a:ext cx="762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70C0"/>
                </a:solidFill>
              </a:rPr>
              <a:t>New approach: CI tools</a:t>
            </a:r>
          </a:p>
        </p:txBody>
      </p:sp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18CF33D4-26CB-21E8-30EE-891CF2299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E3FE4E-93B9-DF4D-6850-BE46882DD995}"/>
              </a:ext>
            </a:extLst>
          </p:cNvPr>
          <p:cNvSpPr txBox="1"/>
          <p:nvPr/>
        </p:nvSpPr>
        <p:spPr>
          <a:xfrm>
            <a:off x="1772093" y="959830"/>
            <a:ext cx="8265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https://github.com/compchem-cybertraining/Tutorials_Libra/tree/master/15_citools</a:t>
            </a:r>
            <a:r>
              <a:rPr lang="en-US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80463A-E817-8E60-60A0-B8968AA6D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53" y="2004426"/>
            <a:ext cx="3702240" cy="1320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3FBB40-7A1A-7DD5-3269-DB2D8B4F7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57" y="3626831"/>
            <a:ext cx="1638384" cy="406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14B2B2-E8FA-BEFA-9887-C4FCAD9DE4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68" y="4216142"/>
            <a:ext cx="2921150" cy="6540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F07721-8FB0-224E-20EF-D502FEFC7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62" y="5093575"/>
            <a:ext cx="1339919" cy="4254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4FAE38-3CC2-94C3-5988-7EE0CB417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6260" y="1415875"/>
            <a:ext cx="3435527" cy="3683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18CEC0-E277-7303-15B8-0BAE69F5B1E4}"/>
              </a:ext>
            </a:extLst>
          </p:cNvPr>
          <p:cNvSpPr txBox="1"/>
          <p:nvPr/>
        </p:nvSpPr>
        <p:spPr>
          <a:xfrm>
            <a:off x="375444" y="1395094"/>
            <a:ext cx="201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Canonical ordering: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2747F7D-8AC3-AB3E-4C71-98098D29AA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5506" y="2004426"/>
            <a:ext cx="2651227" cy="11266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F04AFC9-DE9D-865C-27EF-7A1674A549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5506" y="3351310"/>
            <a:ext cx="4203474" cy="11266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E795501-17B6-AE75-B202-0D4FFCCE88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3270884"/>
            <a:ext cx="2990413" cy="132086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E8B2F8-B72F-0B69-F1A9-162F5422F9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6504" y="4636415"/>
            <a:ext cx="2160739" cy="46762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ECD8E85-881B-D3D5-DD5C-9F37B5C81E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7458" y="5376779"/>
            <a:ext cx="2734311" cy="12130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89B5890-7976-7BE1-E929-8279DE4FCBA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2448" y="4950372"/>
            <a:ext cx="2739388" cy="10118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983E80F-F72D-94AF-E3CB-6A2AF0832CE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4374" y="6079831"/>
            <a:ext cx="2267174" cy="53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8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1" descr="Image result for ub logo">
            <a:extLst>
              <a:ext uri="{FF2B5EF4-FFF2-40B4-BE49-F238E27FC236}">
                <a16:creationId xmlns:a16="http://schemas.microsoft.com/office/drawing/2014/main" id="{C1589F6E-3B7C-236A-71F7-2F08A6E9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2"/>
            <a:ext cx="1752600" cy="701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A0A0F4-53A8-8D3B-555E-A63DCD65E527}"/>
                  </a:ext>
                </a:extLst>
              </p:cNvPr>
              <p:cNvSpPr txBox="1"/>
              <p:nvPr/>
            </p:nvSpPr>
            <p:spPr>
              <a:xfrm>
                <a:off x="269648" y="1155832"/>
                <a:ext cx="2731166" cy="575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𝐾𝑆</m:t>
                          </m:r>
                        </m:sup>
                      </m:sSubSup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A0A0F4-53A8-8D3B-555E-A63DCD65E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48" y="1155832"/>
                <a:ext cx="2731166" cy="575350"/>
              </a:xfrm>
              <a:prstGeom prst="rect">
                <a:avLst/>
              </a:prstGeom>
              <a:blipFill>
                <a:blip r:embed="rId3"/>
                <a:stretch>
                  <a:fillRect t="-153191" r="-1786" b="-2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45E0A-2353-0454-0ABB-D4192DBEBC02}"/>
                  </a:ext>
                </a:extLst>
              </p:cNvPr>
              <p:cNvSpPr txBox="1"/>
              <p:nvPr/>
            </p:nvSpPr>
            <p:spPr>
              <a:xfrm>
                <a:off x="3013105" y="1108275"/>
                <a:ext cx="3082895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𝒌𝒕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45E0A-2353-0454-0ABB-D4192DBEB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105" y="1108275"/>
                <a:ext cx="3082895" cy="600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C29389-901A-05F3-C113-0D37D4BFCC2F}"/>
                  </a:ext>
                </a:extLst>
              </p:cNvPr>
              <p:cNvSpPr txBox="1"/>
              <p:nvPr/>
            </p:nvSpPr>
            <p:spPr>
              <a:xfrm>
                <a:off x="560278" y="1882600"/>
                <a:ext cx="5488537" cy="586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p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16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  <m:sup>
                                          <m:r>
                                            <a:rPr lang="en-US" sz="160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6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𝑆𝑡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𝑎𝑏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𝐴𝑂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C29389-901A-05F3-C113-0D37D4BFC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78" y="1882600"/>
                <a:ext cx="5488537" cy="5865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F64BBD-8BBD-A9B8-59B2-B5CCF11D6B28}"/>
                  </a:ext>
                </a:extLst>
              </p:cNvPr>
              <p:cNvSpPr txBox="1"/>
              <p:nvPr/>
            </p:nvSpPr>
            <p:spPr>
              <a:xfrm>
                <a:off x="1932924" y="2821029"/>
                <a:ext cx="4572000" cy="602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𝒌𝑹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F64BBD-8BBD-A9B8-59B2-B5CCF11D6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924" y="2821029"/>
                <a:ext cx="4572000" cy="6029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63F53C-1811-44BD-646E-8CF7969A75D7}"/>
                  </a:ext>
                </a:extLst>
              </p:cNvPr>
              <p:cNvSpPr txBox="1"/>
              <p:nvPr/>
            </p:nvSpPr>
            <p:spPr>
              <a:xfrm>
                <a:off x="2005063" y="3446378"/>
                <a:ext cx="4572000" cy="411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𝐴𝑂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63F53C-1811-44BD-646E-8CF7969A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063" y="3446378"/>
                <a:ext cx="4572000" cy="411266"/>
              </a:xfrm>
              <a:prstGeom prst="rect">
                <a:avLst/>
              </a:prstGeom>
              <a:blipFill>
                <a:blip r:embed="rId7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455D9EF-DDC1-708E-3C48-8C3BFB1AEFA6}"/>
              </a:ext>
            </a:extLst>
          </p:cNvPr>
          <p:cNvSpPr txBox="1"/>
          <p:nvPr/>
        </p:nvSpPr>
        <p:spPr>
          <a:xfrm>
            <a:off x="560278" y="287298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Same k-point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99AF0-F1A7-6487-FDE6-BB060E450AB2}"/>
              </a:ext>
            </a:extLst>
          </p:cNvPr>
          <p:cNvSpPr txBox="1"/>
          <p:nvPr/>
        </p:nvSpPr>
        <p:spPr>
          <a:xfrm>
            <a:off x="451273" y="3448747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Gamma k-point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D9192E-205B-CC93-594D-1A1913A04007}"/>
              </a:ext>
            </a:extLst>
          </p:cNvPr>
          <p:cNvSpPr txBox="1"/>
          <p:nvPr/>
        </p:nvSpPr>
        <p:spPr>
          <a:xfrm>
            <a:off x="6614418" y="1071131"/>
            <a:ext cx="4226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Previously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 cube files, numerically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BB5F4566-98B3-C21E-C6CC-AD38FE17A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970" y="58875"/>
            <a:ext cx="7169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0070C0"/>
                </a:solidFill>
              </a:rPr>
              <a:t>Pushing the size further: </a:t>
            </a:r>
            <a:r>
              <a:rPr lang="en-US" altLang="en-US" sz="2800" b="1" dirty="0" err="1">
                <a:solidFill>
                  <a:srgbClr val="0070C0"/>
                </a:solidFill>
              </a:rPr>
              <a:t>xTB</a:t>
            </a:r>
            <a:r>
              <a:rPr lang="en-US" altLang="en-US" sz="2800" b="1" dirty="0">
                <a:solidFill>
                  <a:srgbClr val="0070C0"/>
                </a:solidFill>
              </a:rPr>
              <a:t> (in CP2k)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8AC0C-B2FD-A147-E39A-38EE6AA7E1DC}"/>
              </a:ext>
            </a:extLst>
          </p:cNvPr>
          <p:cNvSpPr txBox="1"/>
          <p:nvPr/>
        </p:nvSpPr>
        <p:spPr>
          <a:xfrm>
            <a:off x="10085210" y="2597036"/>
            <a:ext cx="2200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Mohammad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Picture 4" descr="Mohammad Shakiba">
            <a:extLst>
              <a:ext uri="{FF2B5EF4-FFF2-40B4-BE49-F238E27FC236}">
                <a16:creationId xmlns:a16="http://schemas.microsoft.com/office/drawing/2014/main" id="{4EC4E4B9-C45D-BF8D-8A27-10C906C1D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04" y="1067618"/>
            <a:ext cx="1402206" cy="140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04503F-D353-D548-9B88-6E2A9712DBDB}"/>
              </a:ext>
            </a:extLst>
          </p:cNvPr>
          <p:cNvSpPr txBox="1"/>
          <p:nvPr/>
        </p:nvSpPr>
        <p:spPr>
          <a:xfrm>
            <a:off x="6651219" y="1798027"/>
            <a:ext cx="3082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Smith, B. A.;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M.; AVA 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JCTC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17, 678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3D2DF-B376-D0BA-D33B-E9E782DF049E}"/>
              </a:ext>
            </a:extLst>
          </p:cNvPr>
          <p:cNvSpPr/>
          <p:nvPr/>
        </p:nvSpPr>
        <p:spPr>
          <a:xfrm>
            <a:off x="6708804" y="2458044"/>
            <a:ext cx="3082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Smith, B. A.; </a:t>
            </a:r>
            <a:r>
              <a:rPr lang="en-US" sz="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M.; AVA</a:t>
            </a:r>
            <a:r>
              <a:rPr 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JPCL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12, 2444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6BE840-96B2-BE63-7C67-E6C9D5144152}"/>
              </a:ext>
            </a:extLst>
          </p:cNvPr>
          <p:cNvSpPr/>
          <p:nvPr/>
        </p:nvSpPr>
        <p:spPr>
          <a:xfrm>
            <a:off x="5571806" y="3316412"/>
            <a:ext cx="933119" cy="754168"/>
          </a:xfrm>
          <a:prstGeom prst="rect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649D34-A85B-BA36-8652-6C8FA76EA29E}"/>
              </a:ext>
            </a:extLst>
          </p:cNvPr>
          <p:cNvSpPr txBox="1"/>
          <p:nvPr/>
        </p:nvSpPr>
        <p:spPr>
          <a:xfrm>
            <a:off x="6802148" y="3316412"/>
            <a:ext cx="4226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numpy.muptiprocessing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Libint2; using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molden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xTB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implementation if CP2k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DAF417-61C7-60AE-C719-8285F407B983}"/>
              </a:ext>
            </a:extLst>
          </p:cNvPr>
          <p:cNvSpPr txBox="1"/>
          <p:nvPr/>
        </p:nvSpPr>
        <p:spPr>
          <a:xfrm>
            <a:off x="6683722" y="4821384"/>
            <a:ext cx="4226503" cy="28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Shakiba, M.; Stippel, E.; Li, W.; AVA </a:t>
            </a:r>
            <a:r>
              <a:rPr lang="de-DE" altLang="en-US" sz="12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JCTC</a:t>
            </a:r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alt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2022, </a:t>
            </a:r>
            <a:r>
              <a:rPr lang="de-DE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18, 5157</a:t>
            </a:r>
            <a:endParaRPr lang="en-US" altLang="en-US" sz="1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F241F-0CAE-B57B-34F5-E093ABA8ABF5}"/>
              </a:ext>
            </a:extLst>
          </p:cNvPr>
          <p:cNvSpPr txBox="1"/>
          <p:nvPr/>
        </p:nvSpPr>
        <p:spPr>
          <a:xfrm>
            <a:off x="2005063" y="4241874"/>
            <a:ext cx="3664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 to compute these guys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F5063-320C-2A87-58C0-A52DE3D76D35}"/>
              </a:ext>
            </a:extLst>
          </p:cNvPr>
          <p:cNvSpPr txBox="1"/>
          <p:nvPr/>
        </p:nvSpPr>
        <p:spPr>
          <a:xfrm>
            <a:off x="940773" y="5786869"/>
            <a:ext cx="11662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https://github.com/compchem-cybertraining/Tutorials_Libra/blob/master/14_molecular_integrals/4_libint2_advanced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385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1" grpId="0"/>
      <p:bldP spid="22" grpId="0"/>
      <p:bldP spid="24" grpId="0"/>
      <p:bldP spid="19" grpId="0"/>
      <p:bldP spid="9" grpId="0"/>
      <p:bldP spid="11" grpId="0"/>
      <p:bldP spid="26" grpId="0" animBg="1"/>
      <p:bldP spid="27" grpId="0"/>
      <p:bldP spid="29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E181-E3E7-BC93-894D-682913B5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A949EF-7535-2623-0BFE-7C75F3352467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424551BE-AF43-784A-8828-BA1ECE15F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0B9E4C17-3DDE-418F-333F-156506453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CF3EC0FA-74D8-5010-F63D-844E5D108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1BE07F4F-0652-6FF3-EC24-B5B55A5F4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34C42B4-31CC-71C0-282C-67B9A4DA8702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A3AEA2-650C-1733-2C49-AB4E71E58704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82A797-9108-A95A-E8E4-B502F3141A9D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C0C8FF-2993-722F-B148-73CACF9F9EDB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4C517D-D029-4E6E-4980-C678F6D5BAFF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A076A9B-0760-CD08-85AB-4722FE38505C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9EA18FE2-FA1E-762E-4BFF-754248B88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21EB9A4-0383-534D-1032-31F0FE144C3A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6D3CBF3A-356D-DFA8-AFAF-2023AB6D6F7F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25CDC274-47EA-97B1-DB89-441F7C2E03D2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713B8868-1159-390E-0C4A-7D5185C771D8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2D792458-21B6-1AD2-258E-30F3DF6D9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66253D41-FD85-1156-A119-BDEA4137A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C1310-D70C-8158-548A-8272764718C2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243B03B-89B1-7F7C-013A-24CD3B7FE2EF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232EECE-D696-4B4E-0E6D-32A0373D3609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6B3D14-C8C1-131A-1F90-2E6A1E1AA318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DCEBFD-DDB1-FCEE-ECE2-CDF3DE795DB9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554736EE-CC11-2D7A-6BC2-D00603E95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1CE356-68FC-C098-A6D8-C556102008FA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A940A026-9526-A0C6-386A-CD8C244C5CB4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22C7E104-6797-3B28-8E76-B2D5832183DA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00B7D753-0B83-64E9-FF3B-867F2B6EAD1E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628CE058-5F64-84AA-A1E2-E3994101B39E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8817B88-09FC-FA28-E5A4-4797914DD6C0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CA869E9E-72FB-6249-8E85-4E9A0AD92EE8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1C4C25-A0A4-9972-AAD7-D819546905C9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46ADE-9FAD-0D45-2B4B-38410396552E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4.3: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Nonadiabatic Couplings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1239CC9B-2AB7-C4BB-60C1-54B97BF5C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925A1E2-28D3-398B-B66B-1A1A0DA41370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0F2B2D97-C917-E0C0-E021-F0506051EE0D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17D49001-C886-7C63-45DC-58961CE8E5F8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57CE5667-72F9-2DBC-7280-6FEC6469EEE2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7309C905-278B-0026-41A9-E9C39F102A15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98713E3-334F-B406-AF83-E026BADAF6CB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E93B6-5AC0-260D-EFE8-5EFE24318FFF}"/>
              </a:ext>
            </a:extLst>
          </p:cNvPr>
          <p:cNvSpPr/>
          <p:nvPr/>
        </p:nvSpPr>
        <p:spPr>
          <a:xfrm>
            <a:off x="6379450" y="2633498"/>
            <a:ext cx="3785683" cy="70185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13F51-AF68-8AF8-1CD6-C8253B1DF362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242209795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B5524-EBF4-75B7-DDEF-B68100DF0482}"/>
              </a:ext>
            </a:extLst>
          </p:cNvPr>
          <p:cNvSpPr txBox="1"/>
          <p:nvPr/>
        </p:nvSpPr>
        <p:spPr>
          <a:xfrm>
            <a:off x="0" y="756281"/>
            <a:ext cx="278119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time_overlap_method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nac_update_method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nac_algo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15" name="Picture 7" descr="Image result for ub logo">
            <a:extLst>
              <a:ext uri="{FF2B5EF4-FFF2-40B4-BE49-F238E27FC236}">
                <a16:creationId xmlns:a16="http://schemas.microsoft.com/office/drawing/2014/main" id="{71477016-E0B8-00DD-A8EB-05A4C355E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F91E6E-40CB-1350-9D0C-A24120DBBB12}"/>
                  </a:ext>
                </a:extLst>
              </p:cNvPr>
              <p:cNvSpPr txBox="1"/>
              <p:nvPr/>
            </p:nvSpPr>
            <p:spPr>
              <a:xfrm>
                <a:off x="2681154" y="1109629"/>
                <a:ext cx="869804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 to get the time-overlaps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in the dynamics.</a:t>
                </a:r>
              </a:p>
              <a:p>
                <a:r>
                  <a:rPr lang="en-US" dirty="0"/>
                  <a:t>[0] - based on the wavefunctions (the Hamiltonian shall have the </a:t>
                </a:r>
                <a:r>
                  <a:rPr lang="en-US" dirty="0" err="1"/>
                  <a:t>basis_transform</a:t>
                </a:r>
                <a:r>
                  <a:rPr lang="en-US" dirty="0"/>
                  <a:t> variables updated):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1 -  based on external calculations (the Hamiltonian shall have the </a:t>
                </a:r>
                <a:r>
                  <a:rPr lang="en-US" dirty="0" err="1"/>
                  <a:t>time_overlap_adi</a:t>
                </a:r>
                <a:r>
                  <a:rPr lang="en-US" dirty="0"/>
                  <a:t> member updated) - use for NBRA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F91E6E-40CB-1350-9D0C-A24120DBB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154" y="1109629"/>
                <a:ext cx="8698046" cy="1477328"/>
              </a:xfrm>
              <a:prstGeom prst="rect">
                <a:avLst/>
              </a:prstGeom>
              <a:blipFill>
                <a:blip r:embed="rId3"/>
                <a:stretch>
                  <a:fillRect l="-631" t="-2066" r="-70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AD82D9E-5C27-E02F-06C2-9BCFB64A2DF6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Options for the Dynamics: Time-overlaps and NACs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81154" y="2701044"/>
                <a:ext cx="8743122" cy="1765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 to update NACs and vibronic Hamiltonian before electronic TD-SE propagation.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0: don't update them (e.g. for simplest NAC)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[1]: update according to changed momentum and existing  derivative couplings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2: update according to time-overlaps (only time-derivative NACs)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154" y="2701044"/>
                <a:ext cx="8743122" cy="1765676"/>
              </a:xfrm>
              <a:prstGeom prst="rect">
                <a:avLst/>
              </a:prstGeom>
              <a:blipFill>
                <a:blip r:embed="rId4"/>
                <a:stretch>
                  <a:fillRect l="-628" t="-1724" b="-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04E3F0-497A-4A17-A687-C0A2A79779E9}"/>
                  </a:ext>
                </a:extLst>
              </p:cNvPr>
              <p:cNvSpPr txBox="1"/>
              <p:nvPr/>
            </p:nvSpPr>
            <p:spPr>
              <a:xfrm>
                <a:off x="2618625" y="4772108"/>
                <a:ext cx="7020688" cy="1406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 to compute time-derivative NACs (if </a:t>
                </a:r>
                <a:r>
                  <a:rPr lang="en-US" dirty="0" err="1"/>
                  <a:t>nac_update_method</a:t>
                </a:r>
                <a:r>
                  <a:rPr lang="en-US" dirty="0"/>
                  <a:t>==2)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(-1): don’t update, e.g. we use NACs from somewhere else [ default ]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0: use HST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d>
                          <m:dPr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d>
                          <m:dPr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1: use NPI of Meek and Levine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04E3F0-497A-4A17-A687-C0A2A7977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625" y="4772108"/>
                <a:ext cx="7020688" cy="1406667"/>
              </a:xfrm>
              <a:prstGeom prst="rect">
                <a:avLst/>
              </a:prstGeom>
              <a:blipFill>
                <a:blip r:embed="rId5"/>
                <a:stretch>
                  <a:fillRect l="-782" t="-2597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83EE5D-3FBA-46D5-9D90-2ECB45531087}"/>
              </a:ext>
            </a:extLst>
          </p:cNvPr>
          <p:cNvSpPr txBox="1"/>
          <p:nvPr/>
        </p:nvSpPr>
        <p:spPr>
          <a:xfrm>
            <a:off x="270997" y="6384149"/>
            <a:ext cx="4780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Meek, G. A.; Levine, B. G.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5</a:t>
            </a:r>
            <a:r>
              <a:rPr lang="en-US" sz="1400" dirty="0">
                <a:solidFill>
                  <a:srgbClr val="0000FF"/>
                </a:solidFill>
                <a:effectLst/>
              </a:rPr>
              <a:t>, 2351.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BCA429-76CC-BF65-6AD1-723E18C0D3A7}"/>
                  </a:ext>
                </a:extLst>
              </p:cNvPr>
              <p:cNvSpPr txBox="1"/>
              <p:nvPr/>
            </p:nvSpPr>
            <p:spPr>
              <a:xfrm>
                <a:off x="5885229" y="5847571"/>
                <a:ext cx="41325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BCA429-76CC-BF65-6AD1-723E18C0D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229" y="5847571"/>
                <a:ext cx="4132531" cy="307777"/>
              </a:xfrm>
              <a:prstGeom prst="rect">
                <a:avLst/>
              </a:prstGeom>
              <a:blipFill>
                <a:blip r:embed="rId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AA4F5-E646-58C1-EA38-3E1A09127732}"/>
                  </a:ext>
                </a:extLst>
              </p:cNvPr>
              <p:cNvSpPr txBox="1"/>
              <p:nvPr/>
            </p:nvSpPr>
            <p:spPr>
              <a:xfrm>
                <a:off x="4757002" y="6141231"/>
                <a:ext cx="7302918" cy="587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AA4F5-E646-58C1-EA38-3E1A09127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002" y="6141231"/>
                <a:ext cx="7302918" cy="5875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11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A958D-B0C7-9E27-7D2B-F0DCE06A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F3679-FEE9-EBC2-F411-EE5130C1F5AA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D751BC61-143F-6B37-73D4-D9A697C17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64B9B55B-472E-BB70-F2BD-8510D43AD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E787BDDD-CBCF-7571-D771-59828F272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F5332734-4A8F-C890-9674-E53DE107E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573BA7D9-0AF7-B4EA-C190-EA01F2561566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3F5080-4F7F-7647-21E5-F9DDBB3CD517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0030D2-723D-6432-2444-647C0F6CADE1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D8D38D-163E-C18B-3E66-7679BE9C3060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967689-3DDD-9861-7889-02D4B75AE0B8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E474A46-63F0-45E4-8097-27A5094152A5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971CC317-0DAD-95A7-F157-8A59DC376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481453C-EBE2-B70E-F092-487CE3904C93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A9133E6F-9361-1EC2-7B96-74B3B56E294F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F65D5E9-1E1E-B2E7-2307-D76DD3272710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EDCD5B4C-6670-7647-7600-F31BE26D58F7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40A8A1CF-08C5-9F79-DB70-52644D2A6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7C02B4C1-2510-E927-9F69-D9A9E199D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70823-1055-B64A-27FB-F268384C455A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6E8A98-AF0A-325B-1CF2-B1D67AF16EE0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F974B1A6-E5B3-E261-E2D2-6FE10D28537F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662D0-F82E-606D-C90F-B5817BF6626E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D53F309-0626-0DB8-32CE-32693D5C0DCF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BBA5316F-8891-5BFE-AFAA-EE08A5199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16309-05C5-278F-6EF9-CBD5591537F0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6D7C281E-6C56-8224-7779-A253FD3FABE2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8BAABB1E-9C50-1D37-9DA5-817749818CF9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76065D09-00EE-1C13-81AC-F1B13B951579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4B0EF3FC-1073-AAE9-8255-BBC7CF27F5F0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3F07254-D969-A7A0-C7E5-57B94F8963C8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F0B3F635-D828-CE27-8BC0-57D5C0C88683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8163CC-3F37-3889-E7C1-64AE04BF8FBE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B9A95-C6A4-38A8-A97D-6AC06D4EEAF2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4.4: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Integrating Electronic EOM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563AA019-FF9B-236D-A290-54D4C5902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A80B8F39-B359-3070-FA96-DE120DDF240D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D1FF889B-41BA-B70D-8E03-D10BCE7BA3ED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D974B676-488B-8E7A-40D1-137D5DE4CFCE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3A3F4D2C-96AE-2096-329F-67023D4E43F6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66B92315-0726-1F97-B435-E82EC3F612D9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2DF8CDAD-EA6A-0D3A-B619-3203C745DBF5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9C0FB-50B4-0B3A-4105-9E364B67EEAC}"/>
              </a:ext>
            </a:extLst>
          </p:cNvPr>
          <p:cNvSpPr/>
          <p:nvPr/>
        </p:nvSpPr>
        <p:spPr>
          <a:xfrm>
            <a:off x="6379450" y="3507256"/>
            <a:ext cx="5087803" cy="70185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2C7A3-075F-1054-D3F6-53888CFE537C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222759489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2D3CBE-6064-F86A-C92E-42C5C0A3E6E5}"/>
              </a:ext>
            </a:extLst>
          </p:cNvPr>
          <p:cNvSpPr txBox="1"/>
          <p:nvPr/>
        </p:nvSpPr>
        <p:spPr>
          <a:xfrm>
            <a:off x="252262" y="792163"/>
            <a:ext cx="2881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rep_tdse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hvib_update_method</a:t>
            </a:r>
            <a:endParaRPr lang="en-US" b="1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3807B-8347-27C7-4616-56ECCDD5B276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Options for the Dynamics: TD-SE and Hamiltonian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069A3E-6439-4598-B424-F04E8174B9F0}"/>
                  </a:ext>
                </a:extLst>
              </p:cNvPr>
              <p:cNvSpPr txBox="1"/>
              <p:nvPr/>
            </p:nvSpPr>
            <p:spPr>
              <a:xfrm>
                <a:off x="3348539" y="1244129"/>
                <a:ext cx="7846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 to evolve electronic DOFs: 0 -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/>
                  <a:t>; [1 -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; 2 -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/>
                  <a:t>; 3 -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069A3E-6439-4598-B424-F04E8174B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539" y="1244129"/>
                <a:ext cx="7846142" cy="369332"/>
              </a:xfrm>
              <a:prstGeom prst="rect">
                <a:avLst/>
              </a:prstGeom>
              <a:blipFill>
                <a:blip r:embed="rId2"/>
                <a:stretch>
                  <a:fillRect l="-62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7" descr="Image result for ub logo">
            <a:extLst>
              <a:ext uri="{FF2B5EF4-FFF2-40B4-BE49-F238E27FC236}">
                <a16:creationId xmlns:a16="http://schemas.microsoft.com/office/drawing/2014/main" id="{C9188644-C896-E3EA-BDE5-7224C1DF1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38E38-0CB2-BC96-2C56-46C0C9B5B1EA}"/>
                  </a:ext>
                </a:extLst>
              </p:cNvPr>
              <p:cNvSpPr txBox="1"/>
              <p:nvPr/>
            </p:nvSpPr>
            <p:spPr>
              <a:xfrm>
                <a:off x="3298089" y="1669326"/>
                <a:ext cx="8254889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How to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- 0: don't update them, e.g. if it is read externally – useful for NBRA workflows</a:t>
                </a:r>
              </a:p>
              <a:p>
                <a:r>
                  <a:rPr lang="en-US" dirty="0"/>
                  <a:t>- [1]: update according to regular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38E38-0CB2-BC96-2C56-46C0C9B5B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089" y="1669326"/>
                <a:ext cx="8254889" cy="957826"/>
              </a:xfrm>
              <a:prstGeom prst="rect">
                <a:avLst/>
              </a:prstGeom>
              <a:blipFill>
                <a:blip r:embed="rId4"/>
                <a:stretch>
                  <a:fillRect l="-591" t="-3185" b="-7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89789B-A30F-95BE-1C6A-9736255E0139}"/>
                  </a:ext>
                </a:extLst>
              </p:cNvPr>
              <p:cNvSpPr txBox="1"/>
              <p:nvPr/>
            </p:nvSpPr>
            <p:spPr>
              <a:xfrm>
                <a:off x="167637" y="3215840"/>
                <a:ext cx="4850006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89789B-A30F-95BE-1C6A-9736255E0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7" y="3215840"/>
                <a:ext cx="4850006" cy="7958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13E89D-99A4-45C1-9649-656DF0007BF1}"/>
                  </a:ext>
                </a:extLst>
              </p:cNvPr>
              <p:cNvSpPr txBox="1"/>
              <p:nvPr/>
            </p:nvSpPr>
            <p:spPr>
              <a:xfrm>
                <a:off x="702093" y="5539151"/>
                <a:ext cx="3965026" cy="703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only for exactly diabatic states; non-zero for quasi-diabatic states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13E89D-99A4-45C1-9649-656DF0007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93" y="5539151"/>
                <a:ext cx="3965026" cy="703911"/>
              </a:xfrm>
              <a:prstGeom prst="rect">
                <a:avLst/>
              </a:prstGeom>
              <a:blipFill>
                <a:blip r:embed="rId6"/>
                <a:stretch>
                  <a:fillRect l="-1229" t="-870" r="-199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02FD7A-F5A0-020B-CD1F-6B1593C8A2D5}"/>
                  </a:ext>
                </a:extLst>
              </p:cNvPr>
              <p:cNvSpPr txBox="1"/>
              <p:nvPr/>
            </p:nvSpPr>
            <p:spPr>
              <a:xfrm>
                <a:off x="505036" y="4375891"/>
                <a:ext cx="3468414" cy="811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𝑣𝑖𝑏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𝑎𝑑𝑖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𝑣𝑖𝑏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𝑑𝑖𝑎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𝑑𝑖𝑎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ℏ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𝑑𝑖𝑎</m:t>
                          </m:r>
                        </m:sup>
                      </m:sSub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02FD7A-F5A0-020B-CD1F-6B1593C8A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36" y="4375891"/>
                <a:ext cx="3468414" cy="811504"/>
              </a:xfrm>
              <a:prstGeom prst="rect">
                <a:avLst/>
              </a:prstGeom>
              <a:blipFill>
                <a:blip r:embed="rId7"/>
                <a:stretch>
                  <a:fillRect b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957B6C0E-14C7-E840-D03A-883C4A4B5635}"/>
              </a:ext>
            </a:extLst>
          </p:cNvPr>
          <p:cNvSpPr/>
          <p:nvPr/>
        </p:nvSpPr>
        <p:spPr>
          <a:xfrm>
            <a:off x="5391874" y="3522435"/>
            <a:ext cx="1715288" cy="302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335C2B-3B38-FF03-FDAF-2A9C5F7CCB98}"/>
              </a:ext>
            </a:extLst>
          </p:cNvPr>
          <p:cNvSpPr txBox="1"/>
          <p:nvPr/>
        </p:nvSpPr>
        <p:spPr>
          <a:xfrm>
            <a:off x="5017643" y="3153103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Formally, the solution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60E3D5-5922-9BB8-B929-2E567167E687}"/>
                  </a:ext>
                </a:extLst>
              </p:cNvPr>
              <p:cNvSpPr txBox="1"/>
              <p:nvPr/>
            </p:nvSpPr>
            <p:spPr>
              <a:xfrm>
                <a:off x="7607411" y="3272743"/>
                <a:ext cx="3945567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𝑣𝑖𝑏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𝑟𝑒𝑝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60E3D5-5922-9BB8-B929-2E567167E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411" y="3272743"/>
                <a:ext cx="3945567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5A98B4E-8CF4-7A88-4CC7-3CD235085144}"/>
              </a:ext>
            </a:extLst>
          </p:cNvPr>
          <p:cNvSpPr txBox="1"/>
          <p:nvPr/>
        </p:nvSpPr>
        <p:spPr>
          <a:xfrm>
            <a:off x="6767244" y="4655572"/>
            <a:ext cx="4785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 theory, but more complicated in reality…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3B4254-9CD6-8E87-3171-7DF06A7101DC}"/>
              </a:ext>
            </a:extLst>
          </p:cNvPr>
          <p:cNvSpPr txBox="1"/>
          <p:nvPr/>
        </p:nvSpPr>
        <p:spPr>
          <a:xfrm>
            <a:off x="7951602" y="3940889"/>
            <a:ext cx="298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electronic_integrator</a:t>
            </a:r>
            <a:r>
              <a:rPr lang="en-US" b="1" dirty="0">
                <a:solidFill>
                  <a:srgbClr val="0000FF"/>
                </a:solidFill>
              </a:rPr>
              <a:t> = 5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58678-1AF3-C6C7-BF8D-D228427DF352}"/>
              </a:ext>
            </a:extLst>
          </p:cNvPr>
          <p:cNvSpPr txBox="1"/>
          <p:nvPr/>
        </p:nvSpPr>
        <p:spPr>
          <a:xfrm>
            <a:off x="6153552" y="5401033"/>
            <a:ext cx="6038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there is a trivial crossing problem + </a:t>
            </a:r>
            <a:r>
              <a:rPr lang="en-US" sz="2000" b="1" dirty="0">
                <a:solidFill>
                  <a:srgbClr val="008000"/>
                </a:solidFill>
              </a:rPr>
              <a:t>phase arbitrariness</a:t>
            </a:r>
          </a:p>
        </p:txBody>
      </p:sp>
    </p:spTree>
    <p:extLst>
      <p:ext uri="{BB962C8B-B14F-4D97-AF65-F5344CB8AC3E}">
        <p14:creationId xmlns:p14="http://schemas.microsoft.com/office/powerpoint/2010/main" val="2349783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9BDDBDB-54BF-EF87-A8FC-E6298A859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25" y="1291432"/>
            <a:ext cx="8393361" cy="472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C53A3979-02A9-1B42-972B-1EE6F5A89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122AC7-87C4-EB32-A920-D9CCEF71C670}"/>
                  </a:ext>
                </a:extLst>
              </p:cNvPr>
              <p:cNvSpPr txBox="1"/>
              <p:nvPr/>
            </p:nvSpPr>
            <p:spPr>
              <a:xfrm>
                <a:off x="1259073" y="943355"/>
                <a:ext cx="90399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Arises because of finite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or due to inconsistency of energy and NAC (due to approximations)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122AC7-87C4-EB32-A920-D9CCEF71C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073" y="943355"/>
                <a:ext cx="9039911" cy="369332"/>
              </a:xfrm>
              <a:prstGeom prst="rect">
                <a:avLst/>
              </a:prstGeom>
              <a:blipFill>
                <a:blip r:embed="rId4"/>
                <a:stretch>
                  <a:fillRect l="-60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F5C2071-5FE4-F6A0-848E-538AD5970E47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Trivial Crossing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A6683-E675-157B-BC72-BBA50625A66A}"/>
              </a:ext>
            </a:extLst>
          </p:cNvPr>
          <p:cNvSpPr txBox="1"/>
          <p:nvPr/>
        </p:nvSpPr>
        <p:spPr>
          <a:xfrm>
            <a:off x="604284" y="6068270"/>
            <a:ext cx="10983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Not accounting for state tracking can result in – unphysical long-distance charge transfer (e.g. bad carrier mobilities)</a:t>
            </a:r>
            <a:r>
              <a:rPr lang="en-US" dirty="0">
                <a:effectLst/>
              </a:rPr>
              <a:t> </a:t>
            </a:r>
          </a:p>
          <a:p>
            <a:pPr algn="just"/>
            <a:r>
              <a:rPr lang="en-US" sz="1400" dirty="0">
                <a:solidFill>
                  <a:srgbClr val="0000FF"/>
                </a:solidFill>
                <a:effectLst/>
              </a:rPr>
              <a:t>Giannini, S.;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Carof</a:t>
            </a:r>
            <a:r>
              <a:rPr lang="en-US" sz="1400" dirty="0">
                <a:solidFill>
                  <a:srgbClr val="0000FF"/>
                </a:solidFill>
                <a:effectLst/>
              </a:rPr>
              <a:t>, A.;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Blumberger</a:t>
            </a:r>
            <a:r>
              <a:rPr lang="en-US" sz="1400" dirty="0">
                <a:solidFill>
                  <a:srgbClr val="0000FF"/>
                </a:solidFill>
                <a:effectLst/>
              </a:rPr>
              <a:t>, J.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JPCL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2018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9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3116–3123; Bai, X.; Qiu, J.; Wang, L.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JCP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2018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148</a:t>
            </a:r>
            <a:r>
              <a:rPr lang="en-US" sz="1400" dirty="0">
                <a:solidFill>
                  <a:srgbClr val="0000FF"/>
                </a:solidFill>
                <a:effectLst/>
              </a:rPr>
              <a:t>, 104106.</a:t>
            </a:r>
          </a:p>
        </p:txBody>
      </p:sp>
    </p:spTree>
    <p:extLst>
      <p:ext uri="{BB962C8B-B14F-4D97-AF65-F5344CB8AC3E}">
        <p14:creationId xmlns:p14="http://schemas.microsoft.com/office/powerpoint/2010/main" val="3995063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D98907-A4F8-210F-C40C-0477E91AAC95}"/>
              </a:ext>
            </a:extLst>
          </p:cNvPr>
          <p:cNvSpPr txBox="1"/>
          <p:nvPr/>
        </p:nvSpPr>
        <p:spPr>
          <a:xfrm>
            <a:off x="161404" y="619716"/>
            <a:ext cx="598382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state_tracking_algo</a:t>
            </a:r>
            <a:endParaRPr lang="en-US" b="1" dirty="0">
              <a:solidFill>
                <a:srgbClr val="0000FF"/>
              </a:solidFill>
            </a:endParaRPr>
          </a:p>
          <a:p>
            <a:endParaRPr lang="en-US" dirty="0"/>
          </a:p>
          <a:p>
            <a:r>
              <a:rPr lang="en-US" dirty="0"/>
              <a:t>State tracking algorithm:</a:t>
            </a:r>
          </a:p>
          <a:p>
            <a:r>
              <a:rPr lang="en-US" dirty="0"/>
              <a:t>      - -1: use LD approach, it includes phase correction too [ default ]</a:t>
            </a:r>
          </a:p>
          <a:p>
            <a:r>
              <a:rPr lang="en-US" dirty="0"/>
              <a:t>      - 0: no state tracking</a:t>
            </a:r>
          </a:p>
          <a:p>
            <a:r>
              <a:rPr lang="en-US" dirty="0">
                <a:solidFill>
                  <a:schemeClr val="accent3"/>
                </a:solidFill>
              </a:rPr>
              <a:t>      - 1: method of Kosuke Sato (may fail by getting trapped into an infinite loop)</a:t>
            </a:r>
          </a:p>
          <a:p>
            <a:r>
              <a:rPr lang="en-US" dirty="0"/>
              <a:t>      - 2: Munkres-Kuhn (Hungarian) algorithm </a:t>
            </a:r>
          </a:p>
          <a:p>
            <a:r>
              <a:rPr lang="en-US" dirty="0"/>
              <a:t>      - 21: ChatGPT-generated Munkres-Kuhn (Hungarian) algorithm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chemeClr val="accent3"/>
                </a:solidFill>
              </a:rPr>
              <a:t>- 3: experimental stochastic algorithm, the original version with elimination (known problems)</a:t>
            </a:r>
          </a:p>
          <a:p>
            <a:r>
              <a:rPr lang="en-US" dirty="0">
                <a:solidFill>
                  <a:schemeClr val="accent3"/>
                </a:solidFill>
              </a:rPr>
              <a:t>      - 32: experimental stochastic algorithms with all permutations (too expensive)</a:t>
            </a:r>
          </a:p>
          <a:p>
            <a:r>
              <a:rPr lang="en-US" dirty="0">
                <a:solidFill>
                  <a:schemeClr val="accent3"/>
                </a:solidFill>
              </a:rPr>
              <a:t>      - 33: the improved stochastic algorithm with good scaling and performance, on par with the </a:t>
            </a:r>
            <a:r>
              <a:rPr lang="en-US" dirty="0" err="1">
                <a:solidFill>
                  <a:schemeClr val="accent3"/>
                </a:solidFill>
              </a:rPr>
              <a:t>mincost</a:t>
            </a:r>
            <a:endParaRPr lang="en-US" dirty="0">
              <a:solidFill>
                <a:schemeClr val="accent3"/>
              </a:solidFill>
            </a:endParaRPr>
          </a:p>
          <a:p>
            <a:r>
              <a:rPr lang="en-US" dirty="0"/>
              <a:t>      - 4: force-based tracking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- 5: SVD-reformulated LD approach of Granucci and Persico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E54DB-96B3-D9D9-CC17-698D9C2FDF40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State Tracking Options</a:t>
            </a:r>
          </a:p>
        </p:txBody>
      </p:sp>
      <p:pic>
        <p:nvPicPr>
          <p:cNvPr id="9" name="Picture 7" descr="Image result for ub logo">
            <a:extLst>
              <a:ext uri="{FF2B5EF4-FFF2-40B4-BE49-F238E27FC236}">
                <a16:creationId xmlns:a16="http://schemas.microsoft.com/office/drawing/2014/main" id="{D342379E-0177-AD71-8948-D86BB8062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CA5C8C-F7C1-3351-8C67-58B25C3C7FE3}"/>
                  </a:ext>
                </a:extLst>
              </p:cNvPr>
              <p:cNvSpPr txBox="1"/>
              <p:nvPr/>
            </p:nvSpPr>
            <p:spPr>
              <a:xfrm>
                <a:off x="5984591" y="972360"/>
                <a:ext cx="6034840" cy="594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𝑇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6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,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" panose="020206030504050203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" panose="020206030504050203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Δ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−1/2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CA5C8C-F7C1-3351-8C67-58B25C3C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591" y="972360"/>
                <a:ext cx="6034840" cy="594009"/>
              </a:xfrm>
              <a:prstGeom prst="rect">
                <a:avLst/>
              </a:prstGeom>
              <a:blipFill>
                <a:blip r:embed="rId3"/>
                <a:stretch>
                  <a:fillRect b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63D769-BC23-3F32-3DBD-358AD218F046}"/>
                  </a:ext>
                </a:extLst>
              </p:cNvPr>
              <p:cNvSpPr txBox="1"/>
              <p:nvPr/>
            </p:nvSpPr>
            <p:spPr>
              <a:xfrm>
                <a:off x="6260526" y="1774482"/>
                <a:ext cx="1966451" cy="372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63D769-BC23-3F32-3DBD-358AD218F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526" y="1774482"/>
                <a:ext cx="1966451" cy="372603"/>
              </a:xfrm>
              <a:prstGeom prst="rect">
                <a:avLst/>
              </a:prstGeom>
              <a:blipFill>
                <a:blip r:embed="rId4"/>
                <a:stretch>
                  <a:fillRect l="-278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8BB9DF9-2A8F-A46B-09AA-268272D8D2D8}"/>
              </a:ext>
            </a:extLst>
          </p:cNvPr>
          <p:cNvSpPr txBox="1"/>
          <p:nvPr/>
        </p:nvSpPr>
        <p:spPr>
          <a:xfrm>
            <a:off x="7936127" y="1699173"/>
            <a:ext cx="4159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Granucci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G, Persico M, </a:t>
            </a:r>
            <a:r>
              <a:rPr lang="en-US" sz="1400" dirty="0" err="1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Toniolo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A </a:t>
            </a:r>
            <a:r>
              <a:rPr lang="en-US" sz="1400" i="1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2001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, 114, 10608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94C720-1A56-6B9B-ACFC-A22039A5C7DD}"/>
              </a:ext>
            </a:extLst>
          </p:cNvPr>
          <p:cNvSpPr txBox="1"/>
          <p:nvPr/>
        </p:nvSpPr>
        <p:spPr>
          <a:xfrm>
            <a:off x="6244498" y="790005"/>
            <a:ext cx="4604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0000FF"/>
                </a:solidFill>
                <a:effectLst/>
              </a:rPr>
              <a:t>Shakiba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Theor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 Chem Acc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142</a:t>
            </a:r>
            <a:r>
              <a:rPr lang="en-US" sz="1400" dirty="0">
                <a:solidFill>
                  <a:srgbClr val="0000FF"/>
                </a:solidFill>
                <a:effectLst/>
              </a:rPr>
              <a:t> (8), 68.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477034-D986-D19F-A7CF-91363F251B06}"/>
                  </a:ext>
                </a:extLst>
              </p:cNvPr>
              <p:cNvSpPr txBox="1"/>
              <p:nvPr/>
            </p:nvSpPr>
            <p:spPr>
              <a:xfrm>
                <a:off x="5904281" y="2826585"/>
                <a:ext cx="6306869" cy="3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477034-D986-D19F-A7CF-91363F251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281" y="2826585"/>
                <a:ext cx="6306869" cy="376000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69A2DC1-F2A8-FF70-1AB5-AB8882492771}"/>
              </a:ext>
            </a:extLst>
          </p:cNvPr>
          <p:cNvSpPr txBox="1"/>
          <p:nvPr/>
        </p:nvSpPr>
        <p:spPr>
          <a:xfrm>
            <a:off x="6061458" y="2418742"/>
            <a:ext cx="5950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effectLst/>
              </a:rPr>
              <a:t>Fernandez-Alberti, S.;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Roitberg</a:t>
            </a:r>
            <a:r>
              <a:rPr lang="en-US" sz="1400" dirty="0">
                <a:solidFill>
                  <a:srgbClr val="0000FF"/>
                </a:solidFill>
                <a:effectLst/>
              </a:rPr>
              <a:t>, A. E.; Nelson, T.; Tretiak, S.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2012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137</a:t>
            </a:r>
            <a:r>
              <a:rPr lang="en-US" sz="1400" dirty="0">
                <a:solidFill>
                  <a:srgbClr val="0000FF"/>
                </a:solidFill>
                <a:effectLst/>
              </a:rPr>
              <a:t>, 014512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23EC6-CD35-D466-2508-544406DC0BB6}"/>
                  </a:ext>
                </a:extLst>
              </p:cNvPr>
              <p:cNvSpPr txBox="1"/>
              <p:nvPr/>
            </p:nvSpPr>
            <p:spPr>
              <a:xfrm>
                <a:off x="6003741" y="3149921"/>
                <a:ext cx="2184252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Cost matrix: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023EC6-CD35-D466-2508-544406DC0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741" y="3149921"/>
                <a:ext cx="2184252" cy="379784"/>
              </a:xfrm>
              <a:prstGeom prst="rect">
                <a:avLst/>
              </a:prstGeom>
              <a:blipFill>
                <a:blip r:embed="rId6"/>
                <a:stretch>
                  <a:fillRect l="-1676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CC70D5-389C-50C1-DD0A-CDC715C613F2}"/>
                  </a:ext>
                </a:extLst>
              </p:cNvPr>
              <p:cNvSpPr txBox="1"/>
              <p:nvPr/>
            </p:nvSpPr>
            <p:spPr>
              <a:xfrm>
                <a:off x="6003741" y="3441065"/>
                <a:ext cx="5924571" cy="384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Solution (states’ reordering):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sz="1600" dirty="0"/>
                  <a:t>  same as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CC70D5-389C-50C1-DD0A-CDC715C6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741" y="3441065"/>
                <a:ext cx="5924571" cy="384272"/>
              </a:xfrm>
              <a:prstGeom prst="rect">
                <a:avLst/>
              </a:prstGeom>
              <a:blipFill>
                <a:blip r:embed="rId7"/>
                <a:stretch>
                  <a:fillRect l="-61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A94A5E-DA48-F733-8190-29EBC960C38F}"/>
                  </a:ext>
                </a:extLst>
              </p:cNvPr>
              <p:cNvSpPr txBox="1"/>
              <p:nvPr/>
            </p:nvSpPr>
            <p:spPr>
              <a:xfrm>
                <a:off x="6221634" y="4732723"/>
                <a:ext cx="5924571" cy="579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Cost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𝑠𝑖𝑔𝑛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𝑠𝑖𝑔𝑛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A94A5E-DA48-F733-8190-29EBC960C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34" y="4732723"/>
                <a:ext cx="5924571" cy="579198"/>
              </a:xfrm>
              <a:prstGeom prst="rect">
                <a:avLst/>
              </a:prstGeom>
              <a:blipFill>
                <a:blip r:embed="rId8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3D91EA-8B7B-7BD1-FB7A-BFFA86505B74}"/>
                  </a:ext>
                </a:extLst>
              </p:cNvPr>
              <p:cNvSpPr txBox="1"/>
              <p:nvPr/>
            </p:nvSpPr>
            <p:spPr>
              <a:xfrm>
                <a:off x="6210172" y="5276828"/>
                <a:ext cx="292191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Solution: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𝑇𝑟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3D91EA-8B7B-7BD1-FB7A-BFFA8650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172" y="5276828"/>
                <a:ext cx="2921915" cy="338554"/>
              </a:xfrm>
              <a:prstGeom prst="rect">
                <a:avLst/>
              </a:prstGeom>
              <a:blipFill>
                <a:blip r:embed="rId9"/>
                <a:stretch>
                  <a:fillRect l="-1253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3036027F-835E-CF9C-6269-2F7F545EBE58}"/>
              </a:ext>
            </a:extLst>
          </p:cNvPr>
          <p:cNvSpPr txBox="1"/>
          <p:nvPr/>
        </p:nvSpPr>
        <p:spPr>
          <a:xfrm>
            <a:off x="6242468" y="4429262"/>
            <a:ext cx="2853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A.V. </a:t>
            </a:r>
            <a:r>
              <a:rPr lang="en-US" sz="1400" i="1" dirty="0">
                <a:solidFill>
                  <a:srgbClr val="0000FF"/>
                </a:solidFill>
              </a:rPr>
              <a:t>JPCL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2024</a:t>
            </a:r>
            <a:r>
              <a:rPr lang="en-US" sz="1400" dirty="0">
                <a:solidFill>
                  <a:srgbClr val="0000FF"/>
                </a:solidFill>
              </a:rPr>
              <a:t>  15, 11944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FFB281-1939-BA04-2296-B7536C51C6CF}"/>
                  </a:ext>
                </a:extLst>
              </p:cNvPr>
              <p:cNvSpPr txBox="1"/>
              <p:nvPr/>
            </p:nvSpPr>
            <p:spPr>
              <a:xfrm>
                <a:off x="6299133" y="5819198"/>
                <a:ext cx="46501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(SVD decomposition of the S matrix)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FFB281-1939-BA04-2296-B7536C51C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133" y="5819198"/>
                <a:ext cx="4650119" cy="646331"/>
              </a:xfrm>
              <a:prstGeom prst="rect">
                <a:avLst/>
              </a:prstGeom>
              <a:blipFill>
                <a:blip r:embed="rId10"/>
                <a:stretch>
                  <a:fillRect t="-5660"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229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A51D6131-6A8F-8EBF-153A-0E1F5D7D0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881" y="867685"/>
            <a:ext cx="5329191" cy="299767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6D120F-14EE-2461-0A64-61F385369B36}"/>
              </a:ext>
            </a:extLst>
          </p:cNvPr>
          <p:cNvSpPr txBox="1"/>
          <p:nvPr/>
        </p:nvSpPr>
        <p:spPr>
          <a:xfrm>
            <a:off x="1184622" y="58173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Basis of Local Diabatization</a:t>
            </a:r>
          </a:p>
        </p:txBody>
      </p:sp>
      <p:pic>
        <p:nvPicPr>
          <p:cNvPr id="6" name="Picture 7" descr="Image result for ub logo">
            <a:extLst>
              <a:ext uri="{FF2B5EF4-FFF2-40B4-BE49-F238E27FC236}">
                <a16:creationId xmlns:a16="http://schemas.microsoft.com/office/drawing/2014/main" id="{C5CD5858-8575-77F8-78A7-D734224D3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4604AA-C6D0-6B13-5182-821C37E5A63E}"/>
                  </a:ext>
                </a:extLst>
              </p:cNvPr>
              <p:cNvSpPr txBox="1"/>
              <p:nvPr/>
            </p:nvSpPr>
            <p:spPr>
              <a:xfrm>
                <a:off x="2234905" y="1293382"/>
                <a:ext cx="2535613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4604AA-C6D0-6B13-5182-821C37E5A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905" y="1293382"/>
                <a:ext cx="2535613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F552D1-4256-EDAF-5178-64E14A3E22CB}"/>
                  </a:ext>
                </a:extLst>
              </p:cNvPr>
              <p:cNvSpPr txBox="1"/>
              <p:nvPr/>
            </p:nvSpPr>
            <p:spPr>
              <a:xfrm>
                <a:off x="2234905" y="3005573"/>
                <a:ext cx="2842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F552D1-4256-EDAF-5178-64E14A3E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905" y="3005573"/>
                <a:ext cx="2842700" cy="369332"/>
              </a:xfrm>
              <a:prstGeom prst="rect">
                <a:avLst/>
              </a:prstGeom>
              <a:blipFill>
                <a:blip r:embed="rId5"/>
                <a:stretch>
                  <a:fillRect l="-9442" t="-119672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C3F279-6159-BAE5-A9B1-6CB7FE55DA3B}"/>
                  </a:ext>
                </a:extLst>
              </p:cNvPr>
              <p:cNvSpPr txBox="1"/>
              <p:nvPr/>
            </p:nvSpPr>
            <p:spPr>
              <a:xfrm>
                <a:off x="1749519" y="4069371"/>
                <a:ext cx="8898194" cy="731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Δt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Δt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Δt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C3F279-6159-BAE5-A9B1-6CB7FE55D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519" y="4069371"/>
                <a:ext cx="8898194" cy="7312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FAFDB-83DA-3CF1-E409-78B1FC741032}"/>
                  </a:ext>
                </a:extLst>
              </p:cNvPr>
              <p:cNvSpPr txBox="1"/>
              <p:nvPr/>
            </p:nvSpPr>
            <p:spPr>
              <a:xfrm>
                <a:off x="1894264" y="4996408"/>
                <a:ext cx="8239432" cy="731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FAFDB-83DA-3CF1-E409-78B1FC741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264" y="4996408"/>
                <a:ext cx="8239432" cy="731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1109EB-B587-0181-4BB7-7CD01F4C7565}"/>
                  </a:ext>
                </a:extLst>
              </p:cNvPr>
              <p:cNvSpPr txBox="1"/>
              <p:nvPr/>
            </p:nvSpPr>
            <p:spPr>
              <a:xfrm>
                <a:off x="324465" y="6018542"/>
                <a:ext cx="11641393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However, the bases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" panose="020206030504050203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Δ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 may change their relative order (e.g. in trivial crossing situations) or acquire a spurious phase difference. </a:t>
                </a:r>
                <a:r>
                  <a:rPr lang="en-US" sz="2000" b="1" dirty="0">
                    <a:solidFill>
                      <a:srgbClr val="0000FF"/>
                    </a:solidFill>
                    <a:effectLst/>
                    <a:ea typeface="Times New Roman" panose="02020603050405020304" pitchFamily="18" charset="0"/>
                  </a:rPr>
                  <a:t>Consider this as the adiabatic dynamics (e.g. adiabatic charge transfer)</a:t>
                </a:r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1109EB-B587-0181-4BB7-7CD01F4C7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5" y="6018542"/>
                <a:ext cx="11641393" cy="677108"/>
              </a:xfrm>
              <a:prstGeom prst="rect">
                <a:avLst/>
              </a:prstGeom>
              <a:blipFill>
                <a:blip r:embed="rId8"/>
                <a:stretch>
                  <a:fillRect l="-419" t="-65766" b="-55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E47743E-6A17-6444-5047-6DF3458F2DAD}"/>
              </a:ext>
            </a:extLst>
          </p:cNvPr>
          <p:cNvSpPr txBox="1"/>
          <p:nvPr/>
        </p:nvSpPr>
        <p:spPr>
          <a:xfrm>
            <a:off x="181872" y="902906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want to solve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F57195-A658-2BCE-2C64-866B46770E4E}"/>
              </a:ext>
            </a:extLst>
          </p:cNvPr>
          <p:cNvSpPr txBox="1"/>
          <p:nvPr/>
        </p:nvSpPr>
        <p:spPr>
          <a:xfrm>
            <a:off x="171495" y="2529309"/>
            <a:ext cx="221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adiabatic basis: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84B91-057D-488D-C8C5-E9A1F1B67F31}"/>
              </a:ext>
            </a:extLst>
          </p:cNvPr>
          <p:cNvSpPr txBox="1"/>
          <p:nvPr/>
        </p:nvSpPr>
        <p:spPr>
          <a:xfrm>
            <a:off x="181872" y="3786380"/>
            <a:ext cx="1712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Formal solution: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6D28B-DFE7-F4EC-DE38-7C6FB574066F}"/>
              </a:ext>
            </a:extLst>
          </p:cNvPr>
          <p:cNvSpPr txBox="1"/>
          <p:nvPr/>
        </p:nvSpPr>
        <p:spPr>
          <a:xfrm>
            <a:off x="250609" y="4912294"/>
            <a:ext cx="1734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projection: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5AF86E-6112-29C7-452D-000CD8E0BB78}"/>
                  </a:ext>
                </a:extLst>
              </p:cNvPr>
              <p:cNvSpPr txBox="1"/>
              <p:nvPr/>
            </p:nvSpPr>
            <p:spPr>
              <a:xfrm>
                <a:off x="10315638" y="4298370"/>
                <a:ext cx="16488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Consider the change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𝒂𝒅𝒊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non-adiabatic dynamics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5AF86E-6112-29C7-452D-000CD8E0B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5638" y="4298370"/>
                <a:ext cx="1648837" cy="1200329"/>
              </a:xfrm>
              <a:prstGeom prst="rect">
                <a:avLst/>
              </a:prstGeom>
              <a:blipFill>
                <a:blip r:embed="rId9"/>
                <a:stretch>
                  <a:fillRect l="-2952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E52BCEE-4700-E46B-D9CC-3C724797CFBB}"/>
              </a:ext>
            </a:extLst>
          </p:cNvPr>
          <p:cNvSpPr txBox="1"/>
          <p:nvPr/>
        </p:nvSpPr>
        <p:spPr>
          <a:xfrm>
            <a:off x="3502711" y="549941"/>
            <a:ext cx="4604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0000FF"/>
                </a:solidFill>
                <a:effectLst/>
              </a:rPr>
              <a:t>Shakiba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Theor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 Chem Acc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142</a:t>
            </a:r>
            <a:r>
              <a:rPr lang="en-US" sz="1400" dirty="0">
                <a:solidFill>
                  <a:srgbClr val="0000FF"/>
                </a:solidFill>
                <a:effectLst/>
              </a:rPr>
              <a:t> (8), 68. </a:t>
            </a:r>
          </a:p>
        </p:txBody>
      </p:sp>
    </p:spTree>
    <p:extLst>
      <p:ext uri="{BB962C8B-B14F-4D97-AF65-F5344CB8AC3E}">
        <p14:creationId xmlns:p14="http://schemas.microsoft.com/office/powerpoint/2010/main" val="1032463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1B13003-07BD-E416-AFE4-1812B9C9FB26}"/>
              </a:ext>
            </a:extLst>
          </p:cNvPr>
          <p:cNvSpPr/>
          <p:nvPr/>
        </p:nvSpPr>
        <p:spPr>
          <a:xfrm>
            <a:off x="4429338" y="5869858"/>
            <a:ext cx="6641785" cy="891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E4F095-EAA1-2E9B-FFC9-55388CD63D6A}"/>
                  </a:ext>
                </a:extLst>
              </p:cNvPr>
              <p:cNvSpPr txBox="1"/>
              <p:nvPr/>
            </p:nvSpPr>
            <p:spPr>
              <a:xfrm>
                <a:off x="449945" y="790637"/>
                <a:ext cx="10658168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" panose="02020603050405020304" pitchFamily="18" charset="0"/>
                    <a:ea typeface="Times New Roman" panose="02020603050405020304" pitchFamily="18" charset="0"/>
                  </a:rPr>
                  <a:t>Introduce the d</a:t>
                </a:r>
                <a:r>
                  <a:rPr lang="en-US" sz="1800" dirty="0"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ynamically-consistent (local diabatic) basis,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idea: </a:t>
                </a:r>
                <a:r>
                  <a:rPr lang="en-US" dirty="0">
                    <a:solidFill>
                      <a:srgbClr val="FF0000"/>
                    </a:solidFill>
                  </a:rPr>
                  <a:t>these basis functions preserve their identity as much as possible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E4F095-EAA1-2E9B-FFC9-55388CD63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45" y="790637"/>
                <a:ext cx="10658168" cy="681982"/>
              </a:xfrm>
              <a:prstGeom prst="rect">
                <a:avLst/>
              </a:prstGeom>
              <a:blipFill>
                <a:blip r:embed="rId2"/>
                <a:stretch>
                  <a:fillRect l="-515" t="-91964" b="-9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82CA4E-57C5-BA52-CF17-B9F59720C53D}"/>
                  </a:ext>
                </a:extLst>
              </p:cNvPr>
              <p:cNvSpPr txBox="1"/>
              <p:nvPr/>
            </p:nvSpPr>
            <p:spPr>
              <a:xfrm>
                <a:off x="4167685" y="2962031"/>
                <a:ext cx="501445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82CA4E-57C5-BA52-CF17-B9F59720C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685" y="2962031"/>
                <a:ext cx="5014450" cy="404983"/>
              </a:xfrm>
              <a:prstGeom prst="rect">
                <a:avLst/>
              </a:prstGeom>
              <a:blipFill>
                <a:blip r:embed="rId3"/>
                <a:stretch>
                  <a:fillRect l="-2676" t="-156061" b="-2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4850A5-1B6B-E1D7-986C-8B26C7FF967D}"/>
                  </a:ext>
                </a:extLst>
              </p:cNvPr>
              <p:cNvSpPr txBox="1"/>
              <p:nvPr/>
            </p:nvSpPr>
            <p:spPr>
              <a:xfrm>
                <a:off x="4105541" y="1945485"/>
                <a:ext cx="320531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64850A5-1B6B-E1D7-986C-8B26C7FF9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41" y="1945485"/>
                <a:ext cx="3205315" cy="404983"/>
              </a:xfrm>
              <a:prstGeom prst="rect">
                <a:avLst/>
              </a:prstGeom>
              <a:blipFill>
                <a:blip r:embed="rId4"/>
                <a:stretch>
                  <a:fillRect l="-7034" t="-153731" b="-228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A2B7A6-4502-31FF-CAA6-5ED7D846BDB6}"/>
                  </a:ext>
                </a:extLst>
              </p:cNvPr>
              <p:cNvSpPr txBox="1"/>
              <p:nvPr/>
            </p:nvSpPr>
            <p:spPr>
              <a:xfrm>
                <a:off x="430544" y="1748690"/>
                <a:ext cx="35614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Introduce the </a:t>
                </a:r>
                <a:r>
                  <a:rPr lang="en-US" b="1" dirty="0">
                    <a:solidFill>
                      <a:srgbClr val="0000FF"/>
                    </a:solidFill>
                  </a:rPr>
                  <a:t>basis re-projection</a:t>
                </a:r>
                <a:r>
                  <a:rPr lang="en-US" dirty="0"/>
                  <a:t>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it describes the adiabatic dynamics of the basis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A2B7A6-4502-31FF-CAA6-5ED7D846B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44" y="1748690"/>
                <a:ext cx="3561448" cy="923330"/>
              </a:xfrm>
              <a:prstGeom prst="rect">
                <a:avLst/>
              </a:prstGeom>
              <a:blipFill>
                <a:blip r:embed="rId5"/>
                <a:stretch>
                  <a:fillRect l="-1541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4BB401F-41DE-D863-74EF-FB2BDBCBF42E}"/>
                  </a:ext>
                </a:extLst>
              </p:cNvPr>
              <p:cNvSpPr txBox="1"/>
              <p:nvPr/>
            </p:nvSpPr>
            <p:spPr>
              <a:xfrm>
                <a:off x="5412063" y="3492551"/>
                <a:ext cx="2694038" cy="375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4BB401F-41DE-D863-74EF-FB2BDBCBF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63" y="3492551"/>
                <a:ext cx="2694038" cy="375039"/>
              </a:xfrm>
              <a:prstGeom prst="rect">
                <a:avLst/>
              </a:prstGeom>
              <a:blipFill>
                <a:blip r:embed="rId6"/>
                <a:stretch>
                  <a:fillRect t="-4918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764069-24ED-C0A8-5D38-86DDA5BFE5AF}"/>
                  </a:ext>
                </a:extLst>
              </p:cNvPr>
              <p:cNvSpPr txBox="1"/>
              <p:nvPr/>
            </p:nvSpPr>
            <p:spPr>
              <a:xfrm>
                <a:off x="9353458" y="2109811"/>
                <a:ext cx="1966451" cy="372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𝐿𝐷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764069-24ED-C0A8-5D38-86DDA5BFE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458" y="2109811"/>
                <a:ext cx="1966451" cy="372603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B125675-DFC6-030D-9565-93EB3FABDE39}"/>
              </a:ext>
            </a:extLst>
          </p:cNvPr>
          <p:cNvSpPr txBox="1"/>
          <p:nvPr/>
        </p:nvSpPr>
        <p:spPr>
          <a:xfrm>
            <a:off x="7177551" y="2577562"/>
            <a:ext cx="50144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Granucci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G, Persico M, </a:t>
            </a:r>
            <a:r>
              <a:rPr lang="en-US" sz="1400" dirty="0" err="1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Toniolo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A </a:t>
            </a:r>
            <a:r>
              <a:rPr lang="en-US" sz="1400" i="1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2001</a:t>
            </a:r>
            <a:r>
              <a:rPr lang="en-US" sz="1400" dirty="0">
                <a:solidFill>
                  <a:srgbClr val="0000FF"/>
                </a:solidFill>
                <a:effectLst/>
                <a:ea typeface="Calibri" panose="020F0502020204030204" pitchFamily="34" charset="0"/>
              </a:rPr>
              <a:t>, 114, 10608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6823A0-F2D9-DDCD-FD22-4CE41E8E8748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Derivation of Local Diabatization (LD) Approach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C33019-07D8-15EC-3DA1-71371EBD1603}"/>
              </a:ext>
            </a:extLst>
          </p:cNvPr>
          <p:cNvSpPr txBox="1"/>
          <p:nvPr/>
        </p:nvSpPr>
        <p:spPr>
          <a:xfrm>
            <a:off x="449945" y="3063258"/>
            <a:ext cx="3706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wavefunction should stay invariant </a:t>
            </a:r>
            <a:r>
              <a:rPr lang="en-US" dirty="0" err="1"/>
              <a:t>w.r.t.</a:t>
            </a:r>
            <a:r>
              <a:rPr lang="en-US" dirty="0"/>
              <a:t> the choice of the basis: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02B71A-8E2A-69DB-9E41-1E2BD031FDA2}"/>
              </a:ext>
            </a:extLst>
          </p:cNvPr>
          <p:cNvSpPr txBox="1"/>
          <p:nvPr/>
        </p:nvSpPr>
        <p:spPr>
          <a:xfrm>
            <a:off x="7865807" y="1609166"/>
            <a:ext cx="432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Closely related to the one in the LD  of </a:t>
            </a:r>
            <a:r>
              <a:rPr lang="en-US" dirty="0" err="1"/>
              <a:t>Granucci</a:t>
            </a:r>
            <a:r>
              <a:rPr lang="en-US" dirty="0"/>
              <a:t> et 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629143-321D-532A-3C1A-F8A29BF5D9DE}"/>
                  </a:ext>
                </a:extLst>
              </p:cNvPr>
              <p:cNvSpPr txBox="1"/>
              <p:nvPr/>
            </p:nvSpPr>
            <p:spPr>
              <a:xfrm>
                <a:off x="4807973" y="5968302"/>
                <a:ext cx="6122347" cy="656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𝑇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,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629143-321D-532A-3C1A-F8A29BF5D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973" y="5968302"/>
                <a:ext cx="6122347" cy="656655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E09F88-17DC-51F9-7365-A6D2C289BB07}"/>
                  </a:ext>
                </a:extLst>
              </p:cNvPr>
              <p:cNvSpPr txBox="1"/>
              <p:nvPr/>
            </p:nvSpPr>
            <p:spPr>
              <a:xfrm>
                <a:off x="3991992" y="4222985"/>
                <a:ext cx="75413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E09F88-17DC-51F9-7365-A6D2C289B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992" y="4222985"/>
                <a:ext cx="7541342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8EDF9B-FE2F-0BE7-706C-E7CA5CF6E648}"/>
                  </a:ext>
                </a:extLst>
              </p:cNvPr>
              <p:cNvSpPr txBox="1"/>
              <p:nvPr/>
            </p:nvSpPr>
            <p:spPr>
              <a:xfrm>
                <a:off x="4295606" y="4620091"/>
                <a:ext cx="3505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A8EDF9B-FE2F-0BE7-706C-E7CA5CF6E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606" y="4620091"/>
                <a:ext cx="3505772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5FCF3D6-6DA4-4C98-0E54-0395FEB63441}"/>
              </a:ext>
            </a:extLst>
          </p:cNvPr>
          <p:cNvSpPr txBox="1"/>
          <p:nvPr/>
        </p:nvSpPr>
        <p:spPr>
          <a:xfrm>
            <a:off x="457290" y="4572008"/>
            <a:ext cx="3972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Time-overlap (transition density matrix):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C020F8-F743-E7E7-220C-F688A056BED2}"/>
              </a:ext>
            </a:extLst>
          </p:cNvPr>
          <p:cNvSpPr txBox="1"/>
          <p:nvPr/>
        </p:nvSpPr>
        <p:spPr>
          <a:xfrm>
            <a:off x="457290" y="4243293"/>
            <a:ext cx="263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definitions above: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FEF3B9-825D-9EF3-4EBB-5FADF6CA2089}"/>
                  </a:ext>
                </a:extLst>
              </p:cNvPr>
              <p:cNvSpPr txBox="1"/>
              <p:nvPr/>
            </p:nvSpPr>
            <p:spPr>
              <a:xfrm>
                <a:off x="4409060" y="5024700"/>
                <a:ext cx="3505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FEF3B9-825D-9EF3-4EBB-5FADF6CA2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060" y="5024700"/>
                <a:ext cx="350577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766B00E-14E9-33A2-79F1-B8B24E2C12EE}"/>
              </a:ext>
            </a:extLst>
          </p:cNvPr>
          <p:cNvSpPr txBox="1"/>
          <p:nvPr/>
        </p:nvSpPr>
        <p:spPr>
          <a:xfrm>
            <a:off x="457290" y="4968688"/>
            <a:ext cx="353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Solving for the re-projection matrix: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AD5700-CE94-F2E2-C2EB-512675F5A8B9}"/>
              </a:ext>
            </a:extLst>
          </p:cNvPr>
          <p:cNvSpPr txBox="1"/>
          <p:nvPr/>
        </p:nvSpPr>
        <p:spPr>
          <a:xfrm>
            <a:off x="7889612" y="5059977"/>
            <a:ext cx="426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this leads to fast accumulation of errors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43E4B3-D170-EEF0-E1EE-9726B3A9684B}"/>
              </a:ext>
            </a:extLst>
          </p:cNvPr>
          <p:cNvSpPr txBox="1"/>
          <p:nvPr/>
        </p:nvSpPr>
        <p:spPr>
          <a:xfrm>
            <a:off x="4409060" y="5425195"/>
            <a:ext cx="644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so, should not evolve the re-projection matrix globally, only locally: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781104-69F1-0F58-0D80-94CBA85A0CDE}"/>
              </a:ext>
            </a:extLst>
          </p:cNvPr>
          <p:cNvSpPr txBox="1"/>
          <p:nvPr/>
        </p:nvSpPr>
        <p:spPr>
          <a:xfrm>
            <a:off x="589935" y="6131015"/>
            <a:ext cx="3137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Local diabatization assumption</a:t>
            </a:r>
          </a:p>
        </p:txBody>
      </p:sp>
      <p:pic>
        <p:nvPicPr>
          <p:cNvPr id="45" name="Picture 7" descr="Image result for ub logo">
            <a:extLst>
              <a:ext uri="{FF2B5EF4-FFF2-40B4-BE49-F238E27FC236}">
                <a16:creationId xmlns:a16="http://schemas.microsoft.com/office/drawing/2014/main" id="{C0394375-E417-3A5A-2970-F43D9F5F2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4301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1D5FD77-2FC4-EEF4-4D54-CBB9E7B53F22}"/>
              </a:ext>
            </a:extLst>
          </p:cNvPr>
          <p:cNvSpPr/>
          <p:nvPr/>
        </p:nvSpPr>
        <p:spPr>
          <a:xfrm>
            <a:off x="4429338" y="5604386"/>
            <a:ext cx="6641785" cy="891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11EA39-E6AA-3217-1B6B-6FDBDBDEA0D3}"/>
                  </a:ext>
                </a:extLst>
              </p:cNvPr>
              <p:cNvSpPr txBox="1"/>
              <p:nvPr/>
            </p:nvSpPr>
            <p:spPr>
              <a:xfrm>
                <a:off x="4105541" y="5702830"/>
                <a:ext cx="6824780" cy="656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𝑇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,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Δ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" panose="020206030504050203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" panose="020206030504050203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Δ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" panose="02020603050405020304" pitchFamily="18" charset="0"/>
                            </a:rPr>
                            <m:t>−1/2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11EA39-E6AA-3217-1B6B-6FDBDBDEA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541" y="5702830"/>
                <a:ext cx="6824780" cy="656655"/>
              </a:xfrm>
              <a:prstGeom prst="rect">
                <a:avLst/>
              </a:prstGeom>
              <a:blipFill>
                <a:blip r:embed="rId2"/>
                <a:stretch>
                  <a:fillRect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458E65-CFF3-7504-A0D9-E3A80C166132}"/>
                  </a:ext>
                </a:extLst>
              </p:cNvPr>
              <p:cNvSpPr txBox="1"/>
              <p:nvPr/>
            </p:nvSpPr>
            <p:spPr>
              <a:xfrm>
                <a:off x="4581832" y="788727"/>
                <a:ext cx="42278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458E65-CFF3-7504-A0D9-E3A80C166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832" y="788727"/>
                <a:ext cx="42278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251299-931E-E0EF-3FC1-D85507EB8739}"/>
              </a:ext>
            </a:extLst>
          </p:cNvPr>
          <p:cNvSpPr txBox="1"/>
          <p:nvPr/>
        </p:nvSpPr>
        <p:spPr>
          <a:xfrm>
            <a:off x="462116" y="916711"/>
            <a:ext cx="3706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However, this transformation will not preserve the wavefunction norm: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A9343F-883B-6B97-48F9-CAACFF820D63}"/>
                  </a:ext>
                </a:extLst>
              </p:cNvPr>
              <p:cNvSpPr txBox="1"/>
              <p:nvPr/>
            </p:nvSpPr>
            <p:spPr>
              <a:xfrm>
                <a:off x="4306529" y="1158059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A9343F-883B-6B97-48F9-CAACFF82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29" y="1158059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 t="-156061" b="-2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ADD535-C2C7-9983-255A-74B5B4526AAA}"/>
                  </a:ext>
                </a:extLst>
              </p:cNvPr>
              <p:cNvSpPr txBox="1"/>
              <p:nvPr/>
            </p:nvSpPr>
            <p:spPr>
              <a:xfrm>
                <a:off x="3111910" y="1932374"/>
                <a:ext cx="7290620" cy="926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" panose="020206030504050203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+</m:t>
                            </m:r>
                          </m:sup>
                        </m:sSup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" panose="020206030504050203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sSup>
                          <m:sSup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" panose="020206030504050203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𝑇</m:t>
                                </m:r>
                              </m:e>
                            </m:d>
                          </m:e>
                          <m: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" panose="020206030504050203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≠ </m:t>
                    </m:r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𝑇𝑟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𝝍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ADD535-C2C7-9983-255A-74B5B452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910" y="1932374"/>
                <a:ext cx="7290620" cy="926216"/>
              </a:xfrm>
              <a:prstGeom prst="rect">
                <a:avLst/>
              </a:prstGeom>
              <a:blipFill>
                <a:blip r:embed="rId5"/>
                <a:stretch>
                  <a:fillRect b="-5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014639-7319-5CE2-3420-60696CA0F666}"/>
                  </a:ext>
                </a:extLst>
              </p:cNvPr>
              <p:cNvSpPr txBox="1"/>
              <p:nvPr/>
            </p:nvSpPr>
            <p:spPr>
              <a:xfrm>
                <a:off x="462116" y="3261816"/>
                <a:ext cx="10589342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Normalize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matrix: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̃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acc>
                      <m:accPr>
                        <m:chr m:val="̃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014639-7319-5CE2-3420-60696CA0F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6" y="3261816"/>
                <a:ext cx="10589342" cy="374270"/>
              </a:xfrm>
              <a:prstGeom prst="rect">
                <a:avLst/>
              </a:prstGeom>
              <a:blipFill>
                <a:blip r:embed="rId6"/>
                <a:stretch>
                  <a:fillRect l="-51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6664E4-32EF-1D9E-475E-D2D31172EF48}"/>
                  </a:ext>
                </a:extLst>
              </p:cNvPr>
              <p:cNvSpPr txBox="1"/>
              <p:nvPr/>
            </p:nvSpPr>
            <p:spPr>
              <a:xfrm>
                <a:off x="462116" y="4212698"/>
                <a:ext cx="7561007" cy="477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chosen as: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6664E4-32EF-1D9E-475E-D2D31172E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6" y="4212698"/>
                <a:ext cx="7561007" cy="477631"/>
              </a:xfrm>
              <a:prstGeom prst="rect">
                <a:avLst/>
              </a:prstGeom>
              <a:blipFill>
                <a:blip r:embed="rId7"/>
                <a:stretch>
                  <a:fillRect l="-726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3493CA-3538-EF88-FB86-0BCD67693512}"/>
                  </a:ext>
                </a:extLst>
              </p:cNvPr>
              <p:cNvSpPr txBox="1"/>
              <p:nvPr/>
            </p:nvSpPr>
            <p:spPr>
              <a:xfrm>
                <a:off x="462116" y="4833336"/>
                <a:ext cx="8524568" cy="477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So the normalized matrix is: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3493CA-3538-EF88-FB86-0BCD67693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6" y="4833336"/>
                <a:ext cx="8524568" cy="477631"/>
              </a:xfrm>
              <a:prstGeom prst="rect">
                <a:avLst/>
              </a:prstGeom>
              <a:blipFill>
                <a:blip r:embed="rId8"/>
                <a:stretch>
                  <a:fillRect l="-644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4B568D-EC60-FB96-24E4-B60379E3C7FE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Lowdin normalization in the LD approach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93885-14C2-9957-EF5D-DC81BEA71124}"/>
              </a:ext>
            </a:extLst>
          </p:cNvPr>
          <p:cNvSpPr txBox="1"/>
          <p:nvPr/>
        </p:nvSpPr>
        <p:spPr>
          <a:xfrm>
            <a:off x="589935" y="5865543"/>
            <a:ext cx="3283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Local diabatization with </a:t>
            </a:r>
            <a:r>
              <a:rPr lang="en-US" b="1" dirty="0" err="1">
                <a:solidFill>
                  <a:srgbClr val="FF0000"/>
                </a:solidFill>
              </a:rPr>
              <a:t>Lowdin</a:t>
            </a:r>
            <a:r>
              <a:rPr lang="en-US" b="1" dirty="0">
                <a:solidFill>
                  <a:srgbClr val="FF0000"/>
                </a:solidFill>
              </a:rPr>
              <a:t> normalization</a:t>
            </a:r>
          </a:p>
        </p:txBody>
      </p:sp>
      <p:pic>
        <p:nvPicPr>
          <p:cNvPr id="23" name="Picture 7" descr="Image result for ub logo">
            <a:extLst>
              <a:ext uri="{FF2B5EF4-FFF2-40B4-BE49-F238E27FC236}">
                <a16:creationId xmlns:a16="http://schemas.microsoft.com/office/drawing/2014/main" id="{F7958D1C-FFE1-66BA-4B3E-943BC25D3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5112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7785025-68F4-2D8C-3364-FBA019B0E8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41" y="3968476"/>
            <a:ext cx="3404967" cy="19156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64FDA2-2D84-C62D-D48D-90186899669E}"/>
                  </a:ext>
                </a:extLst>
              </p:cNvPr>
              <p:cNvSpPr txBox="1"/>
              <p:nvPr/>
            </p:nvSpPr>
            <p:spPr>
              <a:xfrm>
                <a:off x="91669" y="1015500"/>
                <a:ext cx="2108964" cy="665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64FDA2-2D84-C62D-D48D-90186899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9" y="1015500"/>
                <a:ext cx="2108964" cy="6658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5843DD-003F-C3C9-D2B7-C07C3E22D3D0}"/>
                  </a:ext>
                </a:extLst>
              </p:cNvPr>
              <p:cNvSpPr txBox="1"/>
              <p:nvPr/>
            </p:nvSpPr>
            <p:spPr>
              <a:xfrm>
                <a:off x="3274827" y="1741885"/>
                <a:ext cx="890165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5843DD-003F-C3C9-D2B7-C07C3E22D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827" y="1741885"/>
                <a:ext cx="890165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BF0F56-34BD-A1C9-38EE-05B31BEA9A12}"/>
                  </a:ext>
                </a:extLst>
              </p:cNvPr>
              <p:cNvSpPr txBox="1"/>
              <p:nvPr/>
            </p:nvSpPr>
            <p:spPr>
              <a:xfrm>
                <a:off x="2714846" y="2704836"/>
                <a:ext cx="956829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BF0F56-34BD-A1C9-38EE-05B31BEA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846" y="2704836"/>
                <a:ext cx="9568290" cy="576376"/>
              </a:xfrm>
              <a:prstGeom prst="rect">
                <a:avLst/>
              </a:prstGeom>
              <a:blipFill>
                <a:blip r:embed="rId5"/>
                <a:stretch>
                  <a:fillRect t="-122340" b="-188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621DC0-0010-AE61-DB44-DF228FCEFDB2}"/>
                  </a:ext>
                </a:extLst>
              </p:cNvPr>
              <p:cNvSpPr txBox="1"/>
              <p:nvPr/>
            </p:nvSpPr>
            <p:spPr>
              <a:xfrm>
                <a:off x="7142881" y="955618"/>
                <a:ext cx="4168083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621DC0-0010-AE61-DB44-DF228FCEF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881" y="955618"/>
                <a:ext cx="4168083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729F32-917C-9143-BE12-3676D9E0F6D4}"/>
                  </a:ext>
                </a:extLst>
              </p:cNvPr>
              <p:cNvSpPr txBox="1"/>
              <p:nvPr/>
            </p:nvSpPr>
            <p:spPr>
              <a:xfrm>
                <a:off x="5741581" y="4157350"/>
                <a:ext cx="5659019" cy="763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𝑠𝑖𝑔𝑛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𝑠𝑖𝑔𝑛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729F32-917C-9143-BE12-3676D9E0F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581" y="4157350"/>
                <a:ext cx="5659019" cy="7632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7" descr="Image result for ub logo">
            <a:extLst>
              <a:ext uri="{FF2B5EF4-FFF2-40B4-BE49-F238E27FC236}">
                <a16:creationId xmlns:a16="http://schemas.microsoft.com/office/drawing/2014/main" id="{0F1CED96-D629-D8A7-2F10-C086FFB0D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12818-15F6-F943-0766-76D0648567C9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F-tracking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FFBA7-6012-E43C-6782-DEBD492544C4}"/>
              </a:ext>
            </a:extLst>
          </p:cNvPr>
          <p:cNvSpPr txBox="1"/>
          <p:nvPr/>
        </p:nvSpPr>
        <p:spPr>
          <a:xfrm>
            <a:off x="2360428" y="118921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09FE6-5856-85F9-CBB2-A91243281A2F}"/>
              </a:ext>
            </a:extLst>
          </p:cNvPr>
          <p:cNvSpPr txBox="1"/>
          <p:nvPr/>
        </p:nvSpPr>
        <p:spPr>
          <a:xfrm>
            <a:off x="3274827" y="1001573"/>
            <a:ext cx="35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of the coordinate under the action of given force: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7C854-EA77-AEE1-ED7C-0979797E2BDF}"/>
              </a:ext>
            </a:extLst>
          </p:cNvPr>
          <p:cNvSpPr txBox="1"/>
          <p:nvPr/>
        </p:nvSpPr>
        <p:spPr>
          <a:xfrm>
            <a:off x="230065" y="2000232"/>
            <a:ext cx="2031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of energy: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9247-5B31-2A8D-1EDF-F6EFB7895C25}"/>
              </a:ext>
            </a:extLst>
          </p:cNvPr>
          <p:cNvSpPr txBox="1"/>
          <p:nvPr/>
        </p:nvSpPr>
        <p:spPr>
          <a:xfrm>
            <a:off x="230065" y="2811252"/>
            <a:ext cx="245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of energy gap: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D64360-0D5A-E34E-DA4D-673F99CC53E7}"/>
                  </a:ext>
                </a:extLst>
              </p:cNvPr>
              <p:cNvSpPr txBox="1"/>
              <p:nvPr/>
            </p:nvSpPr>
            <p:spPr>
              <a:xfrm>
                <a:off x="681407" y="6154190"/>
                <a:ext cx="2112472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Gap is smaller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 changes sign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D64360-0D5A-E34E-DA4D-673F99CC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7" y="6154190"/>
                <a:ext cx="2112472" cy="679930"/>
              </a:xfrm>
              <a:prstGeom prst="rect">
                <a:avLst/>
              </a:prstGeom>
              <a:blipFill>
                <a:blip r:embed="rId9"/>
                <a:stretch>
                  <a:fillRect l="-2601" t="-3604" r="-3179" b="-14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DF4C10-408F-AC44-1155-DAF5BACE7171}"/>
                  </a:ext>
                </a:extLst>
              </p:cNvPr>
              <p:cNvSpPr txBox="1"/>
              <p:nvPr/>
            </p:nvSpPr>
            <p:spPr>
              <a:xfrm>
                <a:off x="2958561" y="6129523"/>
                <a:ext cx="2261328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Gap is large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 does not change sign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DF4C10-408F-AC44-1155-DAF5BACE7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561" y="6129523"/>
                <a:ext cx="2261328" cy="679930"/>
              </a:xfrm>
              <a:prstGeom prst="rect">
                <a:avLst/>
              </a:prstGeom>
              <a:blipFill>
                <a:blip r:embed="rId10"/>
                <a:stretch>
                  <a:fillRect l="-2156" t="-2679" b="-13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917D735-96CF-6268-8D16-8577E0EE1A1B}"/>
              </a:ext>
            </a:extLst>
          </p:cNvPr>
          <p:cNvSpPr txBox="1"/>
          <p:nvPr/>
        </p:nvSpPr>
        <p:spPr>
          <a:xfrm>
            <a:off x="5928725" y="3529480"/>
            <a:ext cx="5993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matrix to be used in the </a:t>
            </a:r>
            <a:r>
              <a:rPr lang="en-US" dirty="0" err="1"/>
              <a:t>Munkres</a:t>
            </a:r>
            <a:r>
              <a:rPr lang="en-US" dirty="0"/>
              <a:t>-Kuhn (Hungarian) maximization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F72F3B-800A-BDD5-1DDA-28A46AB5EBA3}"/>
                  </a:ext>
                </a:extLst>
              </p:cNvPr>
              <p:cNvSpPr txBox="1"/>
              <p:nvPr/>
            </p:nvSpPr>
            <p:spPr>
              <a:xfrm>
                <a:off x="5919094" y="5284710"/>
                <a:ext cx="6257383" cy="1024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 - changes sign: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favors state index permutation</a:t>
                </a:r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dirty="0"/>
                  <a:t> - does not change sign: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Diagonal elements: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F72F3B-800A-BDD5-1DDA-28A46AB5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094" y="5284710"/>
                <a:ext cx="6257383" cy="1024127"/>
              </a:xfrm>
              <a:prstGeom prst="rect">
                <a:avLst/>
              </a:prstGeom>
              <a:blipFill>
                <a:blip r:embed="rId11"/>
                <a:stretch>
                  <a:fillRect l="-877" t="-2976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F899340-FCC6-6F19-7EE5-8B3A059F1F8B}"/>
              </a:ext>
            </a:extLst>
          </p:cNvPr>
          <p:cNvSpPr txBox="1"/>
          <p:nvPr/>
        </p:nvSpPr>
        <p:spPr>
          <a:xfrm>
            <a:off x="4501908" y="629131"/>
            <a:ext cx="2853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A.V. </a:t>
            </a:r>
            <a:r>
              <a:rPr lang="en-US" sz="1400" i="1" dirty="0">
                <a:solidFill>
                  <a:srgbClr val="0000FF"/>
                </a:solidFill>
              </a:rPr>
              <a:t>JPCL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2024</a:t>
            </a:r>
            <a:r>
              <a:rPr lang="en-US" sz="1400" dirty="0">
                <a:solidFill>
                  <a:srgbClr val="0000FF"/>
                </a:solidFill>
              </a:rPr>
              <a:t>  15, 11944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E937E2-8098-80E7-9919-E95B95F3D28B}"/>
              </a:ext>
            </a:extLst>
          </p:cNvPr>
          <p:cNvSpPr txBox="1"/>
          <p:nvPr/>
        </p:nvSpPr>
        <p:spPr>
          <a:xfrm>
            <a:off x="336676" y="3281212"/>
            <a:ext cx="47563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/>
              <a:t>The idea:</a:t>
            </a:r>
            <a:r>
              <a:rPr lang="en-US" sz="1400" dirty="0"/>
              <a:t> Need to consider the extrapolated change of the energy gap under the motion with given forces compared to the actual gap change</a:t>
            </a:r>
          </a:p>
        </p:txBody>
      </p:sp>
    </p:spTree>
    <p:extLst>
      <p:ext uri="{BB962C8B-B14F-4D97-AF65-F5344CB8AC3E}">
        <p14:creationId xmlns:p14="http://schemas.microsoft.com/office/powerpoint/2010/main" val="152739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C95716-40B2-23BF-5D04-0EEC0B927BE9}"/>
                  </a:ext>
                </a:extLst>
              </p:cNvPr>
              <p:cNvSpPr txBox="1"/>
              <p:nvPr/>
            </p:nvSpPr>
            <p:spPr>
              <a:xfrm>
                <a:off x="6751190" y="3159274"/>
                <a:ext cx="4636237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C95716-40B2-23BF-5D04-0EEC0B92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190" y="3159274"/>
                <a:ext cx="4636237" cy="5068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784D6A-1BE8-0DD3-F344-09AA931508ED}"/>
                  </a:ext>
                </a:extLst>
              </p:cNvPr>
              <p:cNvSpPr txBox="1"/>
              <p:nvPr/>
            </p:nvSpPr>
            <p:spPr>
              <a:xfrm>
                <a:off x="6730251" y="3841321"/>
                <a:ext cx="2965897" cy="409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784D6A-1BE8-0DD3-F344-09AA93150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251" y="3841321"/>
                <a:ext cx="2965897" cy="409215"/>
              </a:xfrm>
              <a:prstGeom prst="rect">
                <a:avLst/>
              </a:prstGeom>
              <a:blipFill>
                <a:blip r:embed="rId3"/>
                <a:stretch>
                  <a:fillRect t="-2985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EA420-EB45-E005-5FD5-08BE03FF9F09}"/>
                  </a:ext>
                </a:extLst>
              </p:cNvPr>
              <p:cNvSpPr txBox="1"/>
              <p:nvPr/>
            </p:nvSpPr>
            <p:spPr>
              <a:xfrm>
                <a:off x="6774939" y="4425713"/>
                <a:ext cx="2883291" cy="409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EA420-EB45-E005-5FD5-08BE03FF9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939" y="4425713"/>
                <a:ext cx="2883291" cy="409215"/>
              </a:xfrm>
              <a:prstGeom prst="rect">
                <a:avLst/>
              </a:prstGeom>
              <a:blipFill>
                <a:blip r:embed="rId4"/>
                <a:stretch>
                  <a:fillRect t="-2985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66BAB07-5808-639D-6E4A-D97D08D1C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60" y="3159274"/>
            <a:ext cx="5433124" cy="3165852"/>
          </a:xfrm>
          <a:prstGeom prst="rect">
            <a:avLst/>
          </a:prstGeom>
        </p:spPr>
      </p:pic>
      <p:pic>
        <p:nvPicPr>
          <p:cNvPr id="3" name="Picture 7" descr="Image result for ub logo">
            <a:extLst>
              <a:ext uri="{FF2B5EF4-FFF2-40B4-BE49-F238E27FC236}">
                <a16:creationId xmlns:a16="http://schemas.microsoft.com/office/drawing/2014/main" id="{936A530B-9724-2FBD-6A14-6D206E916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318FC3-39A5-62CF-8E53-C99B0D066DA8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Simple phase correction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680D9-2DEA-98BA-3D41-27BF41ACDC5B}"/>
              </a:ext>
            </a:extLst>
          </p:cNvPr>
          <p:cNvSpPr txBox="1"/>
          <p:nvPr/>
        </p:nvSpPr>
        <p:spPr>
          <a:xfrm>
            <a:off x="174186" y="1101519"/>
            <a:ext cx="7526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still assume time-overlaps are not available, but the </a:t>
            </a:r>
            <a:r>
              <a:rPr lang="en-US" dirty="0" err="1"/>
              <a:t>tNACs</a:t>
            </a:r>
            <a:r>
              <a:rPr lang="en-US" dirty="0"/>
              <a:t>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available </a:t>
            </a:r>
            <a:r>
              <a:rPr lang="en-US" dirty="0" err="1"/>
              <a:t>tNACs</a:t>
            </a:r>
            <a:r>
              <a:rPr lang="en-US" dirty="0"/>
              <a:t> may still have inconsistent 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F-tracking of the states does not fix the phase fluctuations in </a:t>
            </a:r>
            <a:r>
              <a:rPr lang="en-US" dirty="0" err="1"/>
              <a:t>tNACs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Can we use the </a:t>
            </a:r>
            <a:r>
              <a:rPr lang="en-US" b="1" dirty="0" err="1">
                <a:solidFill>
                  <a:srgbClr val="FF0000"/>
                </a:solidFill>
              </a:rPr>
              <a:t>tNAC</a:t>
            </a:r>
            <a:r>
              <a:rPr lang="en-US" b="1" dirty="0">
                <a:solidFill>
                  <a:srgbClr val="FF0000"/>
                </a:solidFill>
              </a:rPr>
              <a:t> data to fix the signs?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D3308-88E3-B52F-F197-18DCF0FD14D4}"/>
              </a:ext>
            </a:extLst>
          </p:cNvPr>
          <p:cNvSpPr txBox="1"/>
          <p:nvPr/>
        </p:nvSpPr>
        <p:spPr>
          <a:xfrm>
            <a:off x="739676" y="2337766"/>
            <a:ext cx="6094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00FF"/>
                </a:solidFill>
              </a:rPr>
              <a:t>The idea:</a:t>
            </a:r>
            <a:r>
              <a:rPr lang="en-US" dirty="0"/>
              <a:t> while passing the intersection, we want the </a:t>
            </a:r>
            <a:r>
              <a:rPr lang="en-US" dirty="0" err="1"/>
              <a:t>tNAC</a:t>
            </a:r>
            <a:r>
              <a:rPr lang="en-US" dirty="0"/>
              <a:t> not change its sign (be continuous).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6BCE7-3A19-B869-CCBA-0651A5CB2381}"/>
              </a:ext>
            </a:extLst>
          </p:cNvPr>
          <p:cNvSpPr txBox="1"/>
          <p:nvPr/>
        </p:nvSpPr>
        <p:spPr>
          <a:xfrm>
            <a:off x="6422065" y="5304010"/>
            <a:ext cx="5769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Limitation: </a:t>
            </a:r>
            <a:r>
              <a:rPr lang="en-US" dirty="0"/>
              <a:t>if the crossing region is not localized, the </a:t>
            </a:r>
            <a:r>
              <a:rPr lang="en-US" dirty="0" err="1"/>
              <a:t>tNAC</a:t>
            </a:r>
            <a:r>
              <a:rPr lang="en-US" dirty="0"/>
              <a:t> may be changing sign in a continuous way. Then the sign alignment may be incorrect.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A4DE4-0D24-220E-93E3-E56FB1095BA9}"/>
              </a:ext>
            </a:extLst>
          </p:cNvPr>
          <p:cNvSpPr txBox="1"/>
          <p:nvPr/>
        </p:nvSpPr>
        <p:spPr>
          <a:xfrm>
            <a:off x="4259141" y="654969"/>
            <a:ext cx="2853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A.V. </a:t>
            </a:r>
            <a:r>
              <a:rPr lang="en-US" sz="1400" i="1" dirty="0">
                <a:solidFill>
                  <a:srgbClr val="0000FF"/>
                </a:solidFill>
              </a:rPr>
              <a:t>JPCL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2024</a:t>
            </a:r>
            <a:r>
              <a:rPr lang="en-US" sz="1400" dirty="0">
                <a:solidFill>
                  <a:srgbClr val="0000FF"/>
                </a:solidFill>
              </a:rPr>
              <a:t>  15, 11944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310C9-A7AB-372F-7AB1-CCF18561FF9B}"/>
              </a:ext>
            </a:extLst>
          </p:cNvPr>
          <p:cNvSpPr txBox="1"/>
          <p:nvPr/>
        </p:nvSpPr>
        <p:spPr>
          <a:xfrm>
            <a:off x="8221372" y="1446629"/>
            <a:ext cx="3697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do_nac_phase_correction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dirty="0"/>
              <a:t>    Options:</a:t>
            </a:r>
          </a:p>
          <a:p>
            <a:r>
              <a:rPr lang="en-US" dirty="0"/>
              <a:t>      - 0: no correction [ default ]</a:t>
            </a:r>
          </a:p>
          <a:p>
            <a:r>
              <a:rPr lang="en-US" dirty="0"/>
              <a:t>      - 1: do this correction</a:t>
            </a:r>
          </a:p>
        </p:txBody>
      </p:sp>
    </p:spTree>
    <p:extLst>
      <p:ext uri="{BB962C8B-B14F-4D97-AF65-F5344CB8AC3E}">
        <p14:creationId xmlns:p14="http://schemas.microsoft.com/office/powerpoint/2010/main" val="2873512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104231" y="2462005"/>
                <a:ext cx="2365391" cy="750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231" y="2462005"/>
                <a:ext cx="2365391" cy="750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71010" y="4332310"/>
                <a:ext cx="2579424" cy="408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010" y="4332310"/>
                <a:ext cx="2579424" cy="408830"/>
              </a:xfrm>
              <a:prstGeom prst="rect">
                <a:avLst/>
              </a:prstGeom>
              <a:blipFill>
                <a:blip r:embed="rId3"/>
                <a:stretch>
                  <a:fillRect t="-152239" r="-21277" b="-2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8737" y="5564811"/>
                <a:ext cx="7121810" cy="411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37" y="5564811"/>
                <a:ext cx="7121810" cy="411844"/>
              </a:xfrm>
              <a:prstGeom prst="rect">
                <a:avLst/>
              </a:prstGeom>
              <a:blipFill>
                <a:blip r:embed="rId4"/>
                <a:stretch>
                  <a:fillRect t="-152239" b="-2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71010" y="3923480"/>
                <a:ext cx="2417264" cy="408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010" y="3923480"/>
                <a:ext cx="2417264" cy="408830"/>
              </a:xfrm>
              <a:prstGeom prst="rect">
                <a:avLst/>
              </a:prstGeom>
              <a:blipFill>
                <a:blip r:embed="rId5"/>
                <a:stretch>
                  <a:fillRect t="-152239" r="-22980" b="-229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03422" y="3390558"/>
                <a:ext cx="2243499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𝜓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22" y="3390558"/>
                <a:ext cx="2243499" cy="402354"/>
              </a:xfrm>
              <a:prstGeom prst="rect">
                <a:avLst/>
              </a:prstGeom>
              <a:blipFill>
                <a:blip r:embed="rId6"/>
                <a:stretch>
                  <a:fillRect t="-156061" r="-21196" b="-2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89732" y="4090343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Indeed: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129059" y="3376268"/>
                <a:ext cx="2453364" cy="3935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059" y="3376268"/>
                <a:ext cx="2453364" cy="393569"/>
              </a:xfrm>
              <a:prstGeom prst="rect">
                <a:avLst/>
              </a:prstGeom>
              <a:blipFill>
                <a:blip r:embed="rId7"/>
                <a:stretch>
                  <a:fillRect t="-1563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97896" y="810253"/>
                <a:ext cx="5025118" cy="67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896" y="810253"/>
                <a:ext cx="5025118" cy="6737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81767" y="2837781"/>
            <a:ext cx="35352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AVA. </a:t>
            </a:r>
            <a:r>
              <a:rPr lang="en-US" sz="1400" i="1" dirty="0">
                <a:solidFill>
                  <a:srgbClr val="0000FF"/>
                </a:solidFill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2018</a:t>
            </a:r>
            <a:r>
              <a:rPr lang="en-US" sz="1400" dirty="0">
                <a:solidFill>
                  <a:srgbClr val="0000FF"/>
                </a:solidFill>
              </a:rPr>
              <a:t>  9, 6096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5854" y="1671804"/>
            <a:ext cx="4929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states are defined only up to a complex phase!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25074" y="2430800"/>
            <a:ext cx="1896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rgbClr val="000099"/>
                </a:solidFill>
                <a:latin typeface="+mn-lt"/>
              </a:rPr>
              <a:t>Phase correction: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277" y="487907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5622" y="837863"/>
            <a:ext cx="27825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Hammes-Schiffer</a:t>
            </a:r>
            <a:r>
              <a:rPr lang="en-US" sz="1400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, S.; Tully, J. C. </a:t>
            </a:r>
            <a:r>
              <a:rPr lang="en-US" sz="1400" i="1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1994</a:t>
            </a:r>
            <a:r>
              <a:rPr lang="en-US" sz="1400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101</a:t>
            </a:r>
            <a:r>
              <a:rPr lang="en-US" sz="1400" dirty="0">
                <a:solidFill>
                  <a:srgbClr val="0000FF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, 4657–4667</a:t>
            </a:r>
            <a:endParaRPr lang="en-US" sz="1400" dirty="0">
              <a:solidFill>
                <a:srgbClr val="0000FF"/>
              </a:solidFill>
            </a:endParaRPr>
          </a:p>
        </p:txBody>
      </p:sp>
      <p:pic>
        <p:nvPicPr>
          <p:cNvPr id="12" name="Picture 7" descr="Image result for ub logo">
            <a:extLst>
              <a:ext uri="{FF2B5EF4-FFF2-40B4-BE49-F238E27FC236}">
                <a16:creationId xmlns:a16="http://schemas.microsoft.com/office/drawing/2014/main" id="{4749BA82-BD67-6F86-3D31-0857B143C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B24BD8-2E77-9C61-4798-53E8AC870CED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Simple phase correction approach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16542-2DA6-1386-D087-69D77277F2C2}"/>
              </a:ext>
            </a:extLst>
          </p:cNvPr>
          <p:cNvSpPr txBox="1"/>
          <p:nvPr/>
        </p:nvSpPr>
        <p:spPr>
          <a:xfrm>
            <a:off x="6958120" y="2496273"/>
            <a:ext cx="501514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000FF"/>
                </a:solidFill>
              </a:rPr>
              <a:t>do_phase_correction</a:t>
            </a:r>
            <a:endParaRPr lang="en-US" sz="1600" b="1" dirty="0">
              <a:solidFill>
                <a:srgbClr val="0000FF"/>
              </a:solidFill>
            </a:endParaRPr>
          </a:p>
          <a:p>
            <a:endParaRPr lang="en-US" sz="1600" dirty="0"/>
          </a:p>
          <a:p>
            <a:r>
              <a:rPr lang="en-US" sz="1600" dirty="0"/>
              <a:t> Options: </a:t>
            </a:r>
          </a:p>
          <a:p>
            <a:r>
              <a:rPr lang="en-US" sz="1600" dirty="0"/>
              <a:t>  - 0: no phase correction</a:t>
            </a:r>
          </a:p>
          <a:p>
            <a:r>
              <a:rPr lang="en-US" sz="1600" dirty="0"/>
              <a:t> - 1: according to our phase correction algorithm [ default ]</a:t>
            </a:r>
          </a:p>
          <a:p>
            <a:endParaRPr lang="en-US" sz="1600" dirty="0"/>
          </a:p>
          <a:p>
            <a:r>
              <a:rPr lang="en-US" sz="1600" b="1" dirty="0" err="1">
                <a:solidFill>
                  <a:srgbClr val="0000FF"/>
                </a:solidFill>
              </a:rPr>
              <a:t>phase_correction_tol</a:t>
            </a:r>
            <a:endParaRPr lang="en-US" sz="1600" b="1" dirty="0">
              <a:solidFill>
                <a:srgbClr val="0000FF"/>
              </a:solidFill>
            </a:endParaRPr>
          </a:p>
          <a:p>
            <a:r>
              <a:rPr lang="en-US" sz="1600" dirty="0"/>
              <a:t>The minimal </a:t>
            </a:r>
            <a:r>
              <a:rPr lang="en-US" sz="1600" dirty="0" err="1"/>
              <a:t>magnutude</a:t>
            </a:r>
            <a:r>
              <a:rPr lang="en-US" sz="1600" dirty="0"/>
              <a:t> of the matrix element for which we'll be computing the phase correction</a:t>
            </a:r>
          </a:p>
          <a:p>
            <a:endParaRPr lang="en-US" sz="1600" dirty="0"/>
          </a:p>
          <a:p>
            <a:r>
              <a:rPr lang="en-US" sz="1600" dirty="0"/>
              <a:t>If the overlap is zero, then we don't really care about the phase, but if it is not, then this parameter sets out threshold for when we do.  [ default: 1e-3 ]</a:t>
            </a:r>
          </a:p>
        </p:txBody>
      </p:sp>
    </p:spTree>
    <p:extLst>
      <p:ext uri="{BB962C8B-B14F-4D97-AF65-F5344CB8AC3E}">
        <p14:creationId xmlns:p14="http://schemas.microsoft.com/office/powerpoint/2010/main" val="225925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43AB972A-1992-F056-64F9-D6A2680C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9C4CC-D743-5B31-34A8-3A2D298C5A83}"/>
              </a:ext>
            </a:extLst>
          </p:cNvPr>
          <p:cNvSpPr txBox="1"/>
          <p:nvPr/>
        </p:nvSpPr>
        <p:spPr>
          <a:xfrm>
            <a:off x="386080" y="874454"/>
            <a:ext cx="28376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electronic_integrator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415B9-3FFA-D97F-D561-5A8A3F0CA54D}"/>
              </a:ext>
            </a:extLst>
          </p:cNvPr>
          <p:cNvSpPr txBox="1"/>
          <p:nvPr/>
        </p:nvSpPr>
        <p:spPr>
          <a:xfrm>
            <a:off x="264160" y="2890858"/>
            <a:ext cx="29595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-1  - No propagation</a:t>
            </a:r>
          </a:p>
          <a:p>
            <a:r>
              <a:rPr lang="en-US" sz="1400" dirty="0"/>
              <a:t>  0  - </a:t>
            </a:r>
            <a:r>
              <a:rPr lang="en-US" sz="1400" dirty="0" err="1"/>
              <a:t>Lowdin</a:t>
            </a:r>
            <a:r>
              <a:rPr lang="en-US" sz="1400" dirty="0"/>
              <a:t> exp_ with 2-point </a:t>
            </a:r>
            <a:r>
              <a:rPr lang="en-US" sz="1400" dirty="0" err="1"/>
              <a:t>Hvib_dia</a:t>
            </a:r>
            <a:r>
              <a:rPr lang="en-US" sz="1400" dirty="0"/>
              <a:t> </a:t>
            </a:r>
          </a:p>
          <a:p>
            <a:r>
              <a:rPr lang="en-US" sz="1400" dirty="0"/>
              <a:t>  1  - based on QTAG propagator</a:t>
            </a:r>
          </a:p>
          <a:p>
            <a:r>
              <a:rPr lang="en-US" sz="1400" dirty="0"/>
              <a:t>  2  - based on modified QTAG propagator (Z at two times)</a:t>
            </a:r>
          </a:p>
          <a:p>
            <a:r>
              <a:rPr lang="en-US" sz="1400" dirty="0"/>
              <a:t> 3  - non-Hermitian integrator with 2-point </a:t>
            </a:r>
            <a:r>
              <a:rPr lang="en-US" sz="1400" dirty="0" err="1"/>
              <a:t>Hvib_dia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C3E77-7B1F-06D1-2B80-99E8FC88B203}"/>
              </a:ext>
            </a:extLst>
          </p:cNvPr>
          <p:cNvSpPr txBox="1"/>
          <p:nvPr/>
        </p:nvSpPr>
        <p:spPr>
          <a:xfrm>
            <a:off x="264160" y="2174775"/>
            <a:ext cx="239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rep_tdse</a:t>
            </a:r>
            <a:r>
              <a:rPr lang="en-US" b="1" dirty="0"/>
              <a:t> = 0 (diabatic):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596D-9C30-36EF-B01F-413336A2908C}"/>
              </a:ext>
            </a:extLst>
          </p:cNvPr>
          <p:cNvSpPr txBox="1"/>
          <p:nvPr/>
        </p:nvSpPr>
        <p:spPr>
          <a:xfrm>
            <a:off x="3223746" y="2141222"/>
            <a:ext cx="25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rep_tdse</a:t>
            </a:r>
            <a:r>
              <a:rPr lang="en-US" b="1" dirty="0"/>
              <a:t> = 1 (adiabatic):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7E30E-6F06-E0AE-D968-19B7A2E607ED}"/>
              </a:ext>
            </a:extLst>
          </p:cNvPr>
          <p:cNvSpPr txBox="1"/>
          <p:nvPr/>
        </p:nvSpPr>
        <p:spPr>
          <a:xfrm>
            <a:off x="3078480" y="2620427"/>
            <a:ext cx="393494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-1  -  No propagation</a:t>
            </a:r>
          </a:p>
          <a:p>
            <a:r>
              <a:rPr lang="en-US" sz="1400" dirty="0"/>
              <a:t> 0  -  LD, with crude splitting,  with exp_  [ default ]</a:t>
            </a:r>
          </a:p>
          <a:p>
            <a:r>
              <a:rPr lang="en-US" sz="1400" dirty="0"/>
              <a:t> 1  -  LD, with symmetric splitting, with exp_</a:t>
            </a:r>
          </a:p>
          <a:p>
            <a:r>
              <a:rPr lang="en-US" sz="1400" dirty="0"/>
              <a:t> 2  -  LD, original, with exp_</a:t>
            </a:r>
          </a:p>
          <a:p>
            <a:r>
              <a:rPr lang="en-US" sz="1400" dirty="0"/>
              <a:t> 3  -  1-point, </a:t>
            </a:r>
            <a:r>
              <a:rPr lang="en-US" sz="1400" dirty="0" err="1"/>
              <a:t>Hvib</a:t>
            </a:r>
            <a:r>
              <a:rPr lang="en-US" sz="1400" dirty="0"/>
              <a:t> integration, with exp_</a:t>
            </a:r>
          </a:p>
          <a:p>
            <a:r>
              <a:rPr lang="en-US" sz="1400" dirty="0"/>
              <a:t> 4  -  2-points, </a:t>
            </a:r>
            <a:r>
              <a:rPr lang="en-US" sz="1400" dirty="0" err="1"/>
              <a:t>Hvib</a:t>
            </a:r>
            <a:r>
              <a:rPr lang="en-US" sz="1400" dirty="0"/>
              <a:t> integration, with exp_</a:t>
            </a:r>
          </a:p>
          <a:p>
            <a:r>
              <a:rPr lang="en-US" sz="1400" dirty="0"/>
              <a:t> 5  -  3-points, </a:t>
            </a:r>
            <a:r>
              <a:rPr lang="en-US" sz="1400" dirty="0" err="1"/>
              <a:t>Hvib</a:t>
            </a:r>
            <a:r>
              <a:rPr lang="en-US" sz="1400" dirty="0"/>
              <a:t>, integration with the second-point correction of </a:t>
            </a:r>
            <a:r>
              <a:rPr lang="en-US" sz="1400" dirty="0" err="1"/>
              <a:t>Hvib</a:t>
            </a:r>
            <a:r>
              <a:rPr lang="en-US" sz="1400" dirty="0"/>
              <a:t>, with exp_</a:t>
            </a:r>
          </a:p>
          <a:p>
            <a:r>
              <a:rPr lang="en-US" sz="1400" dirty="0"/>
              <a:t> 6  -  same as 4, but without projection matrices (</a:t>
            </a:r>
            <a:r>
              <a:rPr lang="en-US" sz="1400" dirty="0" err="1"/>
              <a:t>T_new</a:t>
            </a:r>
            <a:r>
              <a:rPr lang="en-US" sz="1400" dirty="0"/>
              <a:t> = I)</a:t>
            </a:r>
          </a:p>
          <a:p>
            <a:endParaRPr lang="en-US" sz="1400" dirty="0"/>
          </a:p>
          <a:p>
            <a:r>
              <a:rPr lang="en-US" sz="1400" dirty="0"/>
              <a:t>10  -  same as 0, but with rotations</a:t>
            </a:r>
          </a:p>
          <a:p>
            <a:r>
              <a:rPr lang="en-US" sz="1400" dirty="0"/>
              <a:t>11  -  same as 1, but with rotations</a:t>
            </a:r>
          </a:p>
          <a:p>
            <a:r>
              <a:rPr lang="en-US" sz="1400" dirty="0"/>
              <a:t>12  -  same as 2, but with rotations</a:t>
            </a:r>
          </a:p>
          <a:p>
            <a:r>
              <a:rPr lang="en-US" sz="1400" dirty="0"/>
              <a:t>13  -  same as 3, but with rotations</a:t>
            </a:r>
          </a:p>
          <a:p>
            <a:r>
              <a:rPr lang="en-US" sz="1400" dirty="0"/>
              <a:t>14  -  same as 4, but with rotations</a:t>
            </a:r>
          </a:p>
          <a:p>
            <a:r>
              <a:rPr lang="en-US" sz="1400" dirty="0"/>
              <a:t>15  -  same as 5, but with rotations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1268F-B5C0-CEC7-2B02-0FEAC1D5B011}"/>
              </a:ext>
            </a:extLst>
          </p:cNvPr>
          <p:cNvSpPr txBox="1"/>
          <p:nvPr/>
        </p:nvSpPr>
        <p:spPr>
          <a:xfrm>
            <a:off x="7013426" y="2138684"/>
            <a:ext cx="4914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rep_tdse</a:t>
            </a:r>
            <a:r>
              <a:rPr lang="en-US" b="1" dirty="0"/>
              <a:t> = 2 ( diabatic, density matrix formalism):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436AD-EC96-DB8A-8C61-1CA07FC0A1BF}"/>
              </a:ext>
            </a:extLst>
          </p:cNvPr>
          <p:cNvSpPr txBox="1"/>
          <p:nvPr/>
        </p:nvSpPr>
        <p:spPr>
          <a:xfrm>
            <a:off x="7355840" y="26204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0 -  mid-point </a:t>
            </a:r>
            <a:r>
              <a:rPr lang="en-US" sz="1400" dirty="0" err="1"/>
              <a:t>Hvib</a:t>
            </a:r>
            <a:r>
              <a:rPr lang="en-US" sz="1400" dirty="0"/>
              <a:t> with the second-point correction of </a:t>
            </a:r>
            <a:r>
              <a:rPr lang="en-US" sz="1400" dirty="0" err="1"/>
              <a:t>Hvib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40FCA0-74C1-2286-7DD6-269AA70A3642}"/>
              </a:ext>
            </a:extLst>
          </p:cNvPr>
          <p:cNvSpPr txBox="1"/>
          <p:nvPr/>
        </p:nvSpPr>
        <p:spPr>
          <a:xfrm>
            <a:off x="7013426" y="3429467"/>
            <a:ext cx="5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rep_tdse</a:t>
            </a:r>
            <a:r>
              <a:rPr lang="en-US" b="1" dirty="0"/>
              <a:t> = 3 ( adiabatic, density matrix formalism):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CCF919-BCAD-62F2-ABEF-1A47C99EA189}"/>
              </a:ext>
            </a:extLst>
          </p:cNvPr>
          <p:cNvSpPr txBox="1"/>
          <p:nvPr/>
        </p:nvSpPr>
        <p:spPr>
          <a:xfrm>
            <a:off x="7013426" y="3968076"/>
            <a:ext cx="47823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0 -  mid-point </a:t>
            </a:r>
            <a:r>
              <a:rPr lang="en-US" sz="1400" dirty="0" err="1"/>
              <a:t>Hvib</a:t>
            </a:r>
            <a:r>
              <a:rPr lang="en-US" sz="1400" dirty="0"/>
              <a:t> with the second-point correction of </a:t>
            </a:r>
            <a:r>
              <a:rPr lang="en-US" sz="1400" dirty="0" err="1"/>
              <a:t>Hvib</a:t>
            </a:r>
            <a:endParaRPr lang="en-US" sz="1400" dirty="0"/>
          </a:p>
          <a:p>
            <a:r>
              <a:rPr lang="en-US" sz="1400" dirty="0"/>
              <a:t>1 -  Zhu </a:t>
            </a:r>
            <a:r>
              <a:rPr lang="en-US" sz="1400" dirty="0" err="1"/>
              <a:t>Liouvillian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10 -  same as 0, but with rotations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1F082E-3205-F5E1-6232-CFCE4F8B7460}"/>
              </a:ext>
            </a:extLst>
          </p:cNvPr>
          <p:cNvSpPr txBox="1"/>
          <p:nvPr/>
        </p:nvSpPr>
        <p:spPr>
          <a:xfrm>
            <a:off x="855001" y="108547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Summary of Electronic Integrators</a:t>
            </a:r>
          </a:p>
        </p:txBody>
      </p:sp>
    </p:spTree>
    <p:extLst>
      <p:ext uri="{BB962C8B-B14F-4D97-AF65-F5344CB8AC3E}">
        <p14:creationId xmlns:p14="http://schemas.microsoft.com/office/powerpoint/2010/main" val="467247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A05F37-7F26-810F-F830-A3F92F43D3D4}"/>
                  </a:ext>
                </a:extLst>
              </p:cNvPr>
              <p:cNvSpPr txBox="1"/>
              <p:nvPr/>
            </p:nvSpPr>
            <p:spPr>
              <a:xfrm>
                <a:off x="2880852" y="843723"/>
                <a:ext cx="6656438" cy="658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sz="16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b="0" i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A05F37-7F26-810F-F830-A3F92F43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52" y="843723"/>
                <a:ext cx="6656438" cy="6583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293656-23FD-3C3F-87E1-410DC87D330B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Back to Integrating the TD-SE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B6F39F-FE5B-150B-E5C4-47860DFB477C}"/>
                  </a:ext>
                </a:extLst>
              </p:cNvPr>
              <p:cNvSpPr txBox="1"/>
              <p:nvPr/>
            </p:nvSpPr>
            <p:spPr>
              <a:xfrm>
                <a:off x="1397819" y="1562321"/>
                <a:ext cx="10717161" cy="660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num>
                                    <m:den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B6F39F-FE5B-150B-E5C4-47860DFB4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819" y="1562321"/>
                <a:ext cx="10717161" cy="660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AE6E8D-045A-E122-EE01-E0763731404D}"/>
                  </a:ext>
                </a:extLst>
              </p:cNvPr>
              <p:cNvSpPr txBox="1"/>
              <p:nvPr/>
            </p:nvSpPr>
            <p:spPr>
              <a:xfrm>
                <a:off x="2241753" y="2476423"/>
                <a:ext cx="7708491" cy="6492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AE6E8D-045A-E122-EE01-E07637314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753" y="2476423"/>
                <a:ext cx="7708491" cy="649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5A0784-5792-9DBA-31B8-1D356150BAF6}"/>
                  </a:ext>
                </a:extLst>
              </p:cNvPr>
              <p:cNvSpPr txBox="1"/>
              <p:nvPr/>
            </p:nvSpPr>
            <p:spPr>
              <a:xfrm>
                <a:off x="4817807" y="3345934"/>
                <a:ext cx="6096000" cy="530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≈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5A0784-5792-9DBA-31B8-1D356150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807" y="3345934"/>
                <a:ext cx="6096000" cy="530594"/>
              </a:xfrm>
              <a:prstGeom prst="rect">
                <a:avLst/>
              </a:prstGeom>
              <a:blipFill>
                <a:blip r:embed="rId5"/>
                <a:stretch>
                  <a:fillRect t="-163218" b="-24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1ADC45C-5037-BFB9-F5C4-B13BBAC8CF5A}"/>
              </a:ext>
            </a:extLst>
          </p:cNvPr>
          <p:cNvSpPr txBox="1"/>
          <p:nvPr/>
        </p:nvSpPr>
        <p:spPr>
          <a:xfrm>
            <a:off x="344129" y="3480780"/>
            <a:ext cx="422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properties of the local-diabatic basis: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801E98-D55C-4497-DECD-355E0FA9BF68}"/>
                  </a:ext>
                </a:extLst>
              </p:cNvPr>
              <p:cNvSpPr txBox="1"/>
              <p:nvPr/>
            </p:nvSpPr>
            <p:spPr>
              <a:xfrm>
                <a:off x="543231" y="4289875"/>
                <a:ext cx="11331679" cy="97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⟨"/>
                        <m:endChr m:val="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begChr m:val=""/>
                            <m:endChr m:val="|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2ℏ</m:t>
                                    </m:r>
                                  </m:den>
                                </m:f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begChr m:val=""/>
                            <m:endChr m:val="|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2ℏ</m:t>
                                    </m:r>
                                  </m:den>
                                </m:f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  <m:sub>
                                <m:r>
                                  <a:rPr lang="en-US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𝑎𝑑𝑖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begChr m:val=""/>
                            <m:endChr m:val="|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2ℏ</m:t>
                                    </m:r>
                                  </m:den>
                                </m:f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b>
                        </m:sSub>
                        <m:d>
                          <m:dPr>
                            <m:begChr m:val=""/>
                            <m:endChr m:val="|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2ℏ</m:t>
                                    </m:r>
                                  </m:den>
                                </m:f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𝝍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𝑎𝑑𝑖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801E98-D55C-4497-DECD-355E0FA9B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31" y="4289875"/>
                <a:ext cx="11331679" cy="970650"/>
              </a:xfrm>
              <a:prstGeom prst="rect">
                <a:avLst/>
              </a:prstGeom>
              <a:blipFill>
                <a:blip r:embed="rId6"/>
                <a:stretch>
                  <a:fillRect l="-592" t="-28302" b="-49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610D29-8C8A-1FCC-B522-3B18A3096DB9}"/>
                  </a:ext>
                </a:extLst>
              </p:cNvPr>
              <p:cNvSpPr txBox="1"/>
              <p:nvPr/>
            </p:nvSpPr>
            <p:spPr>
              <a:xfrm>
                <a:off x="1134152" y="5446668"/>
                <a:ext cx="7367310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2ℏ</m:t>
                                  </m:r>
                                </m:den>
                              </m:f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610D29-8C8A-1FCC-B522-3B18A3096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52" y="5446668"/>
                <a:ext cx="7367310" cy="6455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7" descr="Image result for ub logo">
            <a:extLst>
              <a:ext uri="{FF2B5EF4-FFF2-40B4-BE49-F238E27FC236}">
                <a16:creationId xmlns:a16="http://schemas.microsoft.com/office/drawing/2014/main" id="{58B1FBE5-CCB6-CF0B-6067-AA14A2B13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B2D4E0-AB7B-E7E2-FAF5-0B89C85D21E7}"/>
              </a:ext>
            </a:extLst>
          </p:cNvPr>
          <p:cNvSpPr txBox="1"/>
          <p:nvPr/>
        </p:nvSpPr>
        <p:spPr>
          <a:xfrm>
            <a:off x="77020" y="1738161"/>
            <a:ext cx="164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Crude splitting: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2EEFAD-4812-F02C-3B45-2B09E8D45223}"/>
              </a:ext>
            </a:extLst>
          </p:cNvPr>
          <p:cNvSpPr txBox="1"/>
          <p:nvPr/>
        </p:nvSpPr>
        <p:spPr>
          <a:xfrm>
            <a:off x="9253993" y="5311669"/>
            <a:ext cx="2314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</a:t>
            </a:r>
            <a:r>
              <a:rPr lang="en-US" b="1" dirty="0">
                <a:solidFill>
                  <a:srgbClr val="008000"/>
                </a:solidFill>
              </a:rPr>
              <a:t>should be the electronic Hamiltonian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not the vibronic Hamiltonian</a:t>
            </a:r>
            <a:r>
              <a:rPr lang="en-US" dirty="0"/>
              <a:t>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B2B711-A483-C360-5B84-B641115C6493}"/>
              </a:ext>
            </a:extLst>
          </p:cNvPr>
          <p:cNvCxnSpPr>
            <a:cxnSpLocks/>
          </p:cNvCxnSpPr>
          <p:nvPr/>
        </p:nvCxnSpPr>
        <p:spPr>
          <a:xfrm flipH="1" flipV="1">
            <a:off x="7865807" y="5837053"/>
            <a:ext cx="1085153" cy="7478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CA2A0-A748-E663-5576-9A8B331FCE87}"/>
              </a:ext>
            </a:extLst>
          </p:cNvPr>
          <p:cNvSpPr/>
          <p:nvPr/>
        </p:nvSpPr>
        <p:spPr>
          <a:xfrm>
            <a:off x="5145847" y="4238731"/>
            <a:ext cx="2275679" cy="680484"/>
          </a:xfrm>
          <a:prstGeom prst="rect">
            <a:avLst/>
          </a:pr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2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A8B793-4586-E8D9-5E6E-9AA9774905A7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Back to Integrating the TD-SE: Another integrator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31692282-FDDA-81F3-71B9-4A788FB09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05F12-0D5D-03E0-7E14-D0384640544B}"/>
                  </a:ext>
                </a:extLst>
              </p:cNvPr>
              <p:cNvSpPr txBox="1"/>
              <p:nvPr/>
            </p:nvSpPr>
            <p:spPr>
              <a:xfrm>
                <a:off x="1717726" y="1103561"/>
                <a:ext cx="11054080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adi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05F12-0D5D-03E0-7E14-D03846405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726" y="1103561"/>
                <a:ext cx="11054080" cy="645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B2AC817-6888-0F9D-06FC-4E3576A26AFE}"/>
              </a:ext>
            </a:extLst>
          </p:cNvPr>
          <p:cNvSpPr txBox="1"/>
          <p:nvPr/>
        </p:nvSpPr>
        <p:spPr>
          <a:xfrm>
            <a:off x="188780" y="1241675"/>
            <a:ext cx="209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Symmetric splitting: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C6E532-FB2F-D92B-81E9-9FCA4666F994}"/>
                  </a:ext>
                </a:extLst>
              </p:cNvPr>
              <p:cNvSpPr txBox="1"/>
              <p:nvPr/>
            </p:nvSpPr>
            <p:spPr>
              <a:xfrm>
                <a:off x="2505095" y="5822971"/>
                <a:ext cx="609600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4ℏ</m:t>
                                  </m:r>
                                </m:den>
                              </m:f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C6E532-FB2F-D92B-81E9-9FCA4666F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95" y="5822971"/>
                <a:ext cx="6096000" cy="576376"/>
              </a:xfrm>
              <a:prstGeom prst="rect">
                <a:avLst/>
              </a:prstGeom>
              <a:blipFill>
                <a:blip r:embed="rId4"/>
                <a:stretch>
                  <a:fillRect t="-125263" r="-1700" b="-18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82D9CD-3D17-6FEE-477E-AC4C7C186650}"/>
                  </a:ext>
                </a:extLst>
              </p:cNvPr>
              <p:cNvSpPr txBox="1"/>
              <p:nvPr/>
            </p:nvSpPr>
            <p:spPr>
              <a:xfrm>
                <a:off x="686620" y="1989632"/>
                <a:ext cx="1105408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𝝍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adi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82D9CD-3D17-6FEE-477E-AC4C7C186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20" y="1989632"/>
                <a:ext cx="11054080" cy="1439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F10DF1-D84B-64BD-009B-FBF25C7A7A69}"/>
                  </a:ext>
                </a:extLst>
              </p:cNvPr>
              <p:cNvSpPr txBox="1"/>
              <p:nvPr/>
            </p:nvSpPr>
            <p:spPr>
              <a:xfrm>
                <a:off x="357844" y="3669510"/>
                <a:ext cx="11476311" cy="1685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⟨"/>
                          <m:endChr m:val="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𝑎𝑑𝑖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en-US" sz="16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4ℏ</m:t>
                                      </m:r>
                                    </m:den>
                                  </m:f>
                                  <m:acc>
                                    <m:accPr>
                                      <m:chr m:val="̂"/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adi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F10DF1-D84B-64BD-009B-FBF25C7A7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44" y="3669510"/>
                <a:ext cx="11476311" cy="16855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A61056DA-2483-2784-6A7D-B7F54ACCB298}"/>
              </a:ext>
            </a:extLst>
          </p:cNvPr>
          <p:cNvSpPr/>
          <p:nvPr/>
        </p:nvSpPr>
        <p:spPr>
          <a:xfrm>
            <a:off x="2505095" y="2137144"/>
            <a:ext cx="2247658" cy="680484"/>
          </a:xfrm>
          <a:prstGeom prst="rect">
            <a:avLst/>
          </a:pr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2017B2-D067-29D3-AF74-3F734E96797D}"/>
              </a:ext>
            </a:extLst>
          </p:cNvPr>
          <p:cNvSpPr/>
          <p:nvPr/>
        </p:nvSpPr>
        <p:spPr>
          <a:xfrm>
            <a:off x="6353437" y="2232967"/>
            <a:ext cx="2247658" cy="680484"/>
          </a:xfrm>
          <a:prstGeom prst="rect">
            <a:avLst/>
          </a:pr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1C0263-B1B8-2B65-846D-A9C321830771}"/>
              </a:ext>
            </a:extLst>
          </p:cNvPr>
          <p:cNvSpPr/>
          <p:nvPr/>
        </p:nvSpPr>
        <p:spPr>
          <a:xfrm>
            <a:off x="10474337" y="2232967"/>
            <a:ext cx="1266363" cy="680484"/>
          </a:xfrm>
          <a:prstGeom prst="rect">
            <a:avLst/>
          </a:pr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C2E93-929C-968C-26B9-E4AF443D866E}"/>
              </a:ext>
            </a:extLst>
          </p:cNvPr>
          <p:cNvSpPr/>
          <p:nvPr/>
        </p:nvSpPr>
        <p:spPr>
          <a:xfrm>
            <a:off x="904412" y="2818044"/>
            <a:ext cx="1706466" cy="680484"/>
          </a:xfrm>
          <a:prstGeom prst="rect">
            <a:avLst/>
          </a:prstGeom>
          <a:noFill/>
          <a:ln w="635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05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CFC8A5-3E1C-8D00-CD08-06CE83A50BA8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Rotation-based Integrators for TD-SE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54BF40B0-A473-FB9F-AB80-10749AC60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D42598-F89E-2339-18BB-D3B4F35B62B7}"/>
                  </a:ext>
                </a:extLst>
              </p:cNvPr>
              <p:cNvSpPr txBox="1"/>
              <p:nvPr/>
            </p:nvSpPr>
            <p:spPr>
              <a:xfrm>
                <a:off x="690880" y="924932"/>
                <a:ext cx="1483360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𝑋𝐶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D42598-F89E-2339-18BB-D3B4F35B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" y="924932"/>
                <a:ext cx="1483360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1829F9-1617-090A-3208-976B88879746}"/>
                  </a:ext>
                </a:extLst>
              </p:cNvPr>
              <p:cNvSpPr txBox="1"/>
              <p:nvPr/>
            </p:nvSpPr>
            <p:spPr>
              <a:xfrm>
                <a:off x="3266440" y="1145825"/>
                <a:ext cx="2692400" cy="411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𝑖𝐼𝑚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1829F9-1617-090A-3208-976B88879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440" y="1145825"/>
                <a:ext cx="2692400" cy="411395"/>
              </a:xfrm>
              <a:prstGeom prst="rect">
                <a:avLst/>
              </a:prstGeom>
              <a:blipFill>
                <a:blip r:embed="rId4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538AC-F000-7C69-E9DA-5C2AD6CDEF90}"/>
                  </a:ext>
                </a:extLst>
              </p:cNvPr>
              <p:cNvSpPr txBox="1"/>
              <p:nvPr/>
            </p:nvSpPr>
            <p:spPr>
              <a:xfrm>
                <a:off x="7233920" y="1189485"/>
                <a:ext cx="3048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  <m:t>Δ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exp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⁡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𝑖𝐿</m:t>
                    </m:r>
                    <m:r>
                      <m:rPr>
                        <m:sty m:val="p"/>
                      </m:rPr>
                      <a:rPr lang="en-US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Δ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𝑡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)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𝐶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𝑡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Times" panose="02020603050405020304" pitchFamily="18" charset="0"/>
                    <a:ea typeface="Times New Roman" panose="02020603050405020304" pitchFamily="18" charset="0"/>
                  </a:rPr>
                  <a:t>.	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538AC-F000-7C69-E9DA-5C2AD6CDE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920" y="1189485"/>
                <a:ext cx="3048000" cy="369332"/>
              </a:xfrm>
              <a:prstGeom prst="rect">
                <a:avLst/>
              </a:prstGeom>
              <a:blipFill>
                <a:blip r:embed="rId5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3C8767-BE6E-3FF5-56F1-8AE1CF9EA835}"/>
                  </a:ext>
                </a:extLst>
              </p:cNvPr>
              <p:cNvSpPr txBox="1"/>
              <p:nvPr/>
            </p:nvSpPr>
            <p:spPr>
              <a:xfrm>
                <a:off x="3683000" y="1750385"/>
                <a:ext cx="2529840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3C8767-BE6E-3FF5-56F1-8AE1CF9EA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1750385"/>
                <a:ext cx="2529840" cy="665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07C3C3-ED02-E027-0CD9-B4FF4550F9F3}"/>
                  </a:ext>
                </a:extLst>
              </p:cNvPr>
              <p:cNvSpPr txBox="1"/>
              <p:nvPr/>
            </p:nvSpPr>
            <p:spPr>
              <a:xfrm>
                <a:off x="1097280" y="2644394"/>
                <a:ext cx="8831814" cy="920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𝑖𝐿</m:t>
                      </m:r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07C3C3-ED02-E027-0CD9-B4FF4550F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644394"/>
                <a:ext cx="8831814" cy="920188"/>
              </a:xfrm>
              <a:prstGeom prst="rect">
                <a:avLst/>
              </a:prstGeom>
              <a:blipFill>
                <a:blip r:embed="rId7"/>
                <a:stretch>
                  <a:fillRect t="-67550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0E2ABA-983D-940A-2054-BF724756CCE6}"/>
                  </a:ext>
                </a:extLst>
              </p:cNvPr>
              <p:cNvSpPr txBox="1"/>
              <p:nvPr/>
            </p:nvSpPr>
            <p:spPr>
              <a:xfrm>
                <a:off x="421640" y="4065679"/>
                <a:ext cx="11348720" cy="651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𝑖𝐿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𝑖𝐼𝑚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0E2ABA-983D-940A-2054-BF724756C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0" y="4065679"/>
                <a:ext cx="11348720" cy="6510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385F54-4A05-1107-E571-655366144C10}"/>
                  </a:ext>
                </a:extLst>
              </p:cNvPr>
              <p:cNvSpPr txBox="1"/>
              <p:nvPr/>
            </p:nvSpPr>
            <p:spPr>
              <a:xfrm>
                <a:off x="218440" y="5493629"/>
                <a:ext cx="2875280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385F54-4A05-1107-E571-655366144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" y="5493629"/>
                <a:ext cx="2875280" cy="665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8537CC-675C-1B35-2B2E-6F0FFE6CD55D}"/>
                  </a:ext>
                </a:extLst>
              </p:cNvPr>
              <p:cNvSpPr txBox="1"/>
              <p:nvPr/>
            </p:nvSpPr>
            <p:spPr>
              <a:xfrm>
                <a:off x="3730107" y="5393172"/>
                <a:ext cx="3566160" cy="748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8537CC-675C-1B35-2B2E-6F0FFE6CD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107" y="5393172"/>
                <a:ext cx="3566160" cy="7484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36CB79-04C1-4976-43D3-25004B114AA9}"/>
                  </a:ext>
                </a:extLst>
              </p:cNvPr>
              <p:cNvSpPr txBox="1"/>
              <p:nvPr/>
            </p:nvSpPr>
            <p:spPr>
              <a:xfrm>
                <a:off x="7881854" y="5337937"/>
                <a:ext cx="4206240" cy="748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𝑖𝑅𝑒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36CB79-04C1-4976-43D3-25004B114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854" y="5337937"/>
                <a:ext cx="4206240" cy="7484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05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4038CB-C861-D2CC-45C4-DA316F044002}"/>
                  </a:ext>
                </a:extLst>
              </p:cNvPr>
              <p:cNvSpPr txBox="1"/>
              <p:nvPr/>
            </p:nvSpPr>
            <p:spPr>
              <a:xfrm>
                <a:off x="631602" y="1974379"/>
                <a:ext cx="418592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4038CB-C861-D2CC-45C4-DA316F044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02" y="1974379"/>
                <a:ext cx="4185920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A0A6DC5-BC7B-14A2-2430-666F163F4179}"/>
              </a:ext>
            </a:extLst>
          </p:cNvPr>
          <p:cNvSpPr txBox="1"/>
          <p:nvPr/>
        </p:nvSpPr>
        <p:spPr>
          <a:xfrm>
            <a:off x="646842" y="134471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Rotation-based Integrators for TD-SE: Action of the operators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AD703D09-17B6-019D-EAEC-08116114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93D40F-52F0-FEEE-2528-4F1CDDC0B820}"/>
                  </a:ext>
                </a:extLst>
              </p:cNvPr>
              <p:cNvSpPr txBox="1"/>
              <p:nvPr/>
            </p:nvSpPr>
            <p:spPr>
              <a:xfrm>
                <a:off x="631602" y="2979960"/>
                <a:ext cx="11328400" cy="1115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…=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4!</m:t>
                                    </m:r>
                                  </m:den>
                                </m:f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93D40F-52F0-FEEE-2528-4F1CDDC0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02" y="2979960"/>
                <a:ext cx="11328400" cy="1115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E29799-2FAF-12F9-AB6F-CC71CF9D8FEA}"/>
                  </a:ext>
                </a:extLst>
              </p:cNvPr>
              <p:cNvSpPr txBox="1"/>
              <p:nvPr/>
            </p:nvSpPr>
            <p:spPr>
              <a:xfrm>
                <a:off x="790764" y="4168164"/>
                <a:ext cx="11257280" cy="968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𝑖𝐵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𝑖𝐵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+…=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𝑖𝐵</m:t>
                                </m:r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endChr m:val=""/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ctrlPr>
                                                  <a:rPr lang="en-US" sz="12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𝐵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2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𝑖𝐵</m:t>
                                </m:r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endChr m:val=""/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ctrlPr>
                                                  <a:rPr lang="en-US" sz="12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𝐵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2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sz="12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4!</m:t>
                                    </m:r>
                                  </m:den>
                                </m:f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E29799-2FAF-12F9-AB6F-CC71CF9D8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64" y="4168164"/>
                <a:ext cx="11257280" cy="968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CFAE3C-F942-85B0-908B-E426C75513CF}"/>
                  </a:ext>
                </a:extLst>
              </p:cNvPr>
              <p:cNvSpPr txBox="1"/>
              <p:nvPr/>
            </p:nvSpPr>
            <p:spPr>
              <a:xfrm>
                <a:off x="5690659" y="1956979"/>
                <a:ext cx="2063103" cy="670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CFAE3C-F942-85B0-908B-E426C7551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659" y="1956979"/>
                <a:ext cx="2063103" cy="6703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A5348-07E2-22B4-E50A-AD7B0211EA05}"/>
                  </a:ext>
                </a:extLst>
              </p:cNvPr>
              <p:cNvSpPr txBox="1"/>
              <p:nvPr/>
            </p:nvSpPr>
            <p:spPr>
              <a:xfrm>
                <a:off x="7855362" y="1968113"/>
                <a:ext cx="1981200" cy="670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A5348-07E2-22B4-E50A-AD7B0211E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362" y="1968113"/>
                <a:ext cx="1981200" cy="6703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168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2DBE3E-97C4-549D-7A45-07B967249895}"/>
              </a:ext>
            </a:extLst>
          </p:cNvPr>
          <p:cNvSpPr txBox="1"/>
          <p:nvPr/>
        </p:nvSpPr>
        <p:spPr>
          <a:xfrm>
            <a:off x="646842" y="134471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Rotation-based Integrators for TD-SE: Overall Factorization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747B78DF-74B1-81B6-E459-E2C0B24BC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CB7FC6-760F-2C2B-A031-44C628769C3C}"/>
                  </a:ext>
                </a:extLst>
              </p:cNvPr>
              <p:cNvSpPr txBox="1"/>
              <p:nvPr/>
            </p:nvSpPr>
            <p:spPr>
              <a:xfrm>
                <a:off x="111760" y="1364877"/>
                <a:ext cx="12009120" cy="1275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20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1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𝑖𝐿</m:t>
                              </m:r>
                              <m:r>
                                <m:rPr>
                                  <m:sty m:val="p"/>
                                </m:rPr>
                                <a:rPr lang="en-US" sz="1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Δ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1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nary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nary>
                                  <m: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Δ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1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" panose="02020603050405020304" pitchFamily="18" charset="0"/>
                        </a:rPr>
                        <m:t>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: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: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𝑂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{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: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𝑂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{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: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11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𝑂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{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1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}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11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𝑖</m:t>
                                      </m:r>
                                      <m:sSubSup>
                                        <m:sSubSup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f>
                                        <m:f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CB7FC6-760F-2C2B-A031-44C628769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" y="1364877"/>
                <a:ext cx="12009120" cy="1275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332813-AAF7-764D-37E8-999FB440E95E}"/>
                  </a:ext>
                </a:extLst>
              </p:cNvPr>
              <p:cNvSpPr txBox="1"/>
              <p:nvPr/>
            </p:nvSpPr>
            <p:spPr>
              <a:xfrm>
                <a:off x="1727200" y="2963887"/>
                <a:ext cx="9194800" cy="3409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20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marR="0" algn="just">
                  <a:lnSpc>
                    <a:spcPct val="20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" panose="02020603050405020304" pitchFamily="18" charset="0"/>
                                </a:rPr>
                                <m:t>𝑖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f>
                                <m:f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332813-AAF7-764D-37E8-999FB440E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00" y="2963887"/>
                <a:ext cx="9194800" cy="3409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094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A8975A9-583D-14A0-A00E-A17433D86154}"/>
              </a:ext>
            </a:extLst>
          </p:cNvPr>
          <p:cNvSpPr/>
          <p:nvPr/>
        </p:nvSpPr>
        <p:spPr>
          <a:xfrm>
            <a:off x="2939845" y="5535561"/>
            <a:ext cx="8809703" cy="11275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ED144-0D34-EBB3-5AE1-539FAE0059B4}"/>
              </a:ext>
            </a:extLst>
          </p:cNvPr>
          <p:cNvSpPr txBox="1"/>
          <p:nvPr/>
        </p:nvSpPr>
        <p:spPr>
          <a:xfrm>
            <a:off x="855001" y="108547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Working the Liouville’s space: propagation of density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3DB31-61CF-D265-3AD3-F637887F836C}"/>
                  </a:ext>
                </a:extLst>
              </p:cNvPr>
              <p:cNvSpPr txBox="1"/>
              <p:nvPr/>
            </p:nvSpPr>
            <p:spPr>
              <a:xfrm>
                <a:off x="604684" y="929067"/>
                <a:ext cx="2096610" cy="619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3DB31-61CF-D265-3AD3-F637887F8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4" y="929067"/>
                <a:ext cx="2096610" cy="619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4CA153-4AC3-3D43-143E-C49D13B87308}"/>
                  </a:ext>
                </a:extLst>
              </p:cNvPr>
              <p:cNvSpPr txBox="1"/>
              <p:nvPr/>
            </p:nvSpPr>
            <p:spPr>
              <a:xfrm>
                <a:off x="604684" y="2283196"/>
                <a:ext cx="3048000" cy="684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4CA153-4AC3-3D43-143E-C49D13B87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84" y="2283196"/>
                <a:ext cx="3048000" cy="6840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8DFFEF-9116-695B-926E-2AC62F4156CA}"/>
                  </a:ext>
                </a:extLst>
              </p:cNvPr>
              <p:cNvSpPr txBox="1"/>
              <p:nvPr/>
            </p:nvSpPr>
            <p:spPr>
              <a:xfrm>
                <a:off x="4208207" y="2134032"/>
                <a:ext cx="2684206" cy="40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𝑏𝑗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𝑏𝑗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8DFFEF-9116-695B-926E-2AC62F415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207" y="2134032"/>
                <a:ext cx="2684206" cy="404854"/>
              </a:xfrm>
              <a:prstGeom prst="rect">
                <a:avLst/>
              </a:prstGeom>
              <a:blipFill>
                <a:blip r:embed="rId4"/>
                <a:stretch>
                  <a:fillRect t="-606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C9DEDD-5560-718D-4A7D-75A71B9CC8C2}"/>
                  </a:ext>
                </a:extLst>
              </p:cNvPr>
              <p:cNvSpPr txBox="1"/>
              <p:nvPr/>
            </p:nvSpPr>
            <p:spPr>
              <a:xfrm>
                <a:off x="3859161" y="2859074"/>
                <a:ext cx="3382297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</m:acc>
                        </m:e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e>
                          <m:acc>
                            <m:accPr>
                              <m:chr m:val="̃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</m:acc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⟨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e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</m:d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C9DEDD-5560-718D-4A7D-75A71B9C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161" y="2859074"/>
                <a:ext cx="3382297" cy="404983"/>
              </a:xfrm>
              <a:prstGeom prst="rect">
                <a:avLst/>
              </a:prstGeom>
              <a:blipFill>
                <a:blip r:embed="rId5"/>
                <a:stretch>
                  <a:fillRect t="-6061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DEC72E-15FC-B230-85CD-9D8E877FC6F0}"/>
                  </a:ext>
                </a:extLst>
              </p:cNvPr>
              <p:cNvSpPr txBox="1"/>
              <p:nvPr/>
            </p:nvSpPr>
            <p:spPr>
              <a:xfrm>
                <a:off x="8013292" y="2336459"/>
                <a:ext cx="2949677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̃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𝑣𝑒𝑐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DEC72E-15FC-B230-85CD-9D8E877FC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292" y="2336459"/>
                <a:ext cx="2949677" cy="6298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4A224E-2D4B-C90C-7F6A-8BB4B16B02A4}"/>
              </a:ext>
            </a:extLst>
          </p:cNvPr>
          <p:cNvSpPr/>
          <p:nvPr/>
        </p:nvSpPr>
        <p:spPr>
          <a:xfrm>
            <a:off x="3765755" y="2625213"/>
            <a:ext cx="3706761" cy="294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D2F6726-A18C-2402-B92E-FC91DAD58997}"/>
              </a:ext>
            </a:extLst>
          </p:cNvPr>
          <p:cNvSpPr/>
          <p:nvPr/>
        </p:nvSpPr>
        <p:spPr>
          <a:xfrm>
            <a:off x="1514168" y="1641987"/>
            <a:ext cx="393290" cy="5462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7F0B3-1A76-75CA-2DE2-862D29454A5C}"/>
              </a:ext>
            </a:extLst>
          </p:cNvPr>
          <p:cNvSpPr txBox="1"/>
          <p:nvPr/>
        </p:nvSpPr>
        <p:spPr>
          <a:xfrm>
            <a:off x="8013292" y="1764700"/>
            <a:ext cx="2829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Vectorized form of the QCLE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A783FA-7863-3178-EFB4-5E3FE2A86259}"/>
              </a:ext>
            </a:extLst>
          </p:cNvPr>
          <p:cNvCxnSpPr/>
          <p:nvPr/>
        </p:nvCxnSpPr>
        <p:spPr>
          <a:xfrm flipH="1" flipV="1">
            <a:off x="10373472" y="2938456"/>
            <a:ext cx="432620" cy="6388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A61F10-167B-5F5F-7871-2347933D28A7}"/>
                  </a:ext>
                </a:extLst>
              </p:cNvPr>
              <p:cNvSpPr txBox="1"/>
              <p:nvPr/>
            </p:nvSpPr>
            <p:spPr>
              <a:xfrm>
                <a:off x="10474337" y="3549445"/>
                <a:ext cx="15136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vector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A61F10-167B-5F5F-7871-2347933D2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337" y="3549445"/>
                <a:ext cx="1513619" cy="369332"/>
              </a:xfrm>
              <a:prstGeom prst="rect">
                <a:avLst/>
              </a:prstGeom>
              <a:blipFill>
                <a:blip r:embed="rId7"/>
                <a:stretch>
                  <a:fillRect t="-8197" r="-32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079420-086D-00E0-848E-748FC7B0DBE6}"/>
                  </a:ext>
                </a:extLst>
              </p:cNvPr>
              <p:cNvSpPr txBox="1"/>
              <p:nvPr/>
            </p:nvSpPr>
            <p:spPr>
              <a:xfrm>
                <a:off x="8671420" y="3522358"/>
                <a:ext cx="1684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matrix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079420-086D-00E0-848E-748FC7B0D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420" y="3522358"/>
                <a:ext cx="1684051" cy="369332"/>
              </a:xfrm>
              <a:prstGeom prst="rect">
                <a:avLst/>
              </a:prstGeom>
              <a:blipFill>
                <a:blip r:embed="rId8"/>
                <a:stretch>
                  <a:fillRect t="-10000" r="-252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5A09C0-0882-67BC-D895-74E5B7930BC6}"/>
              </a:ext>
            </a:extLst>
          </p:cNvPr>
          <p:cNvCxnSpPr>
            <a:cxnSpLocks/>
          </p:cNvCxnSpPr>
          <p:nvPr/>
        </p:nvCxnSpPr>
        <p:spPr>
          <a:xfrm flipV="1">
            <a:off x="9191608" y="2878555"/>
            <a:ext cx="363327" cy="5504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552AF5-C9CD-9B74-EA5D-F08E5B7D4A5B}"/>
              </a:ext>
            </a:extLst>
          </p:cNvPr>
          <p:cNvCxnSpPr/>
          <p:nvPr/>
        </p:nvCxnSpPr>
        <p:spPr>
          <a:xfrm flipH="1" flipV="1">
            <a:off x="1246237" y="2745910"/>
            <a:ext cx="432620" cy="6388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265761-605E-DF7D-7718-A1FB6F5DE26D}"/>
                  </a:ext>
                </a:extLst>
              </p:cNvPr>
              <p:cNvSpPr txBox="1"/>
              <p:nvPr/>
            </p:nvSpPr>
            <p:spPr>
              <a:xfrm>
                <a:off x="810963" y="3418051"/>
                <a:ext cx="1455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matrix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265761-605E-DF7D-7718-A1FB6F5DE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963" y="3418051"/>
                <a:ext cx="1455398" cy="369332"/>
              </a:xfrm>
              <a:prstGeom prst="rect">
                <a:avLst/>
              </a:prstGeom>
              <a:blipFill>
                <a:blip r:embed="rId9"/>
                <a:stretch>
                  <a:fillRect t="-10000" r="-33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2E2BD5-9F9E-BDCF-2466-B2C2A8934C5B}"/>
                  </a:ext>
                </a:extLst>
              </p:cNvPr>
              <p:cNvSpPr txBox="1"/>
              <p:nvPr/>
            </p:nvSpPr>
            <p:spPr>
              <a:xfrm>
                <a:off x="894735" y="4694823"/>
                <a:ext cx="4655574" cy="382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2E2BD5-9F9E-BDCF-2466-B2C2A8934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35" y="4694823"/>
                <a:ext cx="4655574" cy="382349"/>
              </a:xfrm>
              <a:prstGeom prst="rect">
                <a:avLst/>
              </a:prstGeom>
              <a:blipFill>
                <a:blip r:embed="rId10"/>
                <a:stretch>
                  <a:fillRect t="-3175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08C4AD-BA68-80D6-5626-C59326C5B4AF}"/>
                  </a:ext>
                </a:extLst>
              </p:cNvPr>
              <p:cNvSpPr txBox="1"/>
              <p:nvPr/>
            </p:nvSpPr>
            <p:spPr>
              <a:xfrm>
                <a:off x="6892413" y="4659251"/>
                <a:ext cx="3962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08C4AD-BA68-80D6-5626-C59326C5B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13" y="4659251"/>
                <a:ext cx="3962400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3A01AC-D57B-4239-A066-28FA5D7DBA46}"/>
                  </a:ext>
                </a:extLst>
              </p:cNvPr>
              <p:cNvSpPr txBox="1"/>
              <p:nvPr/>
            </p:nvSpPr>
            <p:spPr>
              <a:xfrm>
                <a:off x="3222522" y="5734193"/>
                <a:ext cx="8261675" cy="731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𝑣𝑒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num>
                                        <m:den>
                                          <m: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ℏ</m:t>
                                          </m:r>
                                        </m:den>
                                      </m:f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𝑣𝑒𝑐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3A01AC-D57B-4239-A066-28FA5D7D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522" y="5734193"/>
                <a:ext cx="8261675" cy="73129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F2A8FD1-46D3-F255-10A5-5CFC2CE942C9}"/>
              </a:ext>
            </a:extLst>
          </p:cNvPr>
          <p:cNvSpPr txBox="1"/>
          <p:nvPr/>
        </p:nvSpPr>
        <p:spPr>
          <a:xfrm>
            <a:off x="103778" y="4018796"/>
            <a:ext cx="10859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the “closed” quantum systems, there is a direct correspondence between wavefunction and density matrix, so: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6A563F-323E-5D5E-FE28-F05F42B12970}"/>
              </a:ext>
            </a:extLst>
          </p:cNvPr>
          <p:cNvSpPr txBox="1"/>
          <p:nvPr/>
        </p:nvSpPr>
        <p:spPr>
          <a:xfrm>
            <a:off x="363794" y="5879690"/>
            <a:ext cx="2411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So, the final expression:</a:t>
            </a:r>
          </a:p>
        </p:txBody>
      </p:sp>
      <p:pic>
        <p:nvPicPr>
          <p:cNvPr id="2" name="Picture 7" descr="Image result for ub logo">
            <a:extLst>
              <a:ext uri="{FF2B5EF4-FFF2-40B4-BE49-F238E27FC236}">
                <a16:creationId xmlns:a16="http://schemas.microsoft.com/office/drawing/2014/main" id="{72BC65F6-43B2-57AB-7D98-2405929D9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1553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34CA7209-9EEC-ADC9-0823-CB89EB0EC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D2217-7260-7248-53F8-644DFC7C47FA}"/>
              </a:ext>
            </a:extLst>
          </p:cNvPr>
          <p:cNvSpPr txBox="1"/>
          <p:nvPr/>
        </p:nvSpPr>
        <p:spPr>
          <a:xfrm>
            <a:off x="855001" y="108547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Additional flags for the Integrators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BB70B-AC0B-EDCB-2459-11A27D6634F1}"/>
              </a:ext>
            </a:extLst>
          </p:cNvPr>
          <p:cNvSpPr txBox="1"/>
          <p:nvPr/>
        </p:nvSpPr>
        <p:spPr>
          <a:xfrm>
            <a:off x="325120" y="996374"/>
            <a:ext cx="3627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assume_always_consistent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ampl_transformation_method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80EE9-9B10-D2C0-BAD8-85329D832C41}"/>
              </a:ext>
            </a:extLst>
          </p:cNvPr>
          <p:cNvSpPr txBox="1"/>
          <p:nvPr/>
        </p:nvSpPr>
        <p:spPr>
          <a:xfrm>
            <a:off x="3535680" y="996374"/>
            <a:ext cx="8656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If set to True (1), we will force the reprojection matrix </a:t>
            </a:r>
            <a:r>
              <a:rPr lang="en-US" dirty="0" err="1"/>
              <a:t>T_new</a:t>
            </a:r>
            <a:r>
              <a:rPr lang="en-US" dirty="0"/>
              <a:t> to be the identity matrix. This effectively removes basis-reprojection (local diabatization) approach and turns on the "naive" approach where no trivial crossings exist.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- [0]: No - we do want to use the LD approaches by default.</a:t>
            </a:r>
          </a:p>
          <a:p>
            <a:pPr algn="just"/>
            <a:r>
              <a:rPr lang="en-US" dirty="0"/>
              <a:t>- 1: Yes - one may need to turn on additional state tracking and phase correction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CE4B1-AD60-E6C6-3514-EE4146E7BF1B}"/>
              </a:ext>
            </a:extLst>
          </p:cNvPr>
          <p:cNvSpPr txBox="1"/>
          <p:nvPr/>
        </p:nvSpPr>
        <p:spPr>
          <a:xfrm>
            <a:off x="3952240" y="3183971"/>
            <a:ext cx="8087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Whether transform the amplitudes by the T transformation matrix</a:t>
            </a:r>
          </a:p>
          <a:p>
            <a:pPr algn="just"/>
            <a:r>
              <a:rPr lang="en-US" dirty="0"/>
              <a:t>- 0: do not transform by the T matrix (naive, but potentially correct approach) </a:t>
            </a:r>
          </a:p>
          <a:p>
            <a:pPr algn="just"/>
            <a:r>
              <a:rPr lang="en-US" dirty="0"/>
              <a:t>- 1: do transform it (as in LD, but maybe not needed if we directly transform basis)</a:t>
            </a:r>
          </a:p>
        </p:txBody>
      </p:sp>
    </p:spTree>
    <p:extLst>
      <p:ext uri="{BB962C8B-B14F-4D97-AF65-F5344CB8AC3E}">
        <p14:creationId xmlns:p14="http://schemas.microsoft.com/office/powerpoint/2010/main" val="1921054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92EE-E34A-EAA3-393A-7313F714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2F7589-E3D7-680C-9B6B-B02B6C5A8D07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A95FBA40-C773-42E4-146A-C519A91D9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D7D309A8-331F-5DAE-4F82-ABCA47DCE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040C877B-E70D-5C7A-3FD9-A8599DADA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62E5B2D3-E24A-3342-BAE7-FC96B2708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DD7440E-1F55-95C3-FD0D-DD3168C39545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01E094-6BB3-9412-3578-69ADE066EAA7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DE0888-8ADE-7D13-ED2D-DF1687B19C3E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4638B0-64A6-664A-390A-323985209DC2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AB301C-FE31-547D-F1A1-BB05D3B4D330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BD9D9D3-026F-C6FB-3938-0933FA4CE45D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9887DC82-42DC-D3B0-A596-84D962406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34A8132-F069-3D5D-9722-416F60A198A2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CE0F9B92-6CBD-DCA4-7254-F2FB45A494CB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049A335E-A10C-ED58-9AA1-92FD981BDB14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66715AF0-C060-FE11-17D5-6578E3EFA2B1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7181C963-5293-8C09-CAE0-1E83ED09B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9AE1252F-EF4A-41BD-58A1-312411F6B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EFB60-0B27-1095-82EF-0C013B6E517F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B7E0B8-2C52-42E0-97F3-A90A448F1AC3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FF6D26F-9167-BDC6-BF77-7D6C167C8B49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9D27C-5197-6C2E-E594-B4FA0A772C17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4FA7937-F78E-4C17-AACF-D94C93F9BD08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2943A310-D804-D70F-E508-44EFB08CE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8538E4-D60B-209C-7DF6-9F4E1BD50DED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F6B13C9B-40CB-45CE-AB3C-C0852587B86F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FCA9AFF9-457D-846A-CDB9-DB6376F3D081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E75B24B6-BB22-B4D9-7A1E-FBCC9DA88BE2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54F18B7F-8A06-8B03-9521-3C3E8FB69FF6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95820241-93A1-AC29-8231-0DAD87EF867A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6942D705-C7C9-0693-2CEF-9DA00A9C12E4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CF5681-640E-D63B-C390-63CD8E763662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0AE8D-BBD8-75DD-DF41-BF658E18C02E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</a:t>
            </a:r>
            <a:r>
              <a:rPr lang="ru-RU" sz="3200" b="1" dirty="0"/>
              <a:t>5</a:t>
            </a:r>
            <a:r>
              <a:rPr lang="en-US" sz="3200" b="1" dirty="0"/>
              <a:t>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Hop Proposal Probabilities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4527328E-54E6-A3F4-CB0B-D31BE1BB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FBA562F-8B01-3424-D60C-6D6C1AD96E82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A830CED3-60DA-E93C-CA08-C8106D702699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C2D47E57-5958-4238-CEF1-5C093933D21E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8894EB40-FE1F-A64E-D094-819C4511A5E0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DFE4EF77-6899-77A7-D507-5A19CF90E26B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DDFB8166-D567-C51D-F6B6-B72A6875BEFC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A9029-4FBB-7746-66BB-4D2BC1C5FFFA}"/>
              </a:ext>
            </a:extLst>
          </p:cNvPr>
          <p:cNvSpPr/>
          <p:nvPr/>
        </p:nvSpPr>
        <p:spPr>
          <a:xfrm>
            <a:off x="4481879" y="5040965"/>
            <a:ext cx="4356073" cy="793447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E63C5-E5C0-A8B0-5966-4BEFDD10C8C0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126995000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5677" y="698428"/>
            <a:ext cx="3863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FSSH: </a:t>
            </a:r>
          </a:p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Tully, J. C.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93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1061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4440" y="1516905"/>
            <a:ext cx="48792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GFSH:</a:t>
            </a:r>
          </a:p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Wang, L.; Trivedi, D.;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JCTC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2014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10, 3598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4440" y="2310822"/>
            <a:ext cx="477946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MSSH:</a:t>
            </a:r>
          </a:p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Akimov, A. V.; Trivedi, D.; Wang, L.;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J. Phys. Soc. </a:t>
            </a:r>
            <a:r>
              <a:rPr lang="en-US" sz="1400" i="1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Jpn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2015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84, 094002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7" descr="Image result for ub logo">
            <a:extLst>
              <a:ext uri="{FF2B5EF4-FFF2-40B4-BE49-F238E27FC236}">
                <a16:creationId xmlns:a16="http://schemas.microsoft.com/office/drawing/2014/main" id="{39110634-7B2C-2515-448A-50DC85BE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55F36-0116-B2E1-BB47-C515A0E1661F}"/>
              </a:ext>
            </a:extLst>
          </p:cNvPr>
          <p:cNvSpPr txBox="1"/>
          <p:nvPr/>
        </p:nvSpPr>
        <p:spPr>
          <a:xfrm>
            <a:off x="1044467" y="78613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Hop Proposal Probability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303AE-4C74-E7FE-A27D-D578D32FFF71}"/>
              </a:ext>
            </a:extLst>
          </p:cNvPr>
          <p:cNvSpPr txBox="1"/>
          <p:nvPr/>
        </p:nvSpPr>
        <p:spPr>
          <a:xfrm>
            <a:off x="194440" y="3284134"/>
            <a:ext cx="47794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</a:rPr>
              <a:t>FSSH2: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Araujo, L.;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Lasser</a:t>
            </a:r>
            <a:r>
              <a:rPr lang="en-US" sz="1400" dirty="0">
                <a:solidFill>
                  <a:srgbClr val="0000FF"/>
                </a:solidFill>
                <a:effectLst/>
              </a:rPr>
              <a:t>, C.; Schmidt, B.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Chem. Theory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Comput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20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3413–3419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E7B2B-0FA5-0C81-8DFC-8087B88F46C3}"/>
              </a:ext>
            </a:extLst>
          </p:cNvPr>
          <p:cNvSpPr txBox="1"/>
          <p:nvPr/>
        </p:nvSpPr>
        <p:spPr>
          <a:xfrm>
            <a:off x="75395" y="4833738"/>
            <a:ext cx="65601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MASH:</a:t>
            </a:r>
          </a:p>
          <a:p>
            <a:r>
              <a:rPr lang="en-US" sz="1400" dirty="0">
                <a:solidFill>
                  <a:srgbClr val="0000FF"/>
                </a:solidFill>
              </a:rPr>
              <a:t>(1)</a:t>
            </a:r>
            <a:r>
              <a:rPr lang="en-US" sz="1400" dirty="0" err="1">
                <a:solidFill>
                  <a:srgbClr val="0000FF"/>
                </a:solidFill>
              </a:rPr>
              <a:t>Mannouch</a:t>
            </a:r>
            <a:r>
              <a:rPr lang="en-US" sz="1400" dirty="0">
                <a:solidFill>
                  <a:srgbClr val="0000FF"/>
                </a:solidFill>
              </a:rPr>
              <a:t>, J. R.; Richardson, J. O. A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2023</a:t>
            </a:r>
            <a:r>
              <a:rPr lang="en-US" sz="1400" dirty="0">
                <a:solidFill>
                  <a:srgbClr val="0000FF"/>
                </a:solidFill>
              </a:rPr>
              <a:t>, 158, 104111</a:t>
            </a:r>
          </a:p>
          <a:p>
            <a:r>
              <a:rPr lang="en-US" sz="1400" dirty="0">
                <a:solidFill>
                  <a:srgbClr val="0000FF"/>
                </a:solidFill>
              </a:rPr>
              <a:t>(2)</a:t>
            </a:r>
            <a:r>
              <a:rPr lang="en-US" sz="1400" dirty="0" err="1">
                <a:solidFill>
                  <a:srgbClr val="0000FF"/>
                </a:solidFill>
              </a:rPr>
              <a:t>Runeson</a:t>
            </a:r>
            <a:r>
              <a:rPr lang="en-US" sz="1400" dirty="0">
                <a:solidFill>
                  <a:srgbClr val="0000FF"/>
                </a:solidFill>
              </a:rPr>
              <a:t>, J. E.; </a:t>
            </a:r>
            <a:r>
              <a:rPr lang="en-US" sz="1400" dirty="0" err="1">
                <a:solidFill>
                  <a:srgbClr val="0000FF"/>
                </a:solidFill>
              </a:rPr>
              <a:t>Manolopoulos</a:t>
            </a:r>
            <a:r>
              <a:rPr lang="en-US" sz="1400" dirty="0">
                <a:solidFill>
                  <a:srgbClr val="0000FF"/>
                </a:solidFill>
              </a:rPr>
              <a:t>, D. E. A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2023</a:t>
            </a:r>
            <a:r>
              <a:rPr lang="en-US" sz="1400" dirty="0">
                <a:solidFill>
                  <a:srgbClr val="0000FF"/>
                </a:solidFill>
              </a:rPr>
              <a:t>, 159, 094115.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(3)E. </a:t>
            </a:r>
            <a:r>
              <a:rPr lang="en-US" sz="1400" dirty="0" err="1">
                <a:solidFill>
                  <a:srgbClr val="0000FF"/>
                </a:solidFill>
              </a:rPr>
              <a:t>Runeson</a:t>
            </a:r>
            <a:r>
              <a:rPr lang="en-US" sz="1400" dirty="0">
                <a:solidFill>
                  <a:srgbClr val="0000FF"/>
                </a:solidFill>
              </a:rPr>
              <a:t>, J.; P. Fay, T.; E. </a:t>
            </a:r>
            <a:r>
              <a:rPr lang="en-US" sz="1400" dirty="0" err="1">
                <a:solidFill>
                  <a:srgbClr val="0000FF"/>
                </a:solidFill>
              </a:rPr>
              <a:t>Manolopoulos</a:t>
            </a:r>
            <a:r>
              <a:rPr lang="en-US" sz="1400" dirty="0">
                <a:solidFill>
                  <a:srgbClr val="0000FF"/>
                </a:solidFill>
              </a:rPr>
              <a:t>, D. </a:t>
            </a:r>
            <a:r>
              <a:rPr lang="en-US" sz="1400" i="1" dirty="0">
                <a:solidFill>
                  <a:srgbClr val="0000FF"/>
                </a:solidFill>
              </a:rPr>
              <a:t>PCCP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2024</a:t>
            </a:r>
            <a:r>
              <a:rPr lang="en-US" sz="1400" dirty="0">
                <a:solidFill>
                  <a:srgbClr val="0000FF"/>
                </a:solidFill>
              </a:rPr>
              <a:t>, 26, 4929–4938.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8E848-4508-9C1B-3124-1ACE7D6F5C63}"/>
              </a:ext>
            </a:extLst>
          </p:cNvPr>
          <p:cNvSpPr txBox="1"/>
          <p:nvPr/>
        </p:nvSpPr>
        <p:spPr>
          <a:xfrm>
            <a:off x="7090644" y="5930888"/>
            <a:ext cx="47598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LZ:</a:t>
            </a:r>
          </a:p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Tully, J. C.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1990</a:t>
            </a:r>
            <a:r>
              <a:rPr lang="en-US" sz="1400" dirty="0">
                <a:solidFill>
                  <a:srgbClr val="0000FF"/>
                </a:solidFill>
              </a:rPr>
              <a:t>, 93, 1061, 1071</a:t>
            </a:r>
          </a:p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Belyaev, A. K.; Lebedev, O. V.  </a:t>
            </a:r>
            <a:r>
              <a:rPr lang="en-US" sz="1400" i="1" dirty="0">
                <a:solidFill>
                  <a:srgbClr val="0000FF"/>
                </a:solidFill>
              </a:rPr>
              <a:t>Phys. Rev. A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2011</a:t>
            </a:r>
            <a:r>
              <a:rPr lang="en-US" sz="1400" dirty="0">
                <a:solidFill>
                  <a:srgbClr val="0000FF"/>
                </a:solidFill>
              </a:rPr>
              <a:t>, 84, 014701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C74A8-AF1F-38FE-1521-479BE480D37F}"/>
              </a:ext>
            </a:extLst>
          </p:cNvPr>
          <p:cNvSpPr txBox="1"/>
          <p:nvPr/>
        </p:nvSpPr>
        <p:spPr>
          <a:xfrm>
            <a:off x="207182" y="5843099"/>
            <a:ext cx="68834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ZN:</a:t>
            </a:r>
          </a:p>
          <a:p>
            <a:pPr marL="342900" indent="-342900">
              <a:buAutoNum type="arabicParenBoth"/>
            </a:pPr>
            <a:r>
              <a:rPr lang="pt-BR" sz="1400" dirty="0">
                <a:solidFill>
                  <a:srgbClr val="0000FF"/>
                </a:solidFill>
              </a:rPr>
              <a:t>Zhu, C., Nakamura, H., Re, N., Aquilanti, V., 1992. J. Chem. Phys. 97, 1892</a:t>
            </a:r>
          </a:p>
          <a:p>
            <a:pPr marL="342900" indent="-342900">
              <a:buAutoNum type="arabicParenBoth"/>
            </a:pPr>
            <a:r>
              <a:rPr lang="pl-PL" sz="1400" dirty="0">
                <a:solidFill>
                  <a:srgbClr val="0000FF"/>
                </a:solidFill>
              </a:rPr>
              <a:t>Hanasaki, K., Kanno, M., Niehaus, T.A., Kono, H., 2018. J. Chem. Phys. 149. 244117</a:t>
            </a:r>
            <a:endParaRPr lang="en-US" sz="1400" dirty="0">
              <a:solidFill>
                <a:srgbClr val="0000FF"/>
              </a:solidFill>
            </a:endParaRPr>
          </a:p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Yu, L., Xu, C., Lei, Y., Zhu, C., Wen, Z., 2014. Phys. Chem. Chem. Phys. 16. 25883.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3BEE3-B5E0-1E98-2CAA-C06B25AFE615}"/>
              </a:ext>
            </a:extLst>
          </p:cNvPr>
          <p:cNvSpPr txBox="1"/>
          <p:nvPr/>
        </p:nvSpPr>
        <p:spPr>
          <a:xfrm>
            <a:off x="253796" y="4341792"/>
            <a:ext cx="4485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</a:rPr>
              <a:t>FSSH3: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</a:rPr>
              <a:t>Mol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 Phys.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Mol. Phys. </a:t>
            </a:r>
            <a:r>
              <a:rPr lang="en-US" sz="1400" dirty="0">
                <a:solidFill>
                  <a:srgbClr val="0000FF"/>
                </a:solidFill>
              </a:rPr>
              <a:t>e2376893</a:t>
            </a:r>
            <a:endParaRPr lang="en-US" sz="1400" dirty="0">
              <a:solidFill>
                <a:srgbClr val="0000FF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DCB1C-824D-56D6-D4EB-307BCF61719E}"/>
                  </a:ext>
                </a:extLst>
              </p:cNvPr>
              <p:cNvSpPr txBox="1"/>
              <p:nvPr/>
            </p:nvSpPr>
            <p:spPr>
              <a:xfrm>
                <a:off x="4028859" y="698428"/>
                <a:ext cx="2970081" cy="641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𝑥𝐻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DCB1C-824D-56D6-D4EB-307BCF617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859" y="698428"/>
                <a:ext cx="2970081" cy="64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61EAC-408F-225B-44B5-A8912A247D28}"/>
                  </a:ext>
                </a:extLst>
              </p:cNvPr>
              <p:cNvSpPr txBox="1"/>
              <p:nvPr/>
            </p:nvSpPr>
            <p:spPr>
              <a:xfrm>
                <a:off x="7135235" y="679609"/>
                <a:ext cx="2970081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61EAC-408F-225B-44B5-A8912A24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235" y="679609"/>
                <a:ext cx="2970081" cy="7287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674BFB-105E-AD39-7608-C76DEE3B9315}"/>
                  </a:ext>
                </a:extLst>
              </p:cNvPr>
              <p:cNvSpPr txBox="1"/>
              <p:nvPr/>
            </p:nvSpPr>
            <p:spPr>
              <a:xfrm>
                <a:off x="5022820" y="1482694"/>
                <a:ext cx="3952240" cy="616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𝐺𝐹𝑆𝐻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674BFB-105E-AD39-7608-C76DEE3B9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820" y="1482694"/>
                <a:ext cx="3952240" cy="6168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AEB106-E8EC-E91B-E6DF-B79A2752FB1F}"/>
                  </a:ext>
                </a:extLst>
              </p:cNvPr>
              <p:cNvSpPr/>
              <p:nvPr/>
            </p:nvSpPr>
            <p:spPr>
              <a:xfrm>
                <a:off x="4999110" y="2357080"/>
                <a:ext cx="3049745" cy="404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𝑀𝑆𝑆𝐻</m:t>
                          </m:r>
                        </m:sup>
                      </m:sSubSup>
                      <m:r>
                        <a:rPr lang="en-US" sz="16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AEB106-E8EC-E91B-E6DF-B79A2752F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110" y="2357080"/>
                <a:ext cx="3049745" cy="404726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59D6F5-E29D-3F6E-4D76-7B6F75F6C06D}"/>
                  </a:ext>
                </a:extLst>
              </p:cNvPr>
              <p:cNvSpPr txBox="1"/>
              <p:nvPr/>
            </p:nvSpPr>
            <p:spPr>
              <a:xfrm>
                <a:off x="4999110" y="3192587"/>
                <a:ext cx="6645910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𝐹𝑆𝑆𝐻</m:t>
                        </m:r>
                        <m: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bSup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sz="1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  <m:r>
                              <a:rPr lang="en-US" sz="1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6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sz="1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59D6F5-E29D-3F6E-4D76-7B6F75F6C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110" y="3192587"/>
                <a:ext cx="6645910" cy="6455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24A93-1BF1-5835-ED75-5EEDB672D2F3}"/>
                  </a:ext>
                </a:extLst>
              </p:cNvPr>
              <p:cNvSpPr txBox="1"/>
              <p:nvPr/>
            </p:nvSpPr>
            <p:spPr>
              <a:xfrm>
                <a:off x="4935921" y="4070387"/>
                <a:ext cx="4602480" cy="689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b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24A93-1BF1-5835-ED75-5EEDB672D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21" y="4070387"/>
                <a:ext cx="4602480" cy="6892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AB3032-212F-4694-EC8C-18D24BA8A2AA}"/>
                  </a:ext>
                </a:extLst>
              </p:cNvPr>
              <p:cNvSpPr txBox="1"/>
              <p:nvPr/>
            </p:nvSpPr>
            <p:spPr>
              <a:xfrm>
                <a:off x="9248672" y="4239663"/>
                <a:ext cx="2372819" cy="448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sz="1600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𝑱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sz="1600" b="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600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𝑱𝒙</m:t>
                                </m:r>
                              </m:e>
                            </m:d>
                          </m:e>
                          <m:sub>
                            <m:r>
                              <a:rPr lang="en-US" sz="16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6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AB3032-212F-4694-EC8C-18D24BA8A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672" y="4239663"/>
                <a:ext cx="2372819" cy="448584"/>
              </a:xfrm>
              <a:prstGeom prst="rect">
                <a:avLst/>
              </a:prstGeom>
              <a:blipFill>
                <a:blip r:embed="rId9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369C3A-B679-0D01-2A9D-3B354ABFC9DF}"/>
                  </a:ext>
                </a:extLst>
              </p:cNvPr>
              <p:cNvSpPr txBox="1"/>
              <p:nvPr/>
            </p:nvSpPr>
            <p:spPr>
              <a:xfrm>
                <a:off x="6096000" y="4999004"/>
                <a:ext cx="2656561" cy="660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=1, 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=0,∀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369C3A-B679-0D01-2A9D-3B354ABFC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99004"/>
                <a:ext cx="2656561" cy="660694"/>
              </a:xfrm>
              <a:prstGeom prst="rect">
                <a:avLst/>
              </a:prstGeom>
              <a:blipFill>
                <a:blip r:embed="rId10"/>
                <a:stretch>
                  <a:fillRect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A graph of a triangle with many colored dots&#10;&#10;Description automatically generated with medium confidence">
            <a:extLst>
              <a:ext uri="{FF2B5EF4-FFF2-40B4-BE49-F238E27FC236}">
                <a16:creationId xmlns:a16="http://schemas.microsoft.com/office/drawing/2014/main" id="{AAF168B3-CE4C-447C-0360-8B32A646039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335" y="4807267"/>
            <a:ext cx="1483565" cy="136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76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39072-59D3-D919-D06D-4732F6CDB70E}"/>
                  </a:ext>
                </a:extLst>
              </p:cNvPr>
              <p:cNvSpPr txBox="1"/>
              <p:nvPr/>
            </p:nvSpPr>
            <p:spPr>
              <a:xfrm>
                <a:off x="645160" y="1534591"/>
                <a:ext cx="817372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→∗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ii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F39072-59D3-D919-D06D-4732F6CDB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1534591"/>
                <a:ext cx="8173720" cy="576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A6459D-ACFE-A5AA-9C84-72E88C6BC030}"/>
                  </a:ext>
                </a:extLst>
              </p:cNvPr>
              <p:cNvSpPr txBox="1"/>
              <p:nvPr/>
            </p:nvSpPr>
            <p:spPr>
              <a:xfrm>
                <a:off x="645160" y="2247167"/>
                <a:ext cx="2722880" cy="572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𝑥𝐻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A6459D-ACFE-A5AA-9C84-72E88C6BC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2247167"/>
                <a:ext cx="2722880" cy="572914"/>
              </a:xfrm>
              <a:prstGeom prst="rect">
                <a:avLst/>
              </a:prstGeom>
              <a:blipFill>
                <a:blip r:embed="rId3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AA222-86B8-44F2-6C78-217A297D5607}"/>
                  </a:ext>
                </a:extLst>
              </p:cNvPr>
              <p:cNvSpPr txBox="1"/>
              <p:nvPr/>
            </p:nvSpPr>
            <p:spPr>
              <a:xfrm>
                <a:off x="645160" y="2870121"/>
                <a:ext cx="7161901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→∗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en-US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en-US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AA222-86B8-44F2-6C78-217A297D5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2870121"/>
                <a:ext cx="7161901" cy="649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B55D78-A916-1DF3-CD8C-EED808F01654}"/>
                  </a:ext>
                </a:extLst>
              </p:cNvPr>
              <p:cNvSpPr txBox="1"/>
              <p:nvPr/>
            </p:nvSpPr>
            <p:spPr>
              <a:xfrm>
                <a:off x="617557" y="3579235"/>
                <a:ext cx="2457821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B55D78-A916-1DF3-CD8C-EED808F0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7" y="3579235"/>
                <a:ext cx="2457821" cy="6491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6A4D0A-9C43-FEF6-9161-3E450C1FE218}"/>
                  </a:ext>
                </a:extLst>
              </p:cNvPr>
              <p:cNvSpPr txBox="1"/>
              <p:nvPr/>
            </p:nvSpPr>
            <p:spPr>
              <a:xfrm>
                <a:off x="645160" y="4278427"/>
                <a:ext cx="3185160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6A4D0A-9C43-FEF6-9161-3E450C1F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4278427"/>
                <a:ext cx="3185160" cy="6491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7" descr="Image result for ub logo">
            <a:extLst>
              <a:ext uri="{FF2B5EF4-FFF2-40B4-BE49-F238E27FC236}">
                <a16:creationId xmlns:a16="http://schemas.microsoft.com/office/drawing/2014/main" id="{22F344F9-E107-5CB3-66D8-18C3C81ED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B94001-18A4-1B6E-8F8A-957692B45649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FSSH and MSSH Hop Proposal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268AB58-5068-8B1A-878D-0F8BD7FDCBEF}"/>
                  </a:ext>
                </a:extLst>
              </p:cNvPr>
              <p:cNvSpPr/>
              <p:nvPr/>
            </p:nvSpPr>
            <p:spPr>
              <a:xfrm>
                <a:off x="3830320" y="4278427"/>
                <a:ext cx="3607847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𝑣𝑖𝑏</m:t>
                                  </m:r>
                                </m:sup>
                              </m:sSub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𝑣𝑖𝑏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268AB58-5068-8B1A-878D-0F8BD7FDC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320" y="4278427"/>
                <a:ext cx="3607847" cy="576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9651024-300D-3827-BBC0-419D50D743A6}"/>
              </a:ext>
            </a:extLst>
          </p:cNvPr>
          <p:cNvSpPr/>
          <p:nvPr/>
        </p:nvSpPr>
        <p:spPr>
          <a:xfrm>
            <a:off x="8257086" y="3701611"/>
            <a:ext cx="356378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Tully, J. C.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J. Chem. Phys.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93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1061</a:t>
            </a:r>
          </a:p>
          <a:p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ffectLst/>
              </a:rPr>
              <a:t>Fabiano, E.; </a:t>
            </a:r>
            <a:r>
              <a:rPr lang="en-US" sz="1600" dirty="0" err="1">
                <a:solidFill>
                  <a:srgbClr val="0000FF"/>
                </a:solidFill>
                <a:effectLst/>
              </a:rPr>
              <a:t>Keal</a:t>
            </a:r>
            <a:r>
              <a:rPr lang="en-US" sz="1600" dirty="0">
                <a:solidFill>
                  <a:srgbClr val="0000FF"/>
                </a:solidFill>
                <a:effectLst/>
              </a:rPr>
              <a:t>, T. W.; Thiel, W.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Chem. Phys.</a:t>
            </a:r>
            <a:r>
              <a:rPr lang="en-US" sz="1600" dirty="0">
                <a:solidFill>
                  <a:srgbClr val="0000FF"/>
                </a:solidFill>
                <a:effectLst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2008</a:t>
            </a:r>
            <a:r>
              <a:rPr lang="en-US" sz="1600" dirty="0">
                <a:solidFill>
                  <a:srgbClr val="0000FF"/>
                </a:solidFill>
                <a:effectLst/>
              </a:rPr>
              <a:t>,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349</a:t>
            </a:r>
            <a:r>
              <a:rPr lang="en-US" sz="1600" dirty="0">
                <a:solidFill>
                  <a:srgbClr val="0000FF"/>
                </a:solidFill>
                <a:effectLst/>
              </a:rPr>
              <a:t> (1), 334–347.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0C5336-1469-7CAB-14DA-FFE1DA65BE25}"/>
              </a:ext>
            </a:extLst>
          </p:cNvPr>
          <p:cNvSpPr txBox="1"/>
          <p:nvPr/>
        </p:nvSpPr>
        <p:spPr>
          <a:xfrm>
            <a:off x="8257086" y="3149941"/>
            <a:ext cx="129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References: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63C035-56DD-5BC1-1D80-F21300DA6F42}"/>
                  </a:ext>
                </a:extLst>
              </p:cNvPr>
              <p:cNvSpPr/>
              <p:nvPr/>
            </p:nvSpPr>
            <p:spPr>
              <a:xfrm>
                <a:off x="1113219" y="6182784"/>
                <a:ext cx="3416192" cy="443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𝑀𝑆𝑆𝐻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𝑓𝑓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463C035-56DD-5BC1-1D80-F21300DA6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219" y="6182784"/>
                <a:ext cx="3416192" cy="443839"/>
              </a:xfrm>
              <a:prstGeom prst="rect">
                <a:avLst/>
              </a:prstGeom>
              <a:blipFill>
                <a:blip r:embed="rId9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9865D82-C0B3-AC5B-9AB6-B15D779C09CD}"/>
              </a:ext>
            </a:extLst>
          </p:cNvPr>
          <p:cNvSpPr/>
          <p:nvPr/>
        </p:nvSpPr>
        <p:spPr>
          <a:xfrm>
            <a:off x="4589012" y="6259921"/>
            <a:ext cx="73624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Akimov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A. V.; Trivedi, D.; Wang, L.; </a:t>
            </a:r>
            <a:r>
              <a:rPr lang="en-US" sz="16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J. Phys. Soc. </a:t>
            </a:r>
            <a:r>
              <a:rPr lang="en-US" sz="1600" i="1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Jpn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2015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84, 094002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4EE16-013E-8115-3A98-C5BC0F23ABF0}"/>
              </a:ext>
            </a:extLst>
          </p:cNvPr>
          <p:cNvSpPr txBox="1"/>
          <p:nvPr/>
        </p:nvSpPr>
        <p:spPr>
          <a:xfrm>
            <a:off x="467359" y="5475923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MSSH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E6FCD-ED57-5E4B-FB27-31E50386A2E2}"/>
              </a:ext>
            </a:extLst>
          </p:cNvPr>
          <p:cNvSpPr txBox="1"/>
          <p:nvPr/>
        </p:nvSpPr>
        <p:spPr>
          <a:xfrm>
            <a:off x="305818" y="890679"/>
            <a:ext cx="807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FSSH</a:t>
            </a:r>
          </a:p>
        </p:txBody>
      </p:sp>
    </p:spTree>
    <p:extLst>
      <p:ext uri="{BB962C8B-B14F-4D97-AF65-F5344CB8AC3E}">
        <p14:creationId xmlns:p14="http://schemas.microsoft.com/office/powerpoint/2010/main" val="2576343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DE170338-3C3F-26C9-57F3-EBD5DA8B1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D0EA37-0D7A-A534-BA83-10A950FB718B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GFSH and FSSH-2 Hop Proposal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224A21-C0F9-A44E-F833-C7A01608F64F}"/>
                  </a:ext>
                </a:extLst>
              </p:cNvPr>
              <p:cNvSpPr txBox="1"/>
              <p:nvPr/>
            </p:nvSpPr>
            <p:spPr>
              <a:xfrm>
                <a:off x="675640" y="3234176"/>
                <a:ext cx="3952240" cy="68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𝐺𝐹𝑆𝐻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224A21-C0F9-A44E-F833-C7A01608F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" y="3234176"/>
                <a:ext cx="3952240" cy="682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8D119-9121-7CF3-C2DE-F9318D34789A}"/>
                  </a:ext>
                </a:extLst>
              </p:cNvPr>
              <p:cNvSpPr txBox="1"/>
              <p:nvPr/>
            </p:nvSpPr>
            <p:spPr>
              <a:xfrm>
                <a:off x="675640" y="4061231"/>
                <a:ext cx="3779520" cy="5296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→∗</m:t>
                        </m:r>
                      </m:sub>
                    </m:sSub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- total flux out of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8D119-9121-7CF3-C2DE-F9318D34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" y="4061231"/>
                <a:ext cx="3779520" cy="529697"/>
              </a:xfrm>
              <a:prstGeom prst="rect">
                <a:avLst/>
              </a:prstGeom>
              <a:blipFill>
                <a:blip r:embed="rId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27C014-4E48-A2BC-9D35-EE72918E5951}"/>
                  </a:ext>
                </a:extLst>
              </p:cNvPr>
              <p:cNvSpPr txBox="1"/>
              <p:nvPr/>
            </p:nvSpPr>
            <p:spPr>
              <a:xfrm>
                <a:off x="645160" y="4667757"/>
                <a:ext cx="4297680" cy="1119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- conditional probability of ending up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if left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27C014-4E48-A2BC-9D35-EE72918E5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4667757"/>
                <a:ext cx="4297680" cy="1119602"/>
              </a:xfrm>
              <a:prstGeom prst="rect">
                <a:avLst/>
              </a:prstGeom>
              <a:blipFill>
                <a:blip r:embed="rId5"/>
                <a:stretch>
                  <a:fillRect l="-1277" t="-32240" r="-99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E9EF44-722F-9A58-C793-E30CF267E196}"/>
                  </a:ext>
                </a:extLst>
              </p:cNvPr>
              <p:cNvSpPr txBox="1"/>
              <p:nvPr/>
            </p:nvSpPr>
            <p:spPr>
              <a:xfrm>
                <a:off x="645160" y="5930529"/>
                <a:ext cx="2611120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𝐺𝐹𝑆𝐻</m:t>
                          </m:r>
                        </m:sup>
                      </m:sSubSup>
                      <m:r>
                        <a:rPr lang="en-GB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E9EF44-722F-9A58-C793-E30CF267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60" y="5930529"/>
                <a:ext cx="2611120" cy="419154"/>
              </a:xfrm>
              <a:prstGeom prst="rect">
                <a:avLst/>
              </a:prstGeom>
              <a:blipFill>
                <a:blip r:embed="rId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D1009D-74C1-89EC-77CB-397C0D1ADACD}"/>
                  </a:ext>
                </a:extLst>
              </p:cNvPr>
              <p:cNvSpPr txBox="1"/>
              <p:nvPr/>
            </p:nvSpPr>
            <p:spPr>
              <a:xfrm>
                <a:off x="350520" y="2401773"/>
                <a:ext cx="18491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D1009D-74C1-89EC-77CB-397C0D1A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" y="2401773"/>
                <a:ext cx="1849120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B95A6-A498-E35E-9D1C-DE4E53FEA131}"/>
                  </a:ext>
                </a:extLst>
              </p:cNvPr>
              <p:cNvSpPr txBox="1"/>
              <p:nvPr/>
            </p:nvSpPr>
            <p:spPr>
              <a:xfrm>
                <a:off x="513080" y="2780164"/>
                <a:ext cx="1706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GB" sz="18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GB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GB" sz="1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B95A6-A498-E35E-9D1C-DE4E53FEA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80" y="2780164"/>
                <a:ext cx="170688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FE0FDE-AF8A-27DE-E49B-904165854C43}"/>
                  </a:ext>
                </a:extLst>
              </p:cNvPr>
              <p:cNvSpPr txBox="1"/>
              <p:nvPr/>
            </p:nvSpPr>
            <p:spPr>
              <a:xfrm>
                <a:off x="1168400" y="1759253"/>
                <a:ext cx="325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FE0FDE-AF8A-27DE-E49B-904165854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0" y="1759253"/>
                <a:ext cx="325120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94F7AD-C4E7-AED3-F5C4-A46057B0A6FB}"/>
              </a:ext>
            </a:extLst>
          </p:cNvPr>
          <p:cNvSpPr txBox="1"/>
          <p:nvPr/>
        </p:nvSpPr>
        <p:spPr>
          <a:xfrm>
            <a:off x="350520" y="894974"/>
            <a:ext cx="429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GFSH</a:t>
            </a:r>
            <a:r>
              <a:rPr lang="en-US" dirty="0"/>
              <a:t> – starts with considering the changes of populations of all states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04DC7A-24D1-F584-D228-85903E953ADC}"/>
              </a:ext>
            </a:extLst>
          </p:cNvPr>
          <p:cNvSpPr txBox="1"/>
          <p:nvPr/>
        </p:nvSpPr>
        <p:spPr>
          <a:xfrm>
            <a:off x="8143240" y="710308"/>
            <a:ext cx="116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FSSH-2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0CBDBA-F654-5971-35E6-6567B0CAB043}"/>
                  </a:ext>
                </a:extLst>
              </p:cNvPr>
              <p:cNvSpPr txBox="1"/>
              <p:nvPr/>
            </p:nvSpPr>
            <p:spPr>
              <a:xfrm>
                <a:off x="5209540" y="1650705"/>
                <a:ext cx="455422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GB" sz="18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GB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GB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GB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GB" sz="18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GB" sz="18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0CBDBA-F654-5971-35E6-6567B0CAB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540" y="1650705"/>
                <a:ext cx="4554220" cy="5821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BEBCAF-3992-B7EE-80CA-8E917D317EAB}"/>
                  </a:ext>
                </a:extLst>
              </p:cNvPr>
              <p:cNvSpPr txBox="1"/>
              <p:nvPr/>
            </p:nvSpPr>
            <p:spPr>
              <a:xfrm>
                <a:off x="6316980" y="1118059"/>
                <a:ext cx="53251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</a:t>
                </a:r>
                <a:r>
                  <a:rPr lang="en-US" dirty="0">
                    <a:solidFill>
                      <a:schemeClr val="tx1"/>
                    </a:solidFill>
                  </a:rPr>
                  <a:t>otal flux out of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the same as in the FSSH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BEBCAF-3992-B7EE-80CA-8E917D317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980" y="1118059"/>
                <a:ext cx="5325110" cy="369332"/>
              </a:xfrm>
              <a:prstGeom prst="rect">
                <a:avLst/>
              </a:prstGeom>
              <a:blipFill>
                <a:blip r:embed="rId11"/>
                <a:stretch>
                  <a:fillRect l="-91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D1AEAE-020F-CCA4-3980-1A16AD09DEF9}"/>
                  </a:ext>
                </a:extLst>
              </p:cNvPr>
              <p:cNvSpPr txBox="1"/>
              <p:nvPr/>
            </p:nvSpPr>
            <p:spPr>
              <a:xfrm>
                <a:off x="10347960" y="1618565"/>
                <a:ext cx="1706880" cy="384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GB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18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en-GB" sz="18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GB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D1AEAE-020F-CCA4-3980-1A16AD09D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7960" y="1618565"/>
                <a:ext cx="1706880" cy="384657"/>
              </a:xfrm>
              <a:prstGeom prst="rect">
                <a:avLst/>
              </a:prstGeom>
              <a:blipFill>
                <a:blip r:embed="rId12"/>
                <a:stretch>
                  <a:fillRect l="-20000" t="-111111" b="-179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B60E0C-579B-6EEE-53F7-8942FF7C83DE}"/>
                  </a:ext>
                </a:extLst>
              </p:cNvPr>
              <p:cNvSpPr txBox="1"/>
              <p:nvPr/>
            </p:nvSpPr>
            <p:spPr>
              <a:xfrm>
                <a:off x="6233160" y="2430465"/>
                <a:ext cx="5821680" cy="1466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→∗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endChr m:val=""/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d>
                                      <m:dPr>
                                        <m:begChr m:val=""/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𝑗𝑗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14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≠</m:t>
                                        </m:r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begChr m:val=""/>
                                            <m:ctrlP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𝑗𝑗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nary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B60E0C-579B-6EEE-53F7-8942FF7C8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60" y="2430465"/>
                <a:ext cx="5821680" cy="1466620"/>
              </a:xfrm>
              <a:prstGeom prst="rect">
                <a:avLst/>
              </a:prstGeom>
              <a:blipFill>
                <a:blip r:embed="rId13"/>
                <a:stretch>
                  <a:fillRect l="-105" b="-27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DBF823-7732-0F6E-3AB7-EBE2444BD433}"/>
                  </a:ext>
                </a:extLst>
              </p:cNvPr>
              <p:cNvSpPr txBox="1"/>
              <p:nvPr/>
            </p:nvSpPr>
            <p:spPr>
              <a:xfrm>
                <a:off x="5429250" y="4076622"/>
                <a:ext cx="4114800" cy="455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𝐹𝑆𝑆𝐻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bSup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- the interpretation is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5DBF823-7732-0F6E-3AB7-EBE2444BD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4076622"/>
                <a:ext cx="4114800" cy="4558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8B0742-2226-3F01-8630-D8AA1223B311}"/>
                  </a:ext>
                </a:extLst>
              </p:cNvPr>
              <p:cNvSpPr txBox="1"/>
              <p:nvPr/>
            </p:nvSpPr>
            <p:spPr>
              <a:xfrm>
                <a:off x="5429250" y="4693531"/>
                <a:ext cx="5599430" cy="473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𝐹𝑆𝑆𝐻</m:t>
                        </m:r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bSup>
                    <m:r>
                      <a:rPr lang="en-US" sz="1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𝛥</m:t>
                                    </m:r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- the correction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8B0742-2226-3F01-8630-D8AA1223B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4693531"/>
                <a:ext cx="5599430" cy="4733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4120B2-856B-E02E-5B0D-5BF43813F449}"/>
                  </a:ext>
                </a:extLst>
              </p:cNvPr>
              <p:cNvSpPr txBox="1"/>
              <p:nvPr/>
            </p:nvSpPr>
            <p:spPr>
              <a:xfrm>
                <a:off x="5401945" y="5254129"/>
                <a:ext cx="664591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𝐹𝑆𝑆𝐻</m:t>
                        </m:r>
                        <m: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bSup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𝛥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4120B2-856B-E02E-5B0D-5BF43813F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945" y="5254129"/>
                <a:ext cx="6645910" cy="71468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3F9146-408B-CEBC-5DAD-73F2C3890E1C}"/>
                  </a:ext>
                </a:extLst>
              </p:cNvPr>
              <p:cNvSpPr txBox="1"/>
              <p:nvPr/>
            </p:nvSpPr>
            <p:spPr>
              <a:xfrm>
                <a:off x="5439410" y="5963312"/>
                <a:ext cx="3220720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𝐹𝑆𝑆𝐻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3F9146-408B-CEBC-5DAD-73F2C389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410" y="5963312"/>
                <a:ext cx="3220720" cy="63575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8B737501-4C9D-8BEF-B7E6-F3E9E29BB538}"/>
              </a:ext>
            </a:extLst>
          </p:cNvPr>
          <p:cNvSpPr/>
          <p:nvPr/>
        </p:nvSpPr>
        <p:spPr>
          <a:xfrm>
            <a:off x="212151" y="6444588"/>
            <a:ext cx="48792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Wang, L.; Trivedi, D.; </a:t>
            </a:r>
            <a:r>
              <a:rPr lang="en-US" sz="16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JCTC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2014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10, 3598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E89F3-0435-0B71-AD50-25FD92DB9FA1}"/>
              </a:ext>
            </a:extLst>
          </p:cNvPr>
          <p:cNvSpPr txBox="1"/>
          <p:nvPr/>
        </p:nvSpPr>
        <p:spPr>
          <a:xfrm>
            <a:off x="5218399" y="6429786"/>
            <a:ext cx="688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ffectLst/>
              </a:rPr>
              <a:t>Araujo, L.; </a:t>
            </a:r>
            <a:r>
              <a:rPr lang="en-US" sz="1600" dirty="0" err="1">
                <a:solidFill>
                  <a:srgbClr val="0000FF"/>
                </a:solidFill>
                <a:effectLst/>
              </a:rPr>
              <a:t>Lasser</a:t>
            </a:r>
            <a:r>
              <a:rPr lang="en-US" sz="1600" dirty="0">
                <a:solidFill>
                  <a:srgbClr val="0000FF"/>
                </a:solidFill>
                <a:effectLst/>
              </a:rPr>
              <a:t>, C.; Schmidt, B.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J. Chem. Theory </a:t>
            </a:r>
            <a:r>
              <a:rPr lang="en-US" sz="1600" i="1" dirty="0" err="1">
                <a:solidFill>
                  <a:srgbClr val="0000FF"/>
                </a:solidFill>
                <a:effectLst/>
              </a:rPr>
              <a:t>Comput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.</a:t>
            </a:r>
            <a:r>
              <a:rPr lang="en-US" sz="1600" dirty="0">
                <a:solidFill>
                  <a:srgbClr val="0000FF"/>
                </a:solidFill>
                <a:effectLst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600" dirty="0">
                <a:solidFill>
                  <a:srgbClr val="0000FF"/>
                </a:solidFill>
                <a:effectLst/>
              </a:rPr>
              <a:t>,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20</a:t>
            </a:r>
            <a:r>
              <a:rPr lang="en-US" sz="1600" dirty="0">
                <a:solidFill>
                  <a:srgbClr val="0000FF"/>
                </a:solidFill>
                <a:effectLst/>
              </a:rPr>
              <a:t>, 3413–3419</a:t>
            </a:r>
          </a:p>
        </p:txBody>
      </p:sp>
    </p:spTree>
    <p:extLst>
      <p:ext uri="{BB962C8B-B14F-4D97-AF65-F5344CB8AC3E}">
        <p14:creationId xmlns:p14="http://schemas.microsoft.com/office/powerpoint/2010/main" val="157086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D237218B-87CE-793F-7425-6DB854CB0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AD6AC-9164-65D2-DBAA-FF0324199129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FSSH-3 Hop Proposal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DA1CB5-7EAF-D2F3-3CC5-E0429F62018B}"/>
                  </a:ext>
                </a:extLst>
              </p:cNvPr>
              <p:cNvSpPr txBox="1"/>
              <p:nvPr/>
            </p:nvSpPr>
            <p:spPr>
              <a:xfrm>
                <a:off x="1514668" y="926660"/>
                <a:ext cx="4307840" cy="561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DA1CB5-7EAF-D2F3-3CC5-E0429F620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68" y="926660"/>
                <a:ext cx="4307840" cy="561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803729-DD86-96D2-07D4-B29D8E976C66}"/>
                  </a:ext>
                </a:extLst>
              </p:cNvPr>
              <p:cNvSpPr txBox="1"/>
              <p:nvPr/>
            </p:nvSpPr>
            <p:spPr>
              <a:xfrm>
                <a:off x="1534574" y="1581408"/>
                <a:ext cx="3972560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803729-DD86-96D2-07D4-B29D8E97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574" y="1581408"/>
                <a:ext cx="3972560" cy="629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C90016-205F-36FB-B395-8D4FCA090CBE}"/>
                  </a:ext>
                </a:extLst>
              </p:cNvPr>
              <p:cNvSpPr txBox="1"/>
              <p:nvPr/>
            </p:nvSpPr>
            <p:spPr>
              <a:xfrm>
                <a:off x="1534574" y="2530681"/>
                <a:ext cx="4602480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C90016-205F-36FB-B395-8D4FCA09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574" y="2530681"/>
                <a:ext cx="4602480" cy="763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31A119-55A0-4DB2-08DC-CD007CF24E03}"/>
                  </a:ext>
                </a:extLst>
              </p:cNvPr>
              <p:cNvSpPr txBox="1"/>
              <p:nvPr/>
            </p:nvSpPr>
            <p:spPr>
              <a:xfrm>
                <a:off x="1534574" y="3377160"/>
                <a:ext cx="3261360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𝐹𝑆𝑆𝐻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31A119-55A0-4DB2-08DC-CD007CF24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574" y="3377160"/>
                <a:ext cx="3261360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549B18-DCE6-2980-2F56-80942FC2856E}"/>
                  </a:ext>
                </a:extLst>
              </p:cNvPr>
              <p:cNvSpPr txBox="1"/>
              <p:nvPr/>
            </p:nvSpPr>
            <p:spPr>
              <a:xfrm>
                <a:off x="6157372" y="994877"/>
                <a:ext cx="4226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𝑱𝒙</m:t>
                    </m:r>
                  </m:oMath>
                </a14:m>
                <a:r>
                  <a:rPr lang="en-US" dirty="0"/>
                  <a:t>            - the problem to solve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549B18-DCE6-2980-2F56-80942FC28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372" y="994877"/>
                <a:ext cx="4226558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A33FC-58AB-909F-246F-1621EA20613E}"/>
                  </a:ext>
                </a:extLst>
              </p:cNvPr>
              <p:cNvSpPr txBox="1"/>
              <p:nvPr/>
            </p:nvSpPr>
            <p:spPr>
              <a:xfrm>
                <a:off x="7459672" y="2876135"/>
                <a:ext cx="2326640" cy="504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GB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𝝆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𝝆</m:t>
                        </m:r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GB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GB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𝝆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A33FC-58AB-909F-246F-1621EA206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72" y="2876135"/>
                <a:ext cx="2326640" cy="504946"/>
              </a:xfrm>
              <a:prstGeom prst="rect">
                <a:avLst/>
              </a:prstGeom>
              <a:blipFill>
                <a:blip r:embed="rId8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E529D8-6308-CAF5-63B7-120DFB83B0C9}"/>
                  </a:ext>
                </a:extLst>
              </p:cNvPr>
              <p:cNvSpPr txBox="1"/>
              <p:nvPr/>
            </p:nvSpPr>
            <p:spPr>
              <a:xfrm>
                <a:off x="6035040" y="2943942"/>
                <a:ext cx="113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E529D8-6308-CAF5-63B7-120DFB83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0" y="2943942"/>
                <a:ext cx="1137920" cy="369332"/>
              </a:xfrm>
              <a:prstGeom prst="rect">
                <a:avLst/>
              </a:prstGeom>
              <a:blipFill>
                <a:blip r:embed="rId9"/>
                <a:stretch>
                  <a:fillRect t="-11475" r="-588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605860-2917-059B-C0E9-E04FA85A27E4}"/>
                  </a:ext>
                </a:extLst>
              </p:cNvPr>
              <p:cNvSpPr txBox="1"/>
              <p:nvPr/>
            </p:nvSpPr>
            <p:spPr>
              <a:xfrm>
                <a:off x="6157372" y="1440405"/>
                <a:ext cx="5559126" cy="493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𝑱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b="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𝑱𝒙</m:t>
                                </m:r>
                              </m:e>
                            </m:d>
                          </m:e>
                          <m:sub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en-US" dirty="0"/>
                  <a:t> - solve the optimization problem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605860-2917-059B-C0E9-E04FA85A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372" y="1440405"/>
                <a:ext cx="5559126" cy="493084"/>
              </a:xfrm>
              <a:prstGeom prst="rect">
                <a:avLst/>
              </a:prstGeom>
              <a:blipFill>
                <a:blip r:embed="rId10"/>
                <a:stretch>
                  <a:fillRect l="-219" t="-370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D36567-A306-B51E-A7B1-BAF5FCDF4D22}"/>
                  </a:ext>
                </a:extLst>
              </p:cNvPr>
              <p:cNvSpPr txBox="1"/>
              <p:nvPr/>
            </p:nvSpPr>
            <p:spPr>
              <a:xfrm>
                <a:off x="6137053" y="1990585"/>
                <a:ext cx="4500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- the formal solution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D36567-A306-B51E-A7B1-BAF5FCDF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053" y="1990585"/>
                <a:ext cx="4500880" cy="369332"/>
              </a:xfrm>
              <a:prstGeom prst="rect">
                <a:avLst/>
              </a:prstGeom>
              <a:blipFill>
                <a:blip r:embed="rId11"/>
                <a:stretch>
                  <a:fillRect l="-27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8E7958-966E-D2A4-AFB1-3EC413BEF787}"/>
                  </a:ext>
                </a:extLst>
              </p:cNvPr>
              <p:cNvSpPr txBox="1"/>
              <p:nvPr/>
            </p:nvSpPr>
            <p:spPr>
              <a:xfrm>
                <a:off x="7591752" y="3599053"/>
                <a:ext cx="2062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8E7958-966E-D2A4-AFB1-3EC413BEF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752" y="3599053"/>
                <a:ext cx="2062480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D979E72-879C-A2FD-F321-1485C4B54DE9}"/>
              </a:ext>
            </a:extLst>
          </p:cNvPr>
          <p:cNvSpPr txBox="1"/>
          <p:nvPr/>
        </p:nvSpPr>
        <p:spPr>
          <a:xfrm>
            <a:off x="6074564" y="2488073"/>
            <a:ext cx="2318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two options: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74EBF2-DE85-1FA7-788D-50E7F174642E}"/>
                  </a:ext>
                </a:extLst>
              </p:cNvPr>
              <p:cNvSpPr txBox="1"/>
              <p:nvPr/>
            </p:nvSpPr>
            <p:spPr>
              <a:xfrm>
                <a:off x="9842806" y="2917332"/>
                <a:ext cx="23187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Initial guess for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274EBF2-DE85-1FA7-788D-50E7F1746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806" y="2917332"/>
                <a:ext cx="2318712" cy="369332"/>
              </a:xfrm>
              <a:prstGeom prst="rect">
                <a:avLst/>
              </a:prstGeom>
              <a:blipFill>
                <a:blip r:embed="rId13"/>
                <a:stretch>
                  <a:fillRect l="-236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888CE9-1D51-51B0-7CC2-432FBA58CEAC}"/>
                  </a:ext>
                </a:extLst>
              </p:cNvPr>
              <p:cNvSpPr txBox="1"/>
              <p:nvPr/>
            </p:nvSpPr>
            <p:spPr>
              <a:xfrm>
                <a:off x="6096000" y="3616627"/>
                <a:ext cx="113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888CE9-1D51-51B0-7CC2-432FBA58C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16627"/>
                <a:ext cx="1137920" cy="369332"/>
              </a:xfrm>
              <a:prstGeom prst="rect">
                <a:avLst/>
              </a:prstGeom>
              <a:blipFill>
                <a:blip r:embed="rId14"/>
                <a:stretch>
                  <a:fillRect t="-9836" r="-588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B92E81-9F01-BD50-BBE6-EFE562660259}"/>
                  </a:ext>
                </a:extLst>
              </p:cNvPr>
              <p:cNvSpPr txBox="1"/>
              <p:nvPr/>
            </p:nvSpPr>
            <p:spPr>
              <a:xfrm>
                <a:off x="9786312" y="3577738"/>
                <a:ext cx="23187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Initial guess for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B92E81-9F01-BD50-BBE6-EFE562660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312" y="3577738"/>
                <a:ext cx="2318712" cy="369332"/>
              </a:xfrm>
              <a:prstGeom prst="rect">
                <a:avLst/>
              </a:prstGeom>
              <a:blipFill>
                <a:blip r:embed="rId15"/>
                <a:stretch>
                  <a:fillRect l="-210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B982F73B-0F0F-EFE0-9A2F-D92D32544B1A}"/>
              </a:ext>
            </a:extLst>
          </p:cNvPr>
          <p:cNvSpPr txBox="1"/>
          <p:nvPr/>
        </p:nvSpPr>
        <p:spPr>
          <a:xfrm>
            <a:off x="142654" y="881638"/>
            <a:ext cx="1057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FSSH-3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FF2A3-F4FE-7A0C-A853-F29686AF4EBE}"/>
              </a:ext>
            </a:extLst>
          </p:cNvPr>
          <p:cNvSpPr txBox="1"/>
          <p:nvPr/>
        </p:nvSpPr>
        <p:spPr>
          <a:xfrm>
            <a:off x="0" y="4311340"/>
            <a:ext cx="31652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00FF"/>
                </a:solidFill>
              </a:rPr>
              <a:t>fssh3_size_option</a:t>
            </a:r>
          </a:p>
          <a:p>
            <a:pPr marL="285750" indent="-285750">
              <a:buFontTx/>
              <a:buChar char="-"/>
            </a:pP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00FF"/>
                </a:solidFill>
              </a:rPr>
              <a:t>fssh3_approach_option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00FF"/>
                </a:solidFill>
              </a:rPr>
              <a:t>fssh3_dt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00FF"/>
                </a:solidFill>
              </a:rPr>
              <a:t>fssh3_max_steps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00FF"/>
                </a:solidFill>
              </a:rPr>
              <a:t>fssh3_err_tol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6446E-8C20-A06B-6F4D-E8AE6025FE1F}"/>
              </a:ext>
            </a:extLst>
          </p:cNvPr>
          <p:cNvSpPr txBox="1"/>
          <p:nvPr/>
        </p:nvSpPr>
        <p:spPr>
          <a:xfrm>
            <a:off x="2860039" y="4165884"/>
            <a:ext cx="6593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The size of the vectorized density matrix in equations to determine hopping probabilities/fluxes</a:t>
            </a:r>
          </a:p>
          <a:p>
            <a:r>
              <a:rPr lang="en-US" sz="1100" dirty="0"/>
              <a:t>- 0: N elements - only populations; the matrices are overdetermined  [ default ]</a:t>
            </a:r>
          </a:p>
          <a:p>
            <a:r>
              <a:rPr lang="en-US" sz="1100" dirty="0"/>
              <a:t>- 1: N^2 elements - first N elements are populations, then Re and </a:t>
            </a:r>
            <a:r>
              <a:rPr lang="en-US" sz="1100" dirty="0" err="1"/>
              <a:t>Im</a:t>
            </a:r>
            <a:r>
              <a:rPr lang="en-US" sz="1100" dirty="0"/>
              <a:t> parts of upper-triangular coherences</a:t>
            </a:r>
          </a:p>
          <a:p>
            <a:r>
              <a:rPr lang="en-US" sz="1100" dirty="0"/>
              <a:t>                         that is rho_{0,1}, rho_{0,2}, ... rho_{0,N-1}, rho_{1,2}, ... rho_{1,N-1}, ... rho_{N-2,N-1}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7329A-F7D0-CF74-E830-7D34AEEAEB68}"/>
              </a:ext>
            </a:extLst>
          </p:cNvPr>
          <p:cNvSpPr txBox="1"/>
          <p:nvPr/>
        </p:nvSpPr>
        <p:spPr>
          <a:xfrm>
            <a:off x="2828393" y="5013111"/>
            <a:ext cx="722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approach to determine the hopping probabilities:</a:t>
            </a:r>
          </a:p>
          <a:p>
            <a:r>
              <a:rPr lang="en-US" sz="1200" dirty="0"/>
              <a:t>- 0: based on master equation, rho(</a:t>
            </a:r>
            <a:r>
              <a:rPr lang="en-US" sz="1200" dirty="0" err="1"/>
              <a:t>t+dt</a:t>
            </a:r>
            <a:r>
              <a:rPr lang="en-US" sz="1200" dirty="0"/>
              <a:t>) = J * rho(t);  J matrix contains hopping probabilities directly  [ default ]</a:t>
            </a:r>
          </a:p>
          <a:p>
            <a:r>
              <a:rPr lang="en-US" sz="1200" dirty="0"/>
              <a:t> - 1: based on kinetic approach, </a:t>
            </a:r>
            <a:r>
              <a:rPr lang="en-US" sz="1200" dirty="0" err="1"/>
              <a:t>drho</a:t>
            </a:r>
            <a:r>
              <a:rPr lang="en-US" sz="1200" dirty="0"/>
              <a:t>/dt = J * rho; J matrix contains fluxes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6EBFE-E3A9-3A24-7F07-DB4DDC5CB340}"/>
              </a:ext>
            </a:extLst>
          </p:cNvPr>
          <p:cNvSpPr txBox="1"/>
          <p:nvPr/>
        </p:nvSpPr>
        <p:spPr>
          <a:xfrm>
            <a:off x="2828393" y="5711228"/>
            <a:ext cx="7673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time-step of the optimization procedure in the FSSH3 calculations.     Default: 0.001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B9ED63-30C6-63F6-9BD7-ACE3725B6E07}"/>
              </a:ext>
            </a:extLst>
          </p:cNvPr>
          <p:cNvSpPr txBox="1"/>
          <p:nvPr/>
        </p:nvSpPr>
        <p:spPr>
          <a:xfrm>
            <a:off x="2828393" y="6010528"/>
            <a:ext cx="6112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maximal number of steps in the FSSH3 optimization step.     Default: 1000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5622AA-D27E-BF8D-BC01-617656B6E5EC}"/>
              </a:ext>
            </a:extLst>
          </p:cNvPr>
          <p:cNvSpPr txBox="1"/>
          <p:nvPr/>
        </p:nvSpPr>
        <p:spPr>
          <a:xfrm>
            <a:off x="2843016" y="6301484"/>
            <a:ext cx="33342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FSSH3 error tolerance.     Default: 1e-7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CE86D1-518D-4EDF-833E-11E459A00CA1}"/>
              </a:ext>
            </a:extLst>
          </p:cNvPr>
          <p:cNvSpPr txBox="1"/>
          <p:nvPr/>
        </p:nvSpPr>
        <p:spPr>
          <a:xfrm>
            <a:off x="3641846" y="523734"/>
            <a:ext cx="44854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effectLst/>
              </a:rPr>
              <a:t>Akimov, A. V. </a:t>
            </a:r>
            <a:r>
              <a:rPr lang="en-US" sz="1600" i="1" dirty="0">
                <a:solidFill>
                  <a:srgbClr val="0000FF"/>
                </a:solidFill>
              </a:rPr>
              <a:t>Mol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. Phys.</a:t>
            </a:r>
            <a:r>
              <a:rPr lang="en-US" sz="1600" dirty="0">
                <a:solidFill>
                  <a:srgbClr val="0000FF"/>
                </a:solidFill>
                <a:effectLst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600" dirty="0">
                <a:solidFill>
                  <a:srgbClr val="0000FF"/>
                </a:solidFill>
                <a:effectLst/>
              </a:rPr>
              <a:t>,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to appear in press</a:t>
            </a:r>
            <a:endParaRPr lang="en-US" sz="1600" dirty="0"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6949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triangle with many colored dots&#10;&#10;Description automatically generated with medium confidence">
            <a:extLst>
              <a:ext uri="{FF2B5EF4-FFF2-40B4-BE49-F238E27FC236}">
                <a16:creationId xmlns:a16="http://schemas.microsoft.com/office/drawing/2014/main" id="{97E75EA9-835B-00D0-CA7F-A9B9A2F83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144" y="598078"/>
            <a:ext cx="3068704" cy="2815904"/>
          </a:xfrm>
          <a:prstGeom prst="rect">
            <a:avLst/>
          </a:prstGeom>
        </p:spPr>
      </p:pic>
      <p:pic>
        <p:nvPicPr>
          <p:cNvPr id="6" name="Picture 7" descr="Image result for ub logo">
            <a:extLst>
              <a:ext uri="{FF2B5EF4-FFF2-40B4-BE49-F238E27FC236}">
                <a16:creationId xmlns:a16="http://schemas.microsoft.com/office/drawing/2014/main" id="{7058B9D8-D20C-38B6-3386-B49EE77AD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232520-8841-8797-194C-D907DA907E4F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MASH Hop Proposal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881547-C73D-C075-E1C0-0D1364B26A4C}"/>
                  </a:ext>
                </a:extLst>
              </p:cNvPr>
              <p:cNvSpPr txBox="1"/>
              <p:nvPr/>
            </p:nvSpPr>
            <p:spPr>
              <a:xfrm>
                <a:off x="782320" y="1011490"/>
                <a:ext cx="68092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Initial conditions sampling algorithm:</a:t>
                </a:r>
              </a:p>
              <a:p>
                <a:pPr marL="342900" indent="-342900">
                  <a:buAutoNum type="arabicParenR"/>
                </a:pPr>
                <a:r>
                  <a:rPr lang="en-US" sz="1600" dirty="0"/>
                  <a:t>Make N-1 uniformly distributed random cuts of the [0, 1] interval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sz="1600" dirty="0"/>
                  <a:t>. Sort them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342900" indent="-342900">
                  <a:buAutoNum type="arabicParenR"/>
                </a:pPr>
                <a:r>
                  <a:rPr lang="en-US" sz="1600" dirty="0"/>
                  <a:t>The population of </a:t>
                </a:r>
                <a:r>
                  <a:rPr lang="en-US" sz="1600" dirty="0" err="1"/>
                  <a:t>i-th</a:t>
                </a:r>
                <a:r>
                  <a:rPr lang="en-US" sz="1600" dirty="0"/>
                  <a:t> state is the distance between cuts: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600" dirty="0"/>
                  <a:t>. Find the maximal value and the index.</a:t>
                </a:r>
              </a:p>
              <a:p>
                <a:pPr marL="342900" indent="-342900">
                  <a:buAutoNum type="arabicParenR"/>
                </a:pPr>
                <a:r>
                  <a:rPr lang="en-US" sz="1600" dirty="0"/>
                  <a:t>Swap the index of the target active state with the corresponding maximal-population index, do the same for the populations</a:t>
                </a:r>
              </a:p>
              <a:p>
                <a:pPr marL="342900" indent="-342900">
                  <a:buAutoNum type="arabicParenR"/>
                </a:pPr>
                <a:r>
                  <a:rPr lang="en-US" sz="1600" dirty="0"/>
                  <a:t>The generated point (a vector of populations) would be considered belonging to the basin of the active state of interest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881547-C73D-C075-E1C0-0D1364B26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20" y="1011490"/>
                <a:ext cx="6809224" cy="2308324"/>
              </a:xfrm>
              <a:prstGeom prst="rect">
                <a:avLst/>
              </a:prstGeom>
              <a:blipFill>
                <a:blip r:embed="rId4"/>
                <a:stretch>
                  <a:fillRect l="-448" t="-792" b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8E5DD-5341-0638-48E2-A4D51D54D36F}"/>
                  </a:ext>
                </a:extLst>
              </p:cNvPr>
              <p:cNvSpPr txBox="1"/>
              <p:nvPr/>
            </p:nvSpPr>
            <p:spPr>
              <a:xfrm>
                <a:off x="3515360" y="3581643"/>
                <a:ext cx="2970685" cy="731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B8E5DD-5341-0638-48E2-A4D51D54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360" y="3581643"/>
                <a:ext cx="2970685" cy="731803"/>
              </a:xfrm>
              <a:prstGeom prst="rect">
                <a:avLst/>
              </a:prstGeom>
              <a:blipFill>
                <a:blip r:embed="rId5"/>
                <a:stretch>
                  <a:fillRect b="-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160AD4-25CF-308F-1B4C-DF704AA9A694}"/>
              </a:ext>
            </a:extLst>
          </p:cNvPr>
          <p:cNvSpPr txBox="1"/>
          <p:nvPr/>
        </p:nvSpPr>
        <p:spPr>
          <a:xfrm>
            <a:off x="1096043" y="4303074"/>
            <a:ext cx="539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Proposed hops to the states with the largest population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F89F5-E72A-1F8F-50FC-0382D04DD7B1}"/>
              </a:ext>
            </a:extLst>
          </p:cNvPr>
          <p:cNvSpPr txBox="1"/>
          <p:nvPr/>
        </p:nvSpPr>
        <p:spPr>
          <a:xfrm>
            <a:off x="6807115" y="3533633"/>
            <a:ext cx="51918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(1)</a:t>
            </a:r>
            <a:r>
              <a:rPr lang="en-US" sz="1400" dirty="0" err="1">
                <a:solidFill>
                  <a:srgbClr val="0000FF"/>
                </a:solidFill>
              </a:rPr>
              <a:t>Mannouch</a:t>
            </a:r>
            <a:r>
              <a:rPr lang="en-US" sz="1400" dirty="0">
                <a:solidFill>
                  <a:srgbClr val="0000FF"/>
                </a:solidFill>
              </a:rPr>
              <a:t>, J. R.; Richardson, J. O. A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2023</a:t>
            </a:r>
            <a:r>
              <a:rPr lang="en-US" sz="1400" dirty="0">
                <a:solidFill>
                  <a:srgbClr val="0000FF"/>
                </a:solidFill>
              </a:rPr>
              <a:t>, 158, 104111</a:t>
            </a:r>
          </a:p>
          <a:p>
            <a:r>
              <a:rPr lang="en-US" sz="1400" dirty="0">
                <a:solidFill>
                  <a:srgbClr val="0000FF"/>
                </a:solidFill>
              </a:rPr>
              <a:t>(2)</a:t>
            </a:r>
            <a:r>
              <a:rPr lang="en-US" sz="1400" dirty="0" err="1">
                <a:solidFill>
                  <a:srgbClr val="0000FF"/>
                </a:solidFill>
              </a:rPr>
              <a:t>Runeson</a:t>
            </a:r>
            <a:r>
              <a:rPr lang="en-US" sz="1400" dirty="0">
                <a:solidFill>
                  <a:srgbClr val="0000FF"/>
                </a:solidFill>
              </a:rPr>
              <a:t>, J. E.; </a:t>
            </a:r>
            <a:r>
              <a:rPr lang="en-US" sz="1400" dirty="0" err="1">
                <a:solidFill>
                  <a:srgbClr val="0000FF"/>
                </a:solidFill>
              </a:rPr>
              <a:t>Manolopoulos</a:t>
            </a:r>
            <a:r>
              <a:rPr lang="en-US" sz="1400" dirty="0">
                <a:solidFill>
                  <a:srgbClr val="0000FF"/>
                </a:solidFill>
              </a:rPr>
              <a:t>, D. E. A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2023</a:t>
            </a:r>
            <a:r>
              <a:rPr lang="en-US" sz="1400" dirty="0">
                <a:solidFill>
                  <a:srgbClr val="0000FF"/>
                </a:solidFill>
              </a:rPr>
              <a:t>, 159, 094115.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(3)E. </a:t>
            </a:r>
            <a:r>
              <a:rPr lang="en-US" sz="1400" dirty="0" err="1">
                <a:solidFill>
                  <a:srgbClr val="0000FF"/>
                </a:solidFill>
              </a:rPr>
              <a:t>Runeson</a:t>
            </a:r>
            <a:r>
              <a:rPr lang="en-US" sz="1400" dirty="0">
                <a:solidFill>
                  <a:srgbClr val="0000FF"/>
                </a:solidFill>
              </a:rPr>
              <a:t>, J.; P. Fay, T.; E. </a:t>
            </a:r>
            <a:r>
              <a:rPr lang="en-US" sz="1400" dirty="0" err="1">
                <a:solidFill>
                  <a:srgbClr val="0000FF"/>
                </a:solidFill>
              </a:rPr>
              <a:t>Manolopoulos</a:t>
            </a:r>
            <a:r>
              <a:rPr lang="en-US" sz="1400" dirty="0">
                <a:solidFill>
                  <a:srgbClr val="0000FF"/>
                </a:solidFill>
              </a:rPr>
              <a:t>, D. </a:t>
            </a:r>
            <a:r>
              <a:rPr lang="en-US" sz="1400" i="1" dirty="0">
                <a:solidFill>
                  <a:srgbClr val="0000FF"/>
                </a:solidFill>
              </a:rPr>
              <a:t>PCCP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2024</a:t>
            </a:r>
            <a:r>
              <a:rPr lang="en-US" sz="1400" dirty="0">
                <a:solidFill>
                  <a:srgbClr val="0000FF"/>
                </a:solidFill>
              </a:rPr>
              <a:t>, 26, 4929–4938.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8FC92-0028-ED7E-5228-9EBAE0D7C3FE}"/>
              </a:ext>
            </a:extLst>
          </p:cNvPr>
          <p:cNvSpPr txBox="1"/>
          <p:nvPr/>
        </p:nvSpPr>
        <p:spPr>
          <a:xfrm>
            <a:off x="338252" y="656118"/>
            <a:ext cx="403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Initialization of electronic amplitudes: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364BE-D033-71DF-9E3B-124A801A8FF1}"/>
              </a:ext>
            </a:extLst>
          </p:cNvPr>
          <p:cNvSpPr txBox="1"/>
          <p:nvPr/>
        </p:nvSpPr>
        <p:spPr>
          <a:xfrm>
            <a:off x="338252" y="3527775"/>
            <a:ext cx="285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Hop proposal probability: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CCA17-32E2-B307-1299-F236FAB74356}"/>
              </a:ext>
            </a:extLst>
          </p:cNvPr>
          <p:cNvSpPr txBox="1"/>
          <p:nvPr/>
        </p:nvSpPr>
        <p:spPr>
          <a:xfrm>
            <a:off x="375153" y="4757527"/>
            <a:ext cx="395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Observables (population estimators):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F84EB0-1C1E-A51F-F35E-F608809C47BC}"/>
                  </a:ext>
                </a:extLst>
              </p:cNvPr>
              <p:cNvSpPr txBox="1"/>
              <p:nvPr/>
            </p:nvSpPr>
            <p:spPr>
              <a:xfrm>
                <a:off x="375153" y="5302987"/>
                <a:ext cx="2992421" cy="459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𝑀𝐴𝑆𝐻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𝑟𝑒𝑝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𝑟𝑒𝑝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F84EB0-1C1E-A51F-F35E-F608809C4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53" y="5302987"/>
                <a:ext cx="2992421" cy="459678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FD9838-9EF9-57A0-FBC4-AB6F782344CB}"/>
                  </a:ext>
                </a:extLst>
              </p:cNvPr>
              <p:cNvSpPr txBox="1"/>
              <p:nvPr/>
            </p:nvSpPr>
            <p:spPr>
              <a:xfrm>
                <a:off x="8924273" y="6206367"/>
                <a:ext cx="3159122" cy="540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FD9838-9EF9-57A0-FBC4-AB6F78234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273" y="6206367"/>
                <a:ext cx="3159122" cy="540533"/>
              </a:xfrm>
              <a:prstGeom prst="rect">
                <a:avLst/>
              </a:prstGeom>
              <a:blipFill>
                <a:blip r:embed="rId7"/>
                <a:stretch>
                  <a:fillRect t="-16854" b="-88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E48316-0655-3A4E-CDF6-F83E834DFF2B}"/>
              </a:ext>
            </a:extLst>
          </p:cNvPr>
          <p:cNvCxnSpPr>
            <a:cxnSpLocks/>
          </p:cNvCxnSpPr>
          <p:nvPr/>
        </p:nvCxnSpPr>
        <p:spPr>
          <a:xfrm flipH="1" flipV="1">
            <a:off x="2760651" y="5673008"/>
            <a:ext cx="1061591" cy="173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86229D-B6E8-A0D1-D6F4-562B559BBC62}"/>
              </a:ext>
            </a:extLst>
          </p:cNvPr>
          <p:cNvSpPr txBox="1"/>
          <p:nvPr/>
        </p:nvSpPr>
        <p:spPr>
          <a:xfrm>
            <a:off x="3749098" y="5532826"/>
            <a:ext cx="2951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are the SE populations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60DF19-6F79-C0D5-DF0F-71718EFF51D1}"/>
                  </a:ext>
                </a:extLst>
              </p:cNvPr>
              <p:cNvSpPr txBox="1"/>
              <p:nvPr/>
            </p:nvSpPr>
            <p:spPr>
              <a:xfrm>
                <a:off x="423741" y="5839594"/>
                <a:ext cx="3948116" cy="48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dirty="0"/>
                  <a:t> - works in adiabatic basis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F60DF19-6F79-C0D5-DF0F-71718EFF5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41" y="5839594"/>
                <a:ext cx="3948116" cy="484172"/>
              </a:xfrm>
              <a:prstGeom prst="rect">
                <a:avLst/>
              </a:prstGeom>
              <a:blipFill>
                <a:blip r:embed="rId8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EECC1A-ECD1-AE89-D315-30B6CEEE05D0}"/>
                  </a:ext>
                </a:extLst>
              </p:cNvPr>
              <p:cNvSpPr txBox="1"/>
              <p:nvPr/>
            </p:nvSpPr>
            <p:spPr>
              <a:xfrm>
                <a:off x="423741" y="6342494"/>
                <a:ext cx="9794240" cy="40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</m:oMath>
                </a14:m>
                <a:r>
                  <a:rPr lang="en-US" dirty="0"/>
                  <a:t> - works if the adiabatic SH population is transformed according to </a:t>
                </a:r>
                <a:r>
                  <a:rPr lang="en-US" dirty="0" err="1"/>
                  <a:t>Tempelaar</a:t>
                </a:r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EECC1A-ECD1-AE89-D315-30B6CEEE0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41" y="6342494"/>
                <a:ext cx="9794240" cy="404406"/>
              </a:xfrm>
              <a:prstGeom prst="rect">
                <a:avLst/>
              </a:prstGeom>
              <a:blipFill>
                <a:blip r:embed="rId9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70127691-E3B0-3D18-525F-53C253A325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0158" y="4901649"/>
            <a:ext cx="5528675" cy="115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95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Image result for ub logo">
            <a:extLst>
              <a:ext uri="{FF2B5EF4-FFF2-40B4-BE49-F238E27FC236}">
                <a16:creationId xmlns:a16="http://schemas.microsoft.com/office/drawing/2014/main" id="{39110634-7B2C-2515-448A-50DC85BE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55F36-0116-B2E1-BB47-C515A0E1661F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Hop Proposal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931E0E-444E-6DBB-FECD-83AD02556AB8}"/>
                  </a:ext>
                </a:extLst>
              </p:cNvPr>
              <p:cNvSpPr txBox="1"/>
              <p:nvPr/>
            </p:nvSpPr>
            <p:spPr>
              <a:xfrm>
                <a:off x="192865" y="1729930"/>
                <a:ext cx="2646962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𝐿𝑍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B931E0E-444E-6DBB-FECD-83AD02556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65" y="1729930"/>
                <a:ext cx="2646962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822756-1F92-1C55-A5FF-291F1052545F}"/>
                  </a:ext>
                </a:extLst>
              </p:cNvPr>
              <p:cNvSpPr txBox="1"/>
              <p:nvPr/>
            </p:nvSpPr>
            <p:spPr>
              <a:xfrm>
                <a:off x="248044" y="2670955"/>
                <a:ext cx="2753032" cy="858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𝐿𝑍</m:t>
                          </m:r>
                        </m:sup>
                      </m:s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𝑑𝑖𝑎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𝑖𝑖</m:t>
                                      </m:r>
                                    </m:sub>
                                    <m:sup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𝑑𝑖𝑎</m:t>
                                      </m:r>
                                    </m:sup>
                                  </m:sSubSup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𝑗𝑗</m:t>
                                      </m:r>
                                    </m:sub>
                                    <m:sup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𝑑𝑖𝑎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5822756-1F92-1C55-A5FF-291F10525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44" y="2670955"/>
                <a:ext cx="2753032" cy="858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4819BF-23F4-6203-5BA0-DB1CDF1896DF}"/>
                  </a:ext>
                </a:extLst>
              </p:cNvPr>
              <p:cNvSpPr txBox="1"/>
              <p:nvPr/>
            </p:nvSpPr>
            <p:spPr>
              <a:xfrm>
                <a:off x="3349150" y="4403896"/>
                <a:ext cx="4168070" cy="930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4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𝑠𝑖𝑔𝑛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Sup>
                                                    <m:sSubSupPr>
                                                      <m:ctrlPr>
                                                        <a:rPr lang="en-US" sz="1400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en-US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𝑭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b="0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sz="1400" b="0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sup>
                                                  </m:sSubSup>
                                                  <m:sSub>
                                                    <m:sSubPr>
                                                      <m:ctrlPr>
                                                        <a:rPr lang="en-US" sz="1400" b="0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𝑭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400" b="0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rad>
                                    </m:den>
                                  </m:f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4819BF-23F4-6203-5BA0-DB1CDF189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50" y="4403896"/>
                <a:ext cx="4168070" cy="930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76A078-563F-A3B1-F4CE-51A452B6CF54}"/>
                  </a:ext>
                </a:extLst>
              </p:cNvPr>
              <p:cNvSpPr txBox="1"/>
              <p:nvPr/>
            </p:nvSpPr>
            <p:spPr>
              <a:xfrm>
                <a:off x="228458" y="5058343"/>
                <a:ext cx="2646962" cy="976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𝑑𝑖𝑎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76A078-563F-A3B1-F4CE-51A452B6C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58" y="5058343"/>
                <a:ext cx="2646962" cy="9766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B27EDC-7B0B-31D3-DB9C-1270EB336A32}"/>
                  </a:ext>
                </a:extLst>
              </p:cNvPr>
              <p:cNvSpPr txBox="1"/>
              <p:nvPr/>
            </p:nvSpPr>
            <p:spPr>
              <a:xfrm>
                <a:off x="228458" y="5976386"/>
                <a:ext cx="3862256" cy="912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f>
                        <m:fPr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B27EDC-7B0B-31D3-DB9C-1270EB336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58" y="5976386"/>
                <a:ext cx="3862256" cy="9124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6144C5-D262-31BD-E092-DAF1A5ED5B39}"/>
                  </a:ext>
                </a:extLst>
              </p:cNvPr>
              <p:cNvSpPr txBox="1"/>
              <p:nvPr/>
            </p:nvSpPr>
            <p:spPr>
              <a:xfrm>
                <a:off x="8101287" y="5653770"/>
                <a:ext cx="4090713" cy="652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ad>
                        <m:radPr>
                          <m:degHide m:val="on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6144C5-D262-31BD-E092-DAF1A5ED5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87" y="5653770"/>
                <a:ext cx="4090713" cy="6528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FB05C23-ED2C-5176-DF6B-BBBDCCF7BC5E}"/>
                  </a:ext>
                </a:extLst>
              </p:cNvPr>
              <p:cNvSpPr txBox="1"/>
              <p:nvPr/>
            </p:nvSpPr>
            <p:spPr>
              <a:xfrm>
                <a:off x="8122033" y="6220892"/>
                <a:ext cx="3130949" cy="6299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  <m:r>
                        <a:rPr lang="en-US" sz="16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ad>
                        <m:radPr>
                          <m:degHide m:val="on"/>
                          <m:ctrlPr>
                            <a:rPr lang="en-US" sz="16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6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sz="16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6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FB05C23-ED2C-5176-DF6B-BBBDCCF7B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033" y="6220892"/>
                <a:ext cx="3130949" cy="6299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D6614A26-2E0C-5359-70BC-79D400E37F82}"/>
              </a:ext>
            </a:extLst>
          </p:cNvPr>
          <p:cNvSpPr txBox="1"/>
          <p:nvPr/>
        </p:nvSpPr>
        <p:spPr>
          <a:xfrm>
            <a:off x="4898450" y="6270949"/>
            <a:ext cx="256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Multidimensional version</a:t>
            </a:r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3E08EB16-BF67-48B7-A570-0E75436AF688}"/>
              </a:ext>
            </a:extLst>
          </p:cNvPr>
          <p:cNvSpPr/>
          <p:nvPr/>
        </p:nvSpPr>
        <p:spPr>
          <a:xfrm>
            <a:off x="7913033" y="5732564"/>
            <a:ext cx="325366" cy="1088036"/>
          </a:xfrm>
          <a:prstGeom prst="leftBrac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BF2BF1-10D9-B7ED-E58A-066D95265375}"/>
              </a:ext>
            </a:extLst>
          </p:cNvPr>
          <p:cNvSpPr txBox="1"/>
          <p:nvPr/>
        </p:nvSpPr>
        <p:spPr>
          <a:xfrm>
            <a:off x="318258" y="881614"/>
            <a:ext cx="256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Landau-Zener (LZ):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7563E-779B-893E-91B2-A1964DA5EFD8}"/>
              </a:ext>
            </a:extLst>
          </p:cNvPr>
          <p:cNvSpPr txBox="1"/>
          <p:nvPr/>
        </p:nvSpPr>
        <p:spPr>
          <a:xfrm>
            <a:off x="228458" y="4382869"/>
            <a:ext cx="2772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Zhu-Nakamura (ZN):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74F63-FC2A-D490-6AF8-FC95E95064CD}"/>
              </a:ext>
            </a:extLst>
          </p:cNvPr>
          <p:cNvSpPr txBox="1"/>
          <p:nvPr/>
        </p:nvSpPr>
        <p:spPr>
          <a:xfrm>
            <a:off x="5014408" y="1719903"/>
            <a:ext cx="70230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representation to compute LZ probabilities.</a:t>
            </a:r>
          </a:p>
          <a:p>
            <a:r>
              <a:rPr lang="en-US" sz="1600" dirty="0"/>
              <a:t> Options:</a:t>
            </a:r>
          </a:p>
          <a:p>
            <a:r>
              <a:rPr lang="en-US" sz="1600" dirty="0"/>
              <a:t>      - 0: diabatic, Eq. 1 of the Belyaev-Lebedev paper, crossing point is determined</a:t>
            </a:r>
          </a:p>
          <a:p>
            <a:r>
              <a:rPr lang="en-US" sz="1600" dirty="0"/>
              <a:t>           by the sign change of the diabatic gap [ default ]</a:t>
            </a:r>
          </a:p>
          <a:p>
            <a:r>
              <a:rPr lang="en-US" sz="1600" dirty="0"/>
              <a:t>      - 1: adiabatic, Eq. 3 of the Belyaev-Lebedev paper, crossing point is determined</a:t>
            </a:r>
          </a:p>
          <a:p>
            <a:r>
              <a:rPr lang="en-US" sz="1600" dirty="0"/>
              <a:t>           by the sign change of the diabatic gap</a:t>
            </a:r>
          </a:p>
          <a:p>
            <a:r>
              <a:rPr lang="en-US" sz="1600" dirty="0"/>
              <a:t>      - 2: adiabatic, Eq. 3 of the Belyaev-Lebedev paper, crossing point is determined</a:t>
            </a:r>
          </a:p>
          <a:p>
            <a:r>
              <a:rPr lang="en-US" sz="1600" dirty="0"/>
              <a:t>           by the sign change of the NAC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BFC01-DBED-6BDA-B605-B60EF1778CB3}"/>
              </a:ext>
            </a:extLst>
          </p:cNvPr>
          <p:cNvSpPr txBox="1"/>
          <p:nvPr/>
        </p:nvSpPr>
        <p:spPr>
          <a:xfrm>
            <a:off x="3957728" y="1026893"/>
            <a:ext cx="3165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rep_lz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AF709-BE4E-ED58-5066-0C75B968DB04}"/>
              </a:ext>
            </a:extLst>
          </p:cNvPr>
          <p:cNvSpPr txBox="1"/>
          <p:nvPr/>
        </p:nvSpPr>
        <p:spPr>
          <a:xfrm>
            <a:off x="6957248" y="982612"/>
            <a:ext cx="4957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Tully, J. C.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1990</a:t>
            </a:r>
            <a:r>
              <a:rPr lang="en-US" sz="1400" dirty="0">
                <a:solidFill>
                  <a:srgbClr val="0000FF"/>
                </a:solidFill>
              </a:rPr>
              <a:t>, 93, 1061, 1071</a:t>
            </a:r>
          </a:p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Belyaev, A. K.; Lebedev, O. V.  </a:t>
            </a:r>
            <a:r>
              <a:rPr lang="en-US" sz="1400" i="1" dirty="0">
                <a:solidFill>
                  <a:srgbClr val="0000FF"/>
                </a:solidFill>
              </a:rPr>
              <a:t>Phys. Rev. A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2011</a:t>
            </a:r>
            <a:r>
              <a:rPr lang="en-US" sz="1400" dirty="0">
                <a:solidFill>
                  <a:srgbClr val="0000FF"/>
                </a:solidFill>
              </a:rPr>
              <a:t>, 84, 014701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573F9-255E-E704-A060-970621A3FFC3}"/>
              </a:ext>
            </a:extLst>
          </p:cNvPr>
          <p:cNvSpPr txBox="1"/>
          <p:nvPr/>
        </p:nvSpPr>
        <p:spPr>
          <a:xfrm>
            <a:off x="157406" y="1318922"/>
            <a:ext cx="3457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Hopping only at the gap minimum!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E09AA-166D-8058-9411-94330C031EB1}"/>
              </a:ext>
            </a:extLst>
          </p:cNvPr>
          <p:cNvSpPr txBox="1"/>
          <p:nvPr/>
        </p:nvSpPr>
        <p:spPr>
          <a:xfrm>
            <a:off x="0" y="4736303"/>
            <a:ext cx="3457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Hopping only at the gap minimum!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40E07-40C7-00E6-0CB5-7792EB37B69C}"/>
              </a:ext>
            </a:extLst>
          </p:cNvPr>
          <p:cNvSpPr txBox="1"/>
          <p:nvPr/>
        </p:nvSpPr>
        <p:spPr>
          <a:xfrm>
            <a:off x="7672903" y="4074690"/>
            <a:ext cx="42418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pt-BR" sz="1400" dirty="0">
                <a:solidFill>
                  <a:srgbClr val="0000FF"/>
                </a:solidFill>
              </a:rPr>
              <a:t>Zhu, C., Nakamura, H., Re, N., Aquilanti, V., 1992. J. Chem. Phys. 97, 1892</a:t>
            </a:r>
          </a:p>
          <a:p>
            <a:pPr marL="342900" indent="-342900">
              <a:buAutoNum type="arabicParenBoth"/>
            </a:pPr>
            <a:r>
              <a:rPr lang="pl-PL" sz="1400" dirty="0">
                <a:solidFill>
                  <a:srgbClr val="0000FF"/>
                </a:solidFill>
              </a:rPr>
              <a:t>Hanasaki, K., Kanno, M., Niehaus, T.A., Kono, H., 2018. J. Chem. Phys. 149. 244117</a:t>
            </a:r>
            <a:endParaRPr lang="en-US" sz="1400" dirty="0">
              <a:solidFill>
                <a:srgbClr val="0000FF"/>
              </a:solidFill>
            </a:endParaRPr>
          </a:p>
          <a:p>
            <a:pPr marL="342900" indent="-342900">
              <a:buAutoNum type="arabicParenBoth"/>
            </a:pPr>
            <a:r>
              <a:rPr lang="en-US" sz="1400" dirty="0">
                <a:solidFill>
                  <a:srgbClr val="0000FF"/>
                </a:solidFill>
              </a:rPr>
              <a:t>Yu, L., Xu, C., Lei, Y., Zhu, C., Wen, Z., 2014. Phys. Chem. Chem. Phys. 16. 25883.</a:t>
            </a:r>
          </a:p>
        </p:txBody>
      </p:sp>
    </p:spTree>
    <p:extLst>
      <p:ext uri="{BB962C8B-B14F-4D97-AF65-F5344CB8AC3E}">
        <p14:creationId xmlns:p14="http://schemas.microsoft.com/office/powerpoint/2010/main" val="1636388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F002-CCE0-41D4-409D-D6712924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F2412E-9092-0B7A-6F20-3E5E22B95B8B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344C3B1B-EA75-F898-3CB8-CD9417C20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2F6EBF5E-5D93-D2FB-2CA7-5A631223C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76B4BCC8-B5EC-9B1C-600C-4E086C3EB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880302EC-905C-637E-E8EF-0096E8D8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F13E6D0-229D-1235-55E9-0A1DC83C6B22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EA61A8-3EB7-C125-54C4-D96D73A4DD7C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965ED03-B53F-7AD3-A9E9-7F5F3D934EC6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76D3F5-D7F9-E450-58A5-3DB89339DBAD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9AA8B0-3D43-B488-BF11-E233B4DE7F1B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85C04D1-0245-9AC9-91B3-FA2348BDE825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5FEECDB5-8192-E60A-BE4E-02AC15244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C028C24-AE5A-DCC4-103D-D18BDC6887DC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C843EE55-EACA-E9FA-7F83-90C5A7817D8B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4BAE40A2-1922-4BBD-0675-C03EC0DB3595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7CE78DF6-2BE8-06F6-7888-3DE51E1ACD84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4ADFB6C5-59CE-B050-0CE8-85B4E0E8D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5DC896E4-1CEB-18C7-B945-36437FC10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D55ABB-0024-7DAE-6428-BDCB1601EF62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660F63-C6D9-81D3-58AE-F9909CBA89C8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FAF94A00-40CB-68A1-9EAD-CAF47265B2EA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D2DFF-EF2F-B62C-3C0A-01C73F3B2D5F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9459BA-2A08-C716-FFB4-924D7C9B0052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ECB584BC-51D6-4155-A47E-445EF4F5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1AF99-D2D8-38CD-216E-850028681A9D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FE3E2DA9-D645-B44A-848A-1B35E102B8AC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B1D74AF4-4887-14F1-89DD-784E0E1095FF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EFE84F6C-D303-1F81-FF60-F88C8DFDAE2F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DA3F66EB-7C06-CF10-913C-36B0BFBCEB4C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ABE51B-B92B-60F6-D24C-32035DDF763A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2D869EB6-A5D8-2520-3451-A806817B5C94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B826D0-84C6-8519-1EDA-146C060585E5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A5E531-4441-08F9-7D79-A314F6ED57C7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4.6: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Hop Acceptance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DB60959D-97F6-3B35-1272-FCD6AFDF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06C4D7F-DB30-D501-0AC3-C6B251A6081A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0BB7C03F-3C01-C26D-05D6-BFE1E7E23E95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85B7417A-E289-9414-5C02-0837292E7806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C206B014-1D47-195E-C40C-8121B11C521A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41B87CAE-76FA-DC39-ED11-34C1142FD261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C31CADA2-CAD2-AD97-40EA-75767816D1DA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DE1DD-42EF-F513-3320-3A357E91B89B}"/>
              </a:ext>
            </a:extLst>
          </p:cNvPr>
          <p:cNvSpPr/>
          <p:nvPr/>
        </p:nvSpPr>
        <p:spPr>
          <a:xfrm>
            <a:off x="6254411" y="5677321"/>
            <a:ext cx="4356073" cy="793447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A4C57-92DF-5882-D22D-A10AEB24883E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143621268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860" y="888475"/>
            <a:ext cx="687310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Options:</a:t>
            </a:r>
          </a:p>
          <a:p>
            <a:r>
              <a:rPr lang="en-US" sz="1400" dirty="0"/>
              <a:t>      - 0: accept all proposed hops  [ default ]</a:t>
            </a:r>
          </a:p>
          <a:p>
            <a:endParaRPr lang="en-US" sz="1400" dirty="0"/>
          </a:p>
          <a:p>
            <a:r>
              <a:rPr lang="en-US" sz="1400" dirty="0"/>
              <a:t>      - 10: based on adiabatic energy - accept only those hops that can obey the energy conservation with </a:t>
            </a:r>
          </a:p>
          <a:p>
            <a:r>
              <a:rPr lang="en-US" sz="1400" dirty="0"/>
              <a:t>            adiabatic potential energies</a:t>
            </a:r>
          </a:p>
          <a:p>
            <a:r>
              <a:rPr lang="en-US" sz="1400" dirty="0"/>
              <a:t>      - 11: based on diabatic energy - same as 10, but we use diabatic potential energies</a:t>
            </a:r>
          </a:p>
          <a:p>
            <a:endParaRPr lang="en-US" sz="1400" dirty="0"/>
          </a:p>
          <a:p>
            <a:r>
              <a:rPr lang="en-US" sz="1400" dirty="0"/>
              <a:t>      - 20: based on derivative coupling vectors - accept only those hops that can obey the energy conservation</a:t>
            </a:r>
          </a:p>
          <a:p>
            <a:r>
              <a:rPr lang="en-US" sz="1400" dirty="0"/>
              <a:t>            by rescaling nuclear velocities along the directions of derivative couplings for the quantum nuclear DOFs                   </a:t>
            </a:r>
          </a:p>
          <a:p>
            <a:r>
              <a:rPr lang="en-US" sz="1400" dirty="0"/>
              <a:t>      - 21: based on difference of state-specific forces - same as 20, but the rescaling is done along the vector</a:t>
            </a:r>
          </a:p>
          <a:p>
            <a:r>
              <a:rPr lang="en-US" sz="1400" dirty="0"/>
              <a:t>            parallel to the difference of adiabatic forces on initial and target states</a:t>
            </a:r>
          </a:p>
          <a:p>
            <a:endParaRPr lang="en-US" sz="1400" dirty="0"/>
          </a:p>
          <a:p>
            <a:r>
              <a:rPr lang="en-US" sz="1400" dirty="0"/>
              <a:t>      - 31: accept hops with the probability taken from the quantum Boltzmann distribution</a:t>
            </a:r>
          </a:p>
          <a:p>
            <a:r>
              <a:rPr lang="en-US" sz="1400" dirty="0"/>
              <a:t>      - 32: accept hops with the probability taken from the classical Maxwell-Boltzmann distribution</a:t>
            </a:r>
          </a:p>
          <a:p>
            <a:r>
              <a:rPr lang="en-US" sz="1400" dirty="0"/>
              <a:t>      - 33: accept hops with the probability taken from the updated quantum Boltzmann distribution (experimental)</a:t>
            </a:r>
          </a:p>
          <a:p>
            <a:endParaRPr lang="en-US" sz="1400" dirty="0"/>
          </a:p>
          <a:p>
            <a:r>
              <a:rPr lang="en-US" sz="1400" dirty="0"/>
              <a:t>       - 40: based on possibility to conserve energy using </a:t>
            </a:r>
            <a:r>
              <a:rPr lang="en-US" sz="1400" dirty="0" err="1"/>
              <a:t>tcnbra_ekin</a:t>
            </a:r>
            <a:r>
              <a:rPr lang="en-US" sz="1400" dirty="0"/>
              <a:t> variables (experimental for TC-NBRA)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873705" y="3804825"/>
                <a:ext cx="2501326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705" y="3804825"/>
                <a:ext cx="2501326" cy="576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7374835" y="4486470"/>
                <a:ext cx="4817165" cy="7925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erf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rad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835" y="4486470"/>
                <a:ext cx="4817165" cy="79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7374835" y="3615306"/>
            <a:ext cx="46816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2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200" i="1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2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2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2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920702" y="4403272"/>
            <a:ext cx="37099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Smith, B.; </a:t>
            </a:r>
            <a:r>
              <a:rPr lang="en-US" sz="12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Akimov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A. V.</a:t>
            </a:r>
            <a:r>
              <a:rPr lang="en-US" sz="12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J. </a:t>
            </a:r>
            <a:r>
              <a:rPr lang="en-US" sz="1200" i="1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Chem.Phys</a:t>
            </a:r>
            <a:r>
              <a:rPr lang="en-US" sz="12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2019</a:t>
            </a:r>
            <a:r>
              <a:rPr lang="en-US" sz="12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151, 124107</a:t>
            </a:r>
            <a:endParaRPr lang="en-US" sz="12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273002" y="967661"/>
                <a:ext cx="1295400" cy="3449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002" y="967661"/>
                <a:ext cx="1295400" cy="344903"/>
              </a:xfrm>
              <a:prstGeom prst="rect">
                <a:avLst/>
              </a:prstGeom>
              <a:blipFill>
                <a:blip r:embed="rId4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/>
          <p:cNvSpPr/>
          <p:nvPr/>
        </p:nvSpPr>
        <p:spPr>
          <a:xfrm>
            <a:off x="7192329" y="2260346"/>
            <a:ext cx="38640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Tully, J. C.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J. Chem. Phys.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6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93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1061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7273002" y="2579816"/>
                <a:ext cx="2193549" cy="347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𝑘𝑖𝑛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002" y="2579816"/>
                <a:ext cx="2193549" cy="347659"/>
              </a:xfrm>
              <a:prstGeom prst="rect">
                <a:avLst/>
              </a:prstGeom>
              <a:blipFill>
                <a:blip r:embed="rId5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/>
          <p:cNvSpPr/>
          <p:nvPr/>
        </p:nvSpPr>
        <p:spPr>
          <a:xfrm>
            <a:off x="6601817" y="1568623"/>
            <a:ext cx="374148" cy="2604309"/>
          </a:xfrm>
          <a:prstGeom prst="rightBrace">
            <a:avLst>
              <a:gd name="adj1" fmla="val 74745"/>
              <a:gd name="adj2" fmla="val 50000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7" descr="Image result for ub logo">
            <a:extLst>
              <a:ext uri="{FF2B5EF4-FFF2-40B4-BE49-F238E27FC236}">
                <a16:creationId xmlns:a16="http://schemas.microsoft.com/office/drawing/2014/main" id="{D2B95A17-9091-9ED5-0A76-F70136AF9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645763-C73B-6FB8-4DE5-D6098EE62318}"/>
              </a:ext>
            </a:extLst>
          </p:cNvPr>
          <p:cNvSpPr txBox="1"/>
          <p:nvPr/>
        </p:nvSpPr>
        <p:spPr>
          <a:xfrm>
            <a:off x="2448233" y="103659"/>
            <a:ext cx="5879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Hop Acceptance Probabilities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71C62-4383-5C34-CA2A-B3A59C46C474}"/>
              </a:ext>
            </a:extLst>
          </p:cNvPr>
          <p:cNvCxnSpPr/>
          <p:nvPr/>
        </p:nvCxnSpPr>
        <p:spPr>
          <a:xfrm flipH="1">
            <a:off x="6875965" y="4387466"/>
            <a:ext cx="99774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517861-3130-A48A-BF40-6E055A7CE0AA}"/>
              </a:ext>
            </a:extLst>
          </p:cNvPr>
          <p:cNvCxnSpPr/>
          <p:nvPr/>
        </p:nvCxnSpPr>
        <p:spPr>
          <a:xfrm flipH="1">
            <a:off x="6875965" y="4732906"/>
            <a:ext cx="99774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7248DA-B99F-5C3E-8DB4-EB51CDAB7612}"/>
              </a:ext>
            </a:extLst>
          </p:cNvPr>
          <p:cNvSpPr txBox="1"/>
          <p:nvPr/>
        </p:nvSpPr>
        <p:spPr>
          <a:xfrm>
            <a:off x="6975965" y="6027177"/>
            <a:ext cx="4303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11673–11683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33912F-E890-28CA-70EA-33DCCC32A5B6}"/>
                  </a:ext>
                </a:extLst>
              </p:cNvPr>
              <p:cNvSpPr txBox="1"/>
              <p:nvPr/>
            </p:nvSpPr>
            <p:spPr>
              <a:xfrm>
                <a:off x="6781273" y="5575476"/>
                <a:ext cx="5087309" cy="349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𝑘𝑖𝑛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𝑘𝑖𝑛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</m:sup>
                          </m:sSub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33912F-E890-28CA-70EA-33DCCC32A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273" y="5575476"/>
                <a:ext cx="5087309" cy="349904"/>
              </a:xfrm>
              <a:prstGeom prst="rect">
                <a:avLst/>
              </a:prstGeom>
              <a:blipFill>
                <a:blip r:embed="rId7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92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B3F7-9BB2-A4EF-8C3D-3E906F54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711FE3-007A-3C27-E202-56E2915AA5DA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FA3C60CC-C8C4-B50C-43F9-9A8547336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2CE756CB-0E61-ED16-C319-BA5F902C8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F88E4480-D3F1-1070-2CEE-420F735FA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778A691A-49F0-64D4-2F73-8FDC3E006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40911C2-8F33-5436-5EA9-DC0238D38E5D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133BBD-4A22-0B7C-EB7C-BF2608702F18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20605F-2D5E-21EC-7441-F0F1A41EDAFC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CA27C2-2BA2-1E63-1547-C2FEBD0E82D4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CC8A18-8C3C-8F9B-45C0-E2C08068392A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019E7D-A63E-AADF-4EF9-073F87AD0F76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A11CF441-3851-6415-4407-D6BC65AD3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4403B71-1DBD-0335-1C50-4B69AD64B0C8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75D29E75-17F5-0E2F-15B5-D93021D2320A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B2E73CA5-E80F-ACC1-8914-1536BB2EA9A5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147AF13D-1A8B-9362-7ADB-6B67AD6B4D5B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F2128B1E-257B-0BF2-8C1E-63E217A13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EDEAE5D6-7C6C-B7B7-6CDF-D48185AE0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3DA5B3-F6B2-57D8-A082-EE44740E6CBD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7FD3D8-6FC3-E86F-AB18-2FEA2E46FBCF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88FC32E-26BF-4FD6-70A1-ABAB83F639F2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A6E3A-4E0B-8BB0-8961-00B0F412162C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6A80056-4F8D-F960-7574-A576182133FE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D085F0D0-9CCD-2CAF-50CF-834E7CE92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94B8D3-CED6-CCD2-514B-B4DA975A1696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5CB2D74C-3D50-6E7C-7536-05E9301F90DC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536A1A75-153A-7671-AEC7-85A2D0EFDBDC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7322F149-2483-85FA-D368-5D8AD1741B25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40F56F4D-8EB3-C16D-89B2-5C26E0524B56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D4AFF95-1A68-A639-2E65-352B55A9779F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C6A0A333-9878-8C8A-F217-132329C6AF8C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EEE0D9-ACA1-79BD-AB91-632A85784FB4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6A48F-E471-949D-A5A5-F788D66F3B08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4.7: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Momentum Rescaling and Reversal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5ED6A77E-4174-5607-9702-4E6EADAA0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3948DB0-FC7C-0A07-D881-B365DDFAE2A7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387D4111-4962-8E9F-91D6-7A3819E8AE3E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4182813D-1A78-CE73-88C1-3A3508951089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B9DC5FF2-4029-DF2A-7001-01F9938CF2EA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7D7F3CC5-B1DE-5277-1954-49E0682F2917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33C02E25-D51E-C7EB-3A5F-8CE8775D1FF2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FA3F4-1F7F-70A1-4AAB-7354908A5205}"/>
              </a:ext>
            </a:extLst>
          </p:cNvPr>
          <p:cNvSpPr/>
          <p:nvPr/>
        </p:nvSpPr>
        <p:spPr>
          <a:xfrm>
            <a:off x="6192329" y="6477032"/>
            <a:ext cx="4356073" cy="361873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241A1B-78B9-39ED-DA77-E983DBD1CD3F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</p:spTree>
    <p:extLst>
      <p:ext uri="{BB962C8B-B14F-4D97-AF65-F5344CB8AC3E}">
        <p14:creationId xmlns:p14="http://schemas.microsoft.com/office/powerpoint/2010/main" val="223333685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321" y="2409752"/>
            <a:ext cx="7754653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Options:</a:t>
            </a:r>
          </a:p>
          <a:p>
            <a:endParaRPr lang="en-US" sz="1600" dirty="0"/>
          </a:p>
          <a:p>
            <a:r>
              <a:rPr lang="en-US" sz="1600" dirty="0"/>
              <a:t>      - 0: don't rescale [ default ]</a:t>
            </a:r>
          </a:p>
          <a:p>
            <a:endParaRPr lang="en-US" sz="1600" dirty="0"/>
          </a:p>
          <a:p>
            <a:r>
              <a:rPr lang="en-US" sz="1600" dirty="0"/>
              <a:t>      - 100: based on adiabatic energy, don't reverse on frustrated hops</a:t>
            </a:r>
          </a:p>
          <a:p>
            <a:r>
              <a:rPr lang="en-US" sz="1600" dirty="0"/>
              <a:t>      - 101: based on adiabatic energy, reverse on frustrated hops</a:t>
            </a:r>
          </a:p>
          <a:p>
            <a:r>
              <a:rPr lang="en-US" sz="1600" dirty="0"/>
              <a:t>      - 110: based on diabatic energy, don't reverse on frustrated hops</a:t>
            </a:r>
          </a:p>
          <a:p>
            <a:r>
              <a:rPr lang="en-US" sz="1600" dirty="0"/>
              <a:t>      - 111: based on diabatic energy, reverse on frustrated hops</a:t>
            </a:r>
          </a:p>
          <a:p>
            <a:endParaRPr lang="en-US" sz="1600" dirty="0"/>
          </a:p>
          <a:p>
            <a:r>
              <a:rPr lang="en-US" sz="1600" dirty="0"/>
              <a:t>      - 200: along derivative coupling vectors, don't reverse on frustrated hops</a:t>
            </a:r>
          </a:p>
          <a:p>
            <a:r>
              <a:rPr lang="en-US" sz="1600" dirty="0"/>
              <a:t>      - 201: along derivative coupling vectors, reverse on frustrated hops</a:t>
            </a:r>
          </a:p>
          <a:p>
            <a:r>
              <a:rPr lang="en-US" sz="1600" dirty="0"/>
              <a:t>      - 210: along difference of state-specific forces, don't reverse on frustrated hops</a:t>
            </a:r>
          </a:p>
          <a:p>
            <a:r>
              <a:rPr lang="en-US" sz="1600" dirty="0"/>
              <a:t>      - 211: along difference of state-specific forces, reverse on frustrated hops</a:t>
            </a:r>
          </a:p>
          <a:p>
            <a:endParaRPr lang="en-US" sz="1600" dirty="0"/>
          </a:p>
          <a:p>
            <a:r>
              <a:rPr lang="en-US" sz="1600" dirty="0"/>
              <a:t>      - 40: does not rescale velocities, but rescales  </a:t>
            </a:r>
            <a:r>
              <a:rPr lang="en-US" sz="1600" dirty="0" err="1"/>
              <a:t>tcnbra_ekin</a:t>
            </a:r>
            <a:r>
              <a:rPr lang="en-US" sz="1600" dirty="0"/>
              <a:t> variables</a:t>
            </a:r>
          </a:p>
        </p:txBody>
      </p:sp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B4CB8CFD-5BAE-FD5F-7ABC-D37B025C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E4A7D-CA50-2156-1E92-CB3B0D5E5767}"/>
              </a:ext>
            </a:extLst>
          </p:cNvPr>
          <p:cNvSpPr txBox="1"/>
          <p:nvPr/>
        </p:nvSpPr>
        <p:spPr>
          <a:xfrm>
            <a:off x="3559279" y="134471"/>
            <a:ext cx="4296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Momentum Rescaling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CC8BAE-1F1E-2EDC-D075-18FC448C7539}"/>
                  </a:ext>
                </a:extLst>
              </p:cNvPr>
              <p:cNvSpPr txBox="1"/>
              <p:nvPr/>
            </p:nvSpPr>
            <p:spPr>
              <a:xfrm>
                <a:off x="6861581" y="5838265"/>
                <a:ext cx="5329540" cy="408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𝑘𝑖𝑛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𝑡𝑟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CC8BAE-1F1E-2EDC-D075-18FC448C7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581" y="5838265"/>
                <a:ext cx="5329540" cy="408060"/>
              </a:xfrm>
              <a:prstGeom prst="rect">
                <a:avLst/>
              </a:prstGeom>
              <a:blipFill>
                <a:blip r:embed="rId3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15E9304-AA46-2EFF-4468-3521B94EBDC2}"/>
              </a:ext>
            </a:extLst>
          </p:cNvPr>
          <p:cNvSpPr txBox="1"/>
          <p:nvPr/>
        </p:nvSpPr>
        <p:spPr>
          <a:xfrm>
            <a:off x="6952438" y="6329121"/>
            <a:ext cx="48733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11673–11683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655B8-42B7-8698-3EFF-F882A4BDB724}"/>
              </a:ext>
            </a:extLst>
          </p:cNvPr>
          <p:cNvSpPr txBox="1"/>
          <p:nvPr/>
        </p:nvSpPr>
        <p:spPr>
          <a:xfrm>
            <a:off x="943668" y="6252780"/>
            <a:ext cx="442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TC-NBRA rescaling of effective kinetic energy: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022EAE-3DD0-AFB7-EA7E-C9D82E6831A8}"/>
                  </a:ext>
                </a:extLst>
              </p:cNvPr>
              <p:cNvSpPr txBox="1"/>
              <p:nvPr/>
            </p:nvSpPr>
            <p:spPr>
              <a:xfrm>
                <a:off x="3330187" y="857746"/>
                <a:ext cx="2091855" cy="452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022EAE-3DD0-AFB7-EA7E-C9D82E683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187" y="857746"/>
                <a:ext cx="2091855" cy="452368"/>
              </a:xfrm>
              <a:prstGeom prst="rect">
                <a:avLst/>
              </a:prstGeom>
              <a:blipFill>
                <a:blip r:embed="rId4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B6DA43-94FE-AA64-D5CD-F80548087D41}"/>
                  </a:ext>
                </a:extLst>
              </p:cNvPr>
              <p:cNvSpPr txBox="1"/>
              <p:nvPr/>
            </p:nvSpPr>
            <p:spPr>
              <a:xfrm>
                <a:off x="8163424" y="4673549"/>
                <a:ext cx="1638055" cy="401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B6DA43-94FE-AA64-D5CD-F80548087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424" y="4673549"/>
                <a:ext cx="1638055" cy="401648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88CE74-E262-9EA8-3296-8586889D7B74}"/>
                  </a:ext>
                </a:extLst>
              </p:cNvPr>
              <p:cNvSpPr txBox="1"/>
              <p:nvPr/>
            </p:nvSpPr>
            <p:spPr>
              <a:xfrm>
                <a:off x="3330187" y="1519466"/>
                <a:ext cx="1960473" cy="1236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1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88CE74-E262-9EA8-3296-8586889D7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187" y="1519466"/>
                <a:ext cx="1960473" cy="1236621"/>
              </a:xfrm>
              <a:prstGeom prst="rect">
                <a:avLst/>
              </a:prstGeom>
              <a:blipFill>
                <a:blip r:embed="rId6"/>
                <a:stretch>
                  <a:fillRect b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165637-4F4A-1018-E942-67454D1C2F5E}"/>
                  </a:ext>
                </a:extLst>
              </p:cNvPr>
              <p:cNvSpPr txBox="1"/>
              <p:nvPr/>
            </p:nvSpPr>
            <p:spPr>
              <a:xfrm>
                <a:off x="7525833" y="923872"/>
                <a:ext cx="2039597" cy="415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165637-4F4A-1018-E942-67454D1C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833" y="923872"/>
                <a:ext cx="2039597" cy="415627"/>
              </a:xfrm>
              <a:prstGeom prst="rect">
                <a:avLst/>
              </a:prstGeom>
              <a:blipFill>
                <a:blip r:embed="rId7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03841C-D33B-6245-D378-9D2943A527F1}"/>
              </a:ext>
            </a:extLst>
          </p:cNvPr>
          <p:cNvCxnSpPr/>
          <p:nvPr/>
        </p:nvCxnSpPr>
        <p:spPr>
          <a:xfrm flipH="1">
            <a:off x="7271775" y="1319411"/>
            <a:ext cx="1168400" cy="347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E3B530-5188-80AA-C3D8-BB79918B3A04}"/>
                  </a:ext>
                </a:extLst>
              </p:cNvPr>
              <p:cNvSpPr txBox="1"/>
              <p:nvPr/>
            </p:nvSpPr>
            <p:spPr>
              <a:xfrm>
                <a:off x="6325766" y="1699723"/>
                <a:ext cx="1570558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Frustrated hop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E3B530-5188-80AA-C3D8-BB79918B3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766" y="1699723"/>
                <a:ext cx="1570558" cy="668645"/>
              </a:xfrm>
              <a:prstGeom prst="rect">
                <a:avLst/>
              </a:prstGeom>
              <a:blipFill>
                <a:blip r:embed="rId8"/>
                <a:stretch>
                  <a:fillRect l="-3502" r="-2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567237-BE1B-172F-AD56-C3046E5AED7E}"/>
              </a:ext>
            </a:extLst>
          </p:cNvPr>
          <p:cNvCxnSpPr>
            <a:cxnSpLocks/>
          </p:cNvCxnSpPr>
          <p:nvPr/>
        </p:nvCxnSpPr>
        <p:spPr>
          <a:xfrm>
            <a:off x="8545631" y="1364088"/>
            <a:ext cx="1157169" cy="2962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20756A-BFA7-7198-54F5-C7EE5E757F33}"/>
                  </a:ext>
                </a:extLst>
              </p:cNvPr>
              <p:cNvSpPr txBox="1"/>
              <p:nvPr/>
            </p:nvSpPr>
            <p:spPr>
              <a:xfrm>
                <a:off x="8931430" y="1709623"/>
                <a:ext cx="163805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Accepted hop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20756A-BFA7-7198-54F5-C7EE5E757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430" y="1709623"/>
                <a:ext cx="1638055" cy="668645"/>
              </a:xfrm>
              <a:prstGeom prst="rect">
                <a:avLst/>
              </a:prstGeom>
              <a:blipFill>
                <a:blip r:embed="rId9"/>
                <a:stretch>
                  <a:fillRect l="-297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732FC3-7871-ACB5-F74F-BE0B447CFA18}"/>
              </a:ext>
            </a:extLst>
          </p:cNvPr>
          <p:cNvCxnSpPr/>
          <p:nvPr/>
        </p:nvCxnSpPr>
        <p:spPr>
          <a:xfrm flipH="1">
            <a:off x="8545631" y="2400208"/>
            <a:ext cx="1168400" cy="347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2CBC2D-47BA-5855-06C1-53B493A30F7E}"/>
              </a:ext>
            </a:extLst>
          </p:cNvPr>
          <p:cNvCxnSpPr>
            <a:cxnSpLocks/>
          </p:cNvCxnSpPr>
          <p:nvPr/>
        </p:nvCxnSpPr>
        <p:spPr>
          <a:xfrm>
            <a:off x="9833486" y="2400208"/>
            <a:ext cx="1157169" cy="2962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A94FDD-BB57-F477-E854-956F554A4618}"/>
                  </a:ext>
                </a:extLst>
              </p:cNvPr>
              <p:cNvSpPr txBox="1"/>
              <p:nvPr/>
            </p:nvSpPr>
            <p:spPr>
              <a:xfrm>
                <a:off x="8163424" y="2907078"/>
                <a:ext cx="1815369" cy="106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A94FDD-BB57-F477-E854-956F554A4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424" y="2907078"/>
                <a:ext cx="1815369" cy="10641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D1BE2F-B66E-9C6F-5CC7-AFB21019D687}"/>
                  </a:ext>
                </a:extLst>
              </p:cNvPr>
              <p:cNvSpPr txBox="1"/>
              <p:nvPr/>
            </p:nvSpPr>
            <p:spPr>
              <a:xfrm>
                <a:off x="9960206" y="2919950"/>
                <a:ext cx="1815369" cy="106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D1BE2F-B66E-9C6F-5CC7-AFB21019D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206" y="2919950"/>
                <a:ext cx="1815369" cy="10641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EA8A8F-C997-4568-1852-9A72E04AA7EF}"/>
              </a:ext>
            </a:extLst>
          </p:cNvPr>
          <p:cNvCxnSpPr>
            <a:cxnSpLocks/>
          </p:cNvCxnSpPr>
          <p:nvPr/>
        </p:nvCxnSpPr>
        <p:spPr>
          <a:xfrm flipH="1">
            <a:off x="6566062" y="2409752"/>
            <a:ext cx="591038" cy="60272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131A43-A2DC-1ED3-C3EC-B4BCD2E4ACC8}"/>
              </a:ext>
            </a:extLst>
          </p:cNvPr>
          <p:cNvCxnSpPr>
            <a:cxnSpLocks/>
          </p:cNvCxnSpPr>
          <p:nvPr/>
        </p:nvCxnSpPr>
        <p:spPr>
          <a:xfrm>
            <a:off x="7276555" y="2409752"/>
            <a:ext cx="460949" cy="59088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14B6FD0-3DAA-C17F-DC88-55FB53088584}"/>
              </a:ext>
            </a:extLst>
          </p:cNvPr>
          <p:cNvSpPr txBox="1"/>
          <p:nvPr/>
        </p:nvSpPr>
        <p:spPr>
          <a:xfrm>
            <a:off x="6301207" y="3119849"/>
            <a:ext cx="159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Reversal or not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22EA291B-5158-E928-93B1-68A72653671A}"/>
              </a:ext>
            </a:extLst>
          </p:cNvPr>
          <p:cNvSpPr/>
          <p:nvPr/>
        </p:nvSpPr>
        <p:spPr>
          <a:xfrm>
            <a:off x="7448610" y="4634611"/>
            <a:ext cx="374148" cy="512076"/>
          </a:xfrm>
          <a:prstGeom prst="rightBrace">
            <a:avLst>
              <a:gd name="adj1" fmla="val 74745"/>
              <a:gd name="adj2" fmla="val 50000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71299F4D-D5FA-7741-9DBC-9D502AE15680}"/>
              </a:ext>
            </a:extLst>
          </p:cNvPr>
          <p:cNvSpPr/>
          <p:nvPr/>
        </p:nvSpPr>
        <p:spPr>
          <a:xfrm>
            <a:off x="7445384" y="5219839"/>
            <a:ext cx="374148" cy="512076"/>
          </a:xfrm>
          <a:prstGeom prst="rightBrace">
            <a:avLst>
              <a:gd name="adj1" fmla="val 74745"/>
              <a:gd name="adj2" fmla="val 50000"/>
            </a:avLst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054D3D-F715-AD20-2042-7CDC174256C1}"/>
                  </a:ext>
                </a:extLst>
              </p:cNvPr>
              <p:cNvSpPr txBox="1"/>
              <p:nvPr/>
            </p:nvSpPr>
            <p:spPr>
              <a:xfrm>
                <a:off x="8212058" y="5260457"/>
                <a:ext cx="2241289" cy="401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𝑎𝑑𝑖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054D3D-F715-AD20-2042-7CDC17425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058" y="5260457"/>
                <a:ext cx="2241289" cy="401648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632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1B50A5-B09B-6CC0-1324-AE535E995ECF}"/>
                  </a:ext>
                </a:extLst>
              </p:cNvPr>
              <p:cNvSpPr txBox="1"/>
              <p:nvPr/>
            </p:nvSpPr>
            <p:spPr>
              <a:xfrm>
                <a:off x="2008721" y="3768637"/>
                <a:ext cx="1570558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Frustrated hop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1B50A5-B09B-6CC0-1324-AE535E995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721" y="3768637"/>
                <a:ext cx="1570558" cy="668645"/>
              </a:xfrm>
              <a:prstGeom prst="rect">
                <a:avLst/>
              </a:prstGeom>
              <a:blipFill>
                <a:blip r:embed="rId2"/>
                <a:stretch>
                  <a:fillRect l="-3502" r="-2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C51B492-0324-5833-6EF0-EA0FDE0DA759}"/>
              </a:ext>
            </a:extLst>
          </p:cNvPr>
          <p:cNvCxnSpPr>
            <a:cxnSpLocks/>
          </p:cNvCxnSpPr>
          <p:nvPr/>
        </p:nvCxnSpPr>
        <p:spPr>
          <a:xfrm flipH="1">
            <a:off x="2008721" y="4450857"/>
            <a:ext cx="591038" cy="60272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B17E21-4CC2-C088-5BE9-F87D3E9B89B1}"/>
              </a:ext>
            </a:extLst>
          </p:cNvPr>
          <p:cNvCxnSpPr>
            <a:cxnSpLocks/>
          </p:cNvCxnSpPr>
          <p:nvPr/>
        </p:nvCxnSpPr>
        <p:spPr>
          <a:xfrm>
            <a:off x="3335923" y="4437282"/>
            <a:ext cx="460949" cy="59088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 result for ub logo">
            <a:extLst>
              <a:ext uri="{FF2B5EF4-FFF2-40B4-BE49-F238E27FC236}">
                <a16:creationId xmlns:a16="http://schemas.microsoft.com/office/drawing/2014/main" id="{4C0581A1-7AD1-39B4-7BED-CE906F4D1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2D2C3A-658E-A778-94E7-A1CB28C293BB}"/>
              </a:ext>
            </a:extLst>
          </p:cNvPr>
          <p:cNvSpPr txBox="1"/>
          <p:nvPr/>
        </p:nvSpPr>
        <p:spPr>
          <a:xfrm>
            <a:off x="182880" y="134471"/>
            <a:ext cx="1026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Momentum Reversal on Frustrated Hops: Jasper-</a:t>
            </a:r>
            <a:r>
              <a:rPr lang="en-US" sz="2800" b="1" dirty="0" err="1">
                <a:solidFill>
                  <a:srgbClr val="0070C0"/>
                </a:solidFill>
              </a:rPr>
              <a:t>Truhlar</a:t>
            </a:r>
            <a:r>
              <a:rPr lang="en-US" sz="2800" b="1" dirty="0">
                <a:solidFill>
                  <a:srgbClr val="0070C0"/>
                </a:solidFill>
              </a:rPr>
              <a:t> Criterion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3C3716-E428-106D-BA74-647CFCDD162D}"/>
              </a:ext>
            </a:extLst>
          </p:cNvPr>
          <p:cNvSpPr txBox="1"/>
          <p:nvPr/>
        </p:nvSpPr>
        <p:spPr>
          <a:xfrm>
            <a:off x="540611" y="794236"/>
            <a:ext cx="688634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dyn_control_params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use_Jasper_Truhlar_criterion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sz="1600" dirty="0"/>
              <a:t>Options:</a:t>
            </a:r>
          </a:p>
          <a:p>
            <a:r>
              <a:rPr lang="en-US" sz="1600" dirty="0"/>
              <a:t>- 0: don't use this criterion (naive handling)</a:t>
            </a:r>
          </a:p>
          <a:p>
            <a:r>
              <a:rPr lang="en-US" sz="1600" dirty="0"/>
              <a:t>- 1: use it [ default 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828D71-27F7-F948-CFB4-EEA0EC838A70}"/>
              </a:ext>
            </a:extLst>
          </p:cNvPr>
          <p:cNvSpPr txBox="1"/>
          <p:nvPr/>
        </p:nvSpPr>
        <p:spPr>
          <a:xfrm>
            <a:off x="1388598" y="3166699"/>
            <a:ext cx="339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use_Jasper_Truhlar_criterion</a:t>
            </a:r>
            <a:r>
              <a:rPr lang="en-US" b="1" dirty="0">
                <a:solidFill>
                  <a:srgbClr val="0000FF"/>
                </a:solidFill>
              </a:rPr>
              <a:t> = 0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A9D17-2AFC-FE29-1D4D-AF95AC4C94AA}"/>
              </a:ext>
            </a:extLst>
          </p:cNvPr>
          <p:cNvSpPr txBox="1"/>
          <p:nvPr/>
        </p:nvSpPr>
        <p:spPr>
          <a:xfrm>
            <a:off x="182880" y="5216614"/>
            <a:ext cx="2611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reversal for </a:t>
            </a:r>
            <a:r>
              <a:rPr lang="en-US" dirty="0" err="1"/>
              <a:t>momenta_rescaling_algo</a:t>
            </a:r>
            <a:r>
              <a:rPr lang="en-US" dirty="0"/>
              <a:t>:</a:t>
            </a:r>
          </a:p>
          <a:p>
            <a:r>
              <a:rPr lang="en-US" dirty="0"/>
              <a:t>100, 110, 200, 210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A23F3-1756-A75C-AAB6-36DC8CF9FA86}"/>
              </a:ext>
            </a:extLst>
          </p:cNvPr>
          <p:cNvSpPr txBox="1"/>
          <p:nvPr/>
        </p:nvSpPr>
        <p:spPr>
          <a:xfrm>
            <a:off x="3085318" y="5140434"/>
            <a:ext cx="2611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Reversal for </a:t>
            </a:r>
            <a:r>
              <a:rPr lang="en-US" dirty="0" err="1"/>
              <a:t>momenta_rescaling_algo</a:t>
            </a:r>
            <a:r>
              <a:rPr lang="en-US" dirty="0"/>
              <a:t>:</a:t>
            </a:r>
          </a:p>
          <a:p>
            <a:r>
              <a:rPr lang="en-US" dirty="0"/>
              <a:t>101, 111, 201, 211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C6E59E-6D0A-4FD7-ADEE-E828F5E3DE07}"/>
                  </a:ext>
                </a:extLst>
              </p:cNvPr>
              <p:cNvSpPr txBox="1"/>
              <p:nvPr/>
            </p:nvSpPr>
            <p:spPr>
              <a:xfrm>
                <a:off x="7742283" y="1973379"/>
                <a:ext cx="1570558" cy="668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Frustrated hop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C6E59E-6D0A-4FD7-ADEE-E828F5E3D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283" y="1973379"/>
                <a:ext cx="1570558" cy="668645"/>
              </a:xfrm>
              <a:prstGeom prst="rect">
                <a:avLst/>
              </a:prstGeom>
              <a:blipFill>
                <a:blip r:embed="rId4"/>
                <a:stretch>
                  <a:fillRect l="-3101" r="-2713" b="-14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0B2CEEA-9AE2-E754-2340-B9414A8BEE1E}"/>
              </a:ext>
            </a:extLst>
          </p:cNvPr>
          <p:cNvSpPr txBox="1"/>
          <p:nvPr/>
        </p:nvSpPr>
        <p:spPr>
          <a:xfrm>
            <a:off x="7122160" y="1371441"/>
            <a:ext cx="339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use_Jasper_Truhlar_criterion</a:t>
            </a:r>
            <a:r>
              <a:rPr lang="en-US" b="1" dirty="0">
                <a:solidFill>
                  <a:srgbClr val="0000FF"/>
                </a:solidFill>
              </a:rPr>
              <a:t> = 1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00D886-BE81-E572-6733-E9163C4C707F}"/>
              </a:ext>
            </a:extLst>
          </p:cNvPr>
          <p:cNvCxnSpPr>
            <a:cxnSpLocks/>
          </p:cNvCxnSpPr>
          <p:nvPr/>
        </p:nvCxnSpPr>
        <p:spPr>
          <a:xfrm flipH="1">
            <a:off x="6699900" y="2642024"/>
            <a:ext cx="1661780" cy="34217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2EBD5C-7CE6-AF18-7BA6-4A37A153287C}"/>
                  </a:ext>
                </a:extLst>
              </p:cNvPr>
              <p:cNvSpPr txBox="1"/>
              <p:nvPr/>
            </p:nvSpPr>
            <p:spPr>
              <a:xfrm>
                <a:off x="5785500" y="3282992"/>
                <a:ext cx="3703940" cy="21562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the velocities are reversed along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if</a:t>
                </a:r>
              </a:p>
              <a:p>
                <a:r>
                  <a:rPr lang="en-US" sz="1800" dirty="0"/>
                  <a:t>        a)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1800" dirty="0"/>
              </a:p>
              <a:p>
                <a:r>
                  <a:rPr lang="en-US" dirty="0"/>
                  <a:t>       </a:t>
                </a:r>
                <a:r>
                  <a:rPr lang="en-US" sz="1800" dirty="0"/>
                  <a:t> b)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where a - is the active state index;  </a:t>
                </a:r>
              </a:p>
              <a:p>
                <a:r>
                  <a:rPr lang="en-US" sz="1800" dirty="0"/>
                  <a:t>Only in effect, if `</a:t>
                </a:r>
                <a:r>
                  <a:rPr lang="en-US" sz="1800" dirty="0" err="1"/>
                  <a:t>momenta_rescaling_algo</a:t>
                </a:r>
                <a:r>
                  <a:rPr lang="en-US" sz="1800" dirty="0"/>
                  <a:t> == 201`</a:t>
                </a:r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2EBD5C-7CE6-AF18-7BA6-4A37A1532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00" y="3282992"/>
                <a:ext cx="3703940" cy="2156231"/>
              </a:xfrm>
              <a:prstGeom prst="rect">
                <a:avLst/>
              </a:prstGeom>
              <a:blipFill>
                <a:blip r:embed="rId5"/>
                <a:stretch>
                  <a:fillRect l="-1316" t="-1700" b="-3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82F60DA-05A0-8152-4C3C-AC632F7198EF}"/>
              </a:ext>
            </a:extLst>
          </p:cNvPr>
          <p:cNvSpPr txBox="1"/>
          <p:nvPr/>
        </p:nvSpPr>
        <p:spPr>
          <a:xfrm>
            <a:off x="6155420" y="6139944"/>
            <a:ext cx="96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Reversal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DA3C41-0D79-7B8F-128F-3D813BFD2436}"/>
              </a:ext>
            </a:extLst>
          </p:cNvPr>
          <p:cNvCxnSpPr>
            <a:cxnSpLocks/>
          </p:cNvCxnSpPr>
          <p:nvPr/>
        </p:nvCxnSpPr>
        <p:spPr>
          <a:xfrm>
            <a:off x="9062720" y="2642024"/>
            <a:ext cx="1740682" cy="321013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DDC81D8-40FD-8A24-AFCA-E94272B38088}"/>
              </a:ext>
            </a:extLst>
          </p:cNvPr>
          <p:cNvSpPr txBox="1"/>
          <p:nvPr/>
        </p:nvSpPr>
        <p:spPr>
          <a:xfrm>
            <a:off x="10032230" y="6063764"/>
            <a:ext cx="129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Reversal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E9F51-D0AE-7A4E-7D59-A99A5D96B90E}"/>
              </a:ext>
            </a:extLst>
          </p:cNvPr>
          <p:cNvSpPr txBox="1"/>
          <p:nvPr/>
        </p:nvSpPr>
        <p:spPr>
          <a:xfrm>
            <a:off x="10210800" y="3921760"/>
            <a:ext cx="1155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Otherwise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592580-B30D-D2B6-0841-788F8F8CC3E4}"/>
              </a:ext>
            </a:extLst>
          </p:cNvPr>
          <p:cNvSpPr txBox="1"/>
          <p:nvPr/>
        </p:nvSpPr>
        <p:spPr>
          <a:xfrm>
            <a:off x="4210700" y="780156"/>
            <a:ext cx="497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Jasper, A. W.; </a:t>
            </a:r>
            <a:r>
              <a:rPr lang="en-US" sz="1400" dirty="0" err="1">
                <a:solidFill>
                  <a:srgbClr val="0000FF"/>
                </a:solidFill>
              </a:rPr>
              <a:t>Truhlar</a:t>
            </a:r>
            <a:r>
              <a:rPr lang="en-US" sz="1400" dirty="0">
                <a:solidFill>
                  <a:srgbClr val="0000FF"/>
                </a:solidFill>
              </a:rPr>
              <a:t>, D. G. Chem. Phys. Lett. 2003, 369, 60− 67</a:t>
            </a:r>
          </a:p>
        </p:txBody>
      </p:sp>
    </p:spTree>
    <p:extLst>
      <p:ext uri="{BB962C8B-B14F-4D97-AF65-F5344CB8AC3E}">
        <p14:creationId xmlns:p14="http://schemas.microsoft.com/office/powerpoint/2010/main" val="3302775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2D2A-0748-5390-16C2-8D34F431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7AF25F-8952-9ED6-57AF-0F2897EC2F6C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34245363-385F-0DE6-E378-915D09353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B691457D-7859-0292-8025-3C1B1AF7E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62C57676-09A2-312B-4C1A-01EA2E7DE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0757F331-A5AF-B7FC-92E9-832028AA7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FA906B68-264A-FA95-96FD-E8C15FB74CBD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F1CD79-4B6B-88F6-9352-B071132A428B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E14C6F-28A7-422D-3ECC-76EE95A60213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2EC563-DA11-6508-226A-891713B95BD8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9EC795-C7CE-BEAF-5AFB-7697D3867A67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28F8A0-4B55-1936-E534-E7A25CA8B72D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DCBD2244-344B-5B86-82CD-1C236912F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306D0C3-95D1-1B7F-B0BD-AD6F24D818E1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DAED6725-F7B1-4D3A-2EDD-8A1D1F7EFE91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2059E859-9CA6-0225-68EA-DF24A9DF9DF2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D498356-4F48-A215-DF3B-2B8196F42C30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0E61ACCF-522F-4704-4934-2B4B52464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BD1990FF-FE84-C1F3-1F8C-AF3FFE457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41B4B-C634-543B-54EB-3B31CC0AF642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46B95F-1511-C0D4-2C18-67A1047055ED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A9314C6-DAA3-A0E7-02A1-0AA9C0BF6398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F392D3-8700-884D-701C-988206173F51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926DA39-0018-8380-45BF-36999503FF1C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C085476E-A98B-A7A5-7B2F-566C6A9EA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FF32AE-6AAE-42AF-7AE8-265191A1267A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25EE9602-194D-CCDB-DFDD-B58657F5734F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923B047E-DC99-AAF6-C956-919F33A0EBD6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432399E7-267C-F906-A8D8-97DB55189C74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8467E021-C1F2-CC94-D06E-E1091F925CD7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3AD3259-79B1-D125-A255-18985207C666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969E36BC-4946-1251-A359-3B8990226373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59D307-3E81-DAF3-9A24-DAD539EB6382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E06ED-865B-367A-83F8-EECC9E6281FD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4.8: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Decoherence Corrections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FBDAA507-175D-0160-81D8-9A4B6493E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B01B4DAC-0489-F8F9-18C0-A953A9821CFC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3C8F1AE7-29ED-2D3A-A2C8-A9A1F989E0D1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FC5B61BD-6254-98FB-1B73-419D8A529F5B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9FD8B69D-8392-CE8F-7CB9-11C669253A1D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F4A6520D-DFD1-EDD5-0F14-20F3A2032EFD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B16F40D0-74CB-02CE-6972-3CF95E06A6B9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96B2D4-E07E-D251-F295-3940B1CD91CF}"/>
              </a:ext>
            </a:extLst>
          </p:cNvPr>
          <p:cNvSpPr/>
          <p:nvPr/>
        </p:nvSpPr>
        <p:spPr>
          <a:xfrm>
            <a:off x="6303667" y="4289902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03D0D-038A-2079-3A01-0B31BF34FAB7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21413-CEDD-6B21-A653-BAF0CA2D57D3}"/>
              </a:ext>
            </a:extLst>
          </p:cNvPr>
          <p:cNvSpPr/>
          <p:nvPr/>
        </p:nvSpPr>
        <p:spPr>
          <a:xfrm>
            <a:off x="6315658" y="5137744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7986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 descr="Image result for ub logo">
            <a:extLst>
              <a:ext uri="{FF2B5EF4-FFF2-40B4-BE49-F238E27FC236}">
                <a16:creationId xmlns:a16="http://schemas.microsoft.com/office/drawing/2014/main" id="{39110634-7B2C-2515-448A-50DC85BE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55F36-0116-B2E1-BB47-C515A0E1661F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 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412A7-D04E-63E6-3425-9E260D4842CA}"/>
              </a:ext>
            </a:extLst>
          </p:cNvPr>
          <p:cNvSpPr txBox="1"/>
          <p:nvPr/>
        </p:nvSpPr>
        <p:spPr>
          <a:xfrm>
            <a:off x="101380" y="790628"/>
            <a:ext cx="2638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decoherence_algo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B60A7-55BD-4868-F6E5-106F8206F448}"/>
              </a:ext>
            </a:extLst>
          </p:cNvPr>
          <p:cNvSpPr txBox="1"/>
          <p:nvPr/>
        </p:nvSpPr>
        <p:spPr>
          <a:xfrm>
            <a:off x="228741" y="1713958"/>
            <a:ext cx="66288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- [-1]: no decoherence [ default ]</a:t>
            </a:r>
          </a:p>
          <a:p>
            <a:r>
              <a:rPr lang="en-US" dirty="0"/>
              <a:t>      - 0: SDM and alike</a:t>
            </a:r>
          </a:p>
          <a:p>
            <a:r>
              <a:rPr lang="en-US" dirty="0"/>
              <a:t>      - 1: instantaneous decoherence options (ID-S, ID-A, ID-C, ID-F)</a:t>
            </a:r>
          </a:p>
          <a:p>
            <a:r>
              <a:rPr lang="en-US" dirty="0"/>
              <a:t>      - 2: AFSSH</a:t>
            </a:r>
          </a:p>
          <a:p>
            <a:r>
              <a:rPr lang="en-US" dirty="0"/>
              <a:t>      - 3: BCSH of </a:t>
            </a:r>
            <a:r>
              <a:rPr lang="en-US" dirty="0" err="1"/>
              <a:t>Linjun</a:t>
            </a:r>
            <a:r>
              <a:rPr lang="en-US" dirty="0"/>
              <a:t> Wang</a:t>
            </a:r>
          </a:p>
          <a:p>
            <a:r>
              <a:rPr lang="en-US" dirty="0"/>
              <a:t>      - 4: MF-SD of Bedard-Hearn, Larsen, Schwartz</a:t>
            </a:r>
          </a:p>
          <a:p>
            <a:r>
              <a:rPr lang="en-US" dirty="0"/>
              <a:t>      - 5: SHXF of Min</a:t>
            </a:r>
          </a:p>
          <a:p>
            <a:r>
              <a:rPr lang="en-US" dirty="0"/>
              <a:t>      - 6: MQCXF</a:t>
            </a:r>
          </a:p>
          <a:p>
            <a:r>
              <a:rPr lang="en-US" dirty="0"/>
              <a:t>      - 7: DISH, rev2023</a:t>
            </a:r>
          </a:p>
          <a:p>
            <a:r>
              <a:rPr lang="en-US" dirty="0"/>
              <a:t>      - 8: diabatic IDA, experimental</a:t>
            </a:r>
          </a:p>
          <a:p>
            <a:r>
              <a:rPr lang="en-US" dirty="0"/>
              <a:t>      - 9: simple decoherence, experimental (in progress)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38996-5F70-CB4D-8314-118D692A3A2E}"/>
              </a:ext>
            </a:extLst>
          </p:cNvPr>
          <p:cNvSpPr/>
          <p:nvPr/>
        </p:nvSpPr>
        <p:spPr>
          <a:xfrm>
            <a:off x="6799562" y="790628"/>
            <a:ext cx="523245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SDM: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134114.</a:t>
            </a:r>
          </a:p>
          <a:p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</a:rPr>
              <a:t>Smith, B.; 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2019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151</a:t>
            </a:r>
            <a:r>
              <a:rPr lang="en-US" sz="1400" dirty="0">
                <a:solidFill>
                  <a:srgbClr val="0000FF"/>
                </a:solidFill>
                <a:effectLst/>
              </a:rPr>
              <a:t>, 124107. </a:t>
            </a:r>
          </a:p>
          <a:p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ID-A: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Nelson, T.; Fernandez-Alberti, S.;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  <a:p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ID-F: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</a:rPr>
              <a:t>Zhang, Q.; Shao, X.; Li, W.; Mi, W.;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Pavanello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Phys.: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Condens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 Matter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36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385901. 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A-FSSH:</a:t>
            </a:r>
          </a:p>
          <a:p>
            <a:r>
              <a:rPr lang="en-US" sz="1400" dirty="0">
                <a:solidFill>
                  <a:srgbClr val="0000FF"/>
                </a:solidFill>
                <a:effectLst/>
              </a:rPr>
              <a:t>Landry, B. R.;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Subotnik</a:t>
            </a:r>
            <a:r>
              <a:rPr lang="en-US" sz="1400" dirty="0">
                <a:solidFill>
                  <a:srgbClr val="0000FF"/>
                </a:solidFill>
                <a:effectLst/>
              </a:rPr>
              <a:t>, J. E.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The Journal of Chemical Physics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2012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137</a:t>
            </a:r>
            <a:r>
              <a:rPr lang="en-US" sz="1400" dirty="0">
                <a:solidFill>
                  <a:srgbClr val="0000FF"/>
                </a:solidFill>
                <a:effectLst/>
              </a:rPr>
              <a:t>, 22A513. </a:t>
            </a:r>
          </a:p>
          <a:p>
            <a:r>
              <a:rPr lang="en-US" sz="1400" dirty="0">
                <a:solidFill>
                  <a:srgbClr val="0000FF"/>
                </a:solidFill>
                <a:effectLst/>
              </a:rPr>
              <a:t>Jain, A.; Herman, M. F.; Ouyang, W.;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Subotnik</a:t>
            </a:r>
            <a:r>
              <a:rPr lang="en-US" sz="1400" dirty="0">
                <a:solidFill>
                  <a:srgbClr val="0000FF"/>
                </a:solidFill>
                <a:effectLst/>
              </a:rPr>
              <a:t>, J. E.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The Journal of Chemical Physics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2015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143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134106. </a:t>
            </a:r>
          </a:p>
          <a:p>
            <a:r>
              <a:rPr lang="en-US" sz="1400" dirty="0">
                <a:solidFill>
                  <a:srgbClr val="0000FF"/>
                </a:solidFill>
                <a:effectLst/>
              </a:rPr>
              <a:t>Jain, A.; Alguire, E.;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Subotnik</a:t>
            </a:r>
            <a:r>
              <a:rPr lang="en-US" sz="1400" dirty="0">
                <a:solidFill>
                  <a:srgbClr val="0000FF"/>
                </a:solidFill>
                <a:effectLst/>
              </a:rPr>
              <a:t>, J. E.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Chem. Theory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Comput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2016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12</a:t>
            </a:r>
            <a:r>
              <a:rPr lang="en-US" sz="1400" dirty="0">
                <a:solidFill>
                  <a:srgbClr val="0000FF"/>
                </a:solidFill>
                <a:effectLst/>
              </a:rPr>
              <a:t>, 5256–5268.</a:t>
            </a:r>
          </a:p>
          <a:p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BCSH: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FF"/>
                </a:solidFill>
              </a:rPr>
              <a:t>Xu, J.; Wang, L.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2019</a:t>
            </a:r>
            <a:r>
              <a:rPr lang="en-US" sz="1400" dirty="0">
                <a:solidFill>
                  <a:srgbClr val="0000FF"/>
                </a:solidFill>
              </a:rPr>
              <a:t>, 150, 164101.</a:t>
            </a:r>
          </a:p>
          <a:p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b="1" dirty="0"/>
              <a:t>MF-SD</a:t>
            </a:r>
            <a:r>
              <a:rPr lang="en-US" sz="1400" dirty="0">
                <a:solidFill>
                  <a:srgbClr val="0000FF"/>
                </a:solidFill>
              </a:rPr>
              <a:t>: Bedard-Hearn, M. J.; Larsen, R. E.; Schwartz, B. J.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2005</a:t>
            </a:r>
            <a:r>
              <a:rPr lang="en-US" sz="1400" dirty="0">
                <a:solidFill>
                  <a:srgbClr val="0000FF"/>
                </a:solidFill>
              </a:rPr>
              <a:t>, 123, 234106.</a:t>
            </a:r>
          </a:p>
          <a:p>
            <a:endParaRPr lang="en-US" sz="1400" dirty="0">
              <a:solidFill>
                <a:srgbClr val="0000FF"/>
              </a:solidFill>
            </a:endParaRPr>
          </a:p>
          <a:p>
            <a:r>
              <a:rPr lang="en-US" sz="1400" b="1" dirty="0"/>
              <a:t>DISH: </a:t>
            </a:r>
          </a:p>
          <a:p>
            <a:r>
              <a:rPr lang="en-US" sz="1400" dirty="0">
                <a:solidFill>
                  <a:srgbClr val="0000FF"/>
                </a:solidFill>
              </a:rPr>
              <a:t>Jaeger, H. M.; Fischer, S.;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2012</a:t>
            </a:r>
            <a:r>
              <a:rPr lang="en-US" sz="1400" dirty="0">
                <a:solidFill>
                  <a:srgbClr val="0000FF"/>
                </a:solidFill>
              </a:rPr>
              <a:t>, 137, 22A545</a:t>
            </a:r>
          </a:p>
          <a:p>
            <a:r>
              <a:rPr lang="en-US" sz="1400" dirty="0">
                <a:solidFill>
                  <a:srgbClr val="0000FF"/>
                </a:solidFill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2021</a:t>
            </a:r>
            <a:r>
              <a:rPr lang="en-US" sz="1400" dirty="0">
                <a:solidFill>
                  <a:srgbClr val="0000FF"/>
                </a:solidFill>
              </a:rPr>
              <a:t>, 155, 134106.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B468B-9A24-381A-4E75-8B2A13A7468E}"/>
              </a:ext>
            </a:extLst>
          </p:cNvPr>
          <p:cNvSpPr txBox="1"/>
          <p:nvPr/>
        </p:nvSpPr>
        <p:spPr>
          <a:xfrm>
            <a:off x="353130" y="492815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DISH_rev2023: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</a:rPr>
              <a:t>Zhang, Q.; Shao, X.; Li, W.; Mi, W.;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Pavanello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Phys.: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Condens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 Matter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36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385901. 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221EA-22AD-0AB7-1D26-CA37485246EC}"/>
              </a:ext>
            </a:extLst>
          </p:cNvPr>
          <p:cNvSpPr txBox="1"/>
          <p:nvPr/>
        </p:nvSpPr>
        <p:spPr>
          <a:xfrm>
            <a:off x="447471" y="5692160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SHXF and MQCXF:</a:t>
            </a:r>
          </a:p>
          <a:p>
            <a:r>
              <a:rPr lang="en-US" sz="1400" dirty="0">
                <a:solidFill>
                  <a:srgbClr val="0000FF"/>
                </a:solidFill>
              </a:rPr>
              <a:t>Ha, J.-K.; Lee, I. S.; Min, S. K. </a:t>
            </a:r>
            <a:r>
              <a:rPr lang="en-US" sz="1400" i="1" dirty="0">
                <a:solidFill>
                  <a:srgbClr val="0000FF"/>
                </a:solidFill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2018</a:t>
            </a:r>
            <a:r>
              <a:rPr lang="en-US" sz="1400" dirty="0">
                <a:solidFill>
                  <a:srgbClr val="0000FF"/>
                </a:solidFill>
              </a:rPr>
              <a:t>, 9, 1097</a:t>
            </a:r>
          </a:p>
          <a:p>
            <a:r>
              <a:rPr lang="en-US" sz="1400" dirty="0">
                <a:solidFill>
                  <a:srgbClr val="0000FF"/>
                </a:solidFill>
              </a:rPr>
              <a:t>Han, D.; Akimov, A.V. </a:t>
            </a:r>
            <a:r>
              <a:rPr lang="en-US" sz="1400" i="1" dirty="0">
                <a:solidFill>
                  <a:srgbClr val="0000FF"/>
                </a:solidFill>
              </a:rPr>
              <a:t>J. Chem. Theory </a:t>
            </a:r>
            <a:r>
              <a:rPr lang="en-US" sz="1400" i="1" dirty="0" err="1">
                <a:solidFill>
                  <a:srgbClr val="0000FF"/>
                </a:solidFill>
              </a:rPr>
              <a:t>Comput</a:t>
            </a:r>
            <a:r>
              <a:rPr lang="en-US" sz="1400" i="1" dirty="0">
                <a:solidFill>
                  <a:srgbClr val="0000FF"/>
                </a:solidFill>
              </a:rPr>
              <a:t>.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2024,</a:t>
            </a:r>
            <a:r>
              <a:rPr lang="en-US" sz="1400" dirty="0">
                <a:solidFill>
                  <a:srgbClr val="0000FF"/>
                </a:solidFill>
              </a:rPr>
              <a:t> 20, 5022–5042</a:t>
            </a:r>
          </a:p>
        </p:txBody>
      </p:sp>
    </p:spTree>
    <p:extLst>
      <p:ext uri="{BB962C8B-B14F-4D97-AF65-F5344CB8AC3E}">
        <p14:creationId xmlns:p14="http://schemas.microsoft.com/office/powerpoint/2010/main" val="16329195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60849" y="1273753"/>
                <a:ext cx="2318455" cy="580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49" y="1273753"/>
                <a:ext cx="2318455" cy="580928"/>
              </a:xfrm>
              <a:prstGeom prst="rect">
                <a:avLst/>
              </a:prstGeom>
              <a:blipFill>
                <a:blip r:embed="rId2"/>
                <a:stretch>
                  <a:fillRect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74037" y="1118127"/>
                <a:ext cx="1728614" cy="810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20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037" y="1118127"/>
                <a:ext cx="1728614" cy="810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39078" y="71816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SDM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9239" y="657379"/>
            <a:ext cx="45405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Persico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134114.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45" y="882109"/>
            <a:ext cx="28877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gradually change the amplitudes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232241" y="3333705"/>
                <a:ext cx="2109104" cy="358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=0, ∀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241" y="3333705"/>
                <a:ext cx="2109104" cy="358303"/>
              </a:xfrm>
              <a:prstGeom prst="rect">
                <a:avLst/>
              </a:prstGeom>
              <a:blipFill>
                <a:blip r:embed="rId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60488" y="2681050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9265" y="4845582"/>
            <a:ext cx="301208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Nelson, T.; Fernandez-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Alberti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pic>
        <p:nvPicPr>
          <p:cNvPr id="17" name="Picture 7" descr="Image result for ub logo">
            <a:extLst>
              <a:ext uri="{FF2B5EF4-FFF2-40B4-BE49-F238E27FC236}">
                <a16:creationId xmlns:a16="http://schemas.microsoft.com/office/drawing/2014/main" id="{9B1241F9-FAD8-1523-8C2C-17B7C573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774F53-9F53-1FA5-5651-6B98E3ABA65C}"/>
              </a:ext>
            </a:extLst>
          </p:cNvPr>
          <p:cNvSpPr txBox="1"/>
          <p:nvPr/>
        </p:nvSpPr>
        <p:spPr>
          <a:xfrm>
            <a:off x="3811159" y="49874"/>
            <a:ext cx="5088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Decoherence: SDM and ID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1A3925-5B4C-212D-3B65-DCDF3BC2F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60" y="3138788"/>
            <a:ext cx="3879118" cy="1052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09DBFD-DF92-9D5C-626A-958E99AEE21B}"/>
              </a:ext>
            </a:extLst>
          </p:cNvPr>
          <p:cNvSpPr txBox="1"/>
          <p:nvPr/>
        </p:nvSpPr>
        <p:spPr>
          <a:xfrm>
            <a:off x="7771030" y="6177910"/>
            <a:ext cx="4296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Zhang, Q.; Shao, X.; Li, W.; Mi, W.;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Pavanello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Phys.: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Condens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 Matter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36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385901.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6A507C-6C0D-5210-8EB1-BDA8A283C1F1}"/>
                  </a:ext>
                </a:extLst>
              </p:cNvPr>
              <p:cNvSpPr/>
              <p:nvPr/>
            </p:nvSpPr>
            <p:spPr>
              <a:xfrm>
                <a:off x="10084521" y="1551241"/>
                <a:ext cx="1428661" cy="728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6A507C-6C0D-5210-8EB1-BDA8A283C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521" y="1551241"/>
                <a:ext cx="1428661" cy="728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E67793F-834C-12E5-59F4-57D3C6A8BC82}"/>
              </a:ext>
            </a:extLst>
          </p:cNvPr>
          <p:cNvSpPr txBox="1"/>
          <p:nvPr/>
        </p:nvSpPr>
        <p:spPr>
          <a:xfrm>
            <a:off x="6559610" y="734035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mSDM</a:t>
            </a:r>
            <a:r>
              <a:rPr lang="en-US" b="1" dirty="0"/>
              <a:t> (modified SDM)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C0EBBE-38BA-2643-B2C8-420FEBFA0107}"/>
              </a:ext>
            </a:extLst>
          </p:cNvPr>
          <p:cNvSpPr/>
          <p:nvPr/>
        </p:nvSpPr>
        <p:spPr>
          <a:xfrm>
            <a:off x="6251357" y="1074235"/>
            <a:ext cx="43835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Akimov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A. V.;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O. V.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JPCL,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3857 </a:t>
            </a:r>
          </a:p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Smith, B.;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Akimov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A. V.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JCP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151, 124107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DFCA84-E729-D9F9-4281-D0DA1D37CECC}"/>
              </a:ext>
            </a:extLst>
          </p:cNvPr>
          <p:cNvSpPr txBox="1"/>
          <p:nvPr/>
        </p:nvSpPr>
        <p:spPr>
          <a:xfrm>
            <a:off x="477324" y="1904141"/>
            <a:ext cx="2803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Implicit: energy-based decoherence (</a:t>
            </a:r>
            <a:r>
              <a:rPr lang="en-US" b="1" dirty="0"/>
              <a:t>EDC</a:t>
            </a:r>
            <a:r>
              <a:rPr lang="en-US" dirty="0"/>
              <a:t>) is used: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23D929-F3AE-E82F-2882-71767989CD36}"/>
                  </a:ext>
                </a:extLst>
              </p:cNvPr>
              <p:cNvSpPr/>
              <p:nvPr/>
            </p:nvSpPr>
            <p:spPr>
              <a:xfrm>
                <a:off x="2962701" y="1904141"/>
                <a:ext cx="2688335" cy="597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𝐸𝐷𝐶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𝑘𝑖𝑛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23D929-F3AE-E82F-2882-71767989CD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701" y="1904141"/>
                <a:ext cx="2688335" cy="5979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60BCA8-F7A6-2A72-0B02-2A420EE641B4}"/>
              </a:ext>
            </a:extLst>
          </p:cNvPr>
          <p:cNvSpPr txBox="1"/>
          <p:nvPr/>
        </p:nvSpPr>
        <p:spPr>
          <a:xfrm>
            <a:off x="6376171" y="1660084"/>
            <a:ext cx="3463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only difference is that the decoherence times defined as: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75EE-0979-4199-2F93-E75FD5969AB7}"/>
              </a:ext>
            </a:extLst>
          </p:cNvPr>
          <p:cNvSpPr/>
          <p:nvPr/>
        </p:nvSpPr>
        <p:spPr>
          <a:xfrm>
            <a:off x="6376171" y="3138788"/>
            <a:ext cx="56916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How to collapse wavefunction amplitudes in the decoherence schemes:</a:t>
            </a:r>
          </a:p>
          <a:p>
            <a:r>
              <a:rPr lang="en-US" sz="1400" dirty="0"/>
              <a:t>      - 0: by rescaling the magnitude of the amplitude vector elements, but preserving "phase" [ default ]</a:t>
            </a:r>
          </a:p>
          <a:p>
            <a:r>
              <a:rPr lang="en-US" sz="1400" dirty="0"/>
              <a:t>      - 1: by resetting the amplitudes to 1.0+0.0j. This option changes phase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8220F-E9AF-FF74-3212-9C19F0D1E5BB}"/>
              </a:ext>
            </a:extLst>
          </p:cNvPr>
          <p:cNvSpPr txBox="1"/>
          <p:nvPr/>
        </p:nvSpPr>
        <p:spPr>
          <a:xfrm>
            <a:off x="8782501" y="2721010"/>
            <a:ext cx="2109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collapse_option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2923E8-CEF5-4740-2D43-C77FE92E027D}"/>
              </a:ext>
            </a:extLst>
          </p:cNvPr>
          <p:cNvSpPr txBox="1"/>
          <p:nvPr/>
        </p:nvSpPr>
        <p:spPr>
          <a:xfrm>
            <a:off x="1048115" y="2676859"/>
            <a:ext cx="4335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instantaneous_decoherence_variant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1BB721-9AB4-F500-0905-81D5AEFD71CD}"/>
              </a:ext>
            </a:extLst>
          </p:cNvPr>
          <p:cNvSpPr txBox="1"/>
          <p:nvPr/>
        </p:nvSpPr>
        <p:spPr>
          <a:xfrm>
            <a:off x="188413" y="4460862"/>
            <a:ext cx="75131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Option to control the instantaneous decoherence methodology,  only used with </a:t>
            </a:r>
            <a:r>
              <a:rPr lang="en-US" sz="1400" dirty="0" err="1"/>
              <a:t>decoherence_algo</a:t>
            </a:r>
            <a:r>
              <a:rPr lang="en-US" sz="1400" dirty="0"/>
              <a:t> == 1</a:t>
            </a:r>
          </a:p>
          <a:p>
            <a:r>
              <a:rPr lang="en-US" sz="1400" dirty="0"/>
              <a:t>      - 0: ID-S – on the successful hop</a:t>
            </a:r>
          </a:p>
          <a:p>
            <a:r>
              <a:rPr lang="en-US" sz="1400" dirty="0"/>
              <a:t>      - 1: </a:t>
            </a:r>
            <a:r>
              <a:rPr lang="en-US" sz="1400" b="1" dirty="0"/>
              <a:t>ID-A</a:t>
            </a:r>
            <a:r>
              <a:rPr lang="en-US" sz="1400" dirty="0"/>
              <a:t> [default] - if the proposed hop is not successful, we project back to the initial state if the proposed hop is accepted - we project onto that state</a:t>
            </a:r>
          </a:p>
          <a:p>
            <a:r>
              <a:rPr lang="en-US" sz="1400" dirty="0"/>
              <a:t>      - 2: ID-C - consistent ID - an experimental algorithm</a:t>
            </a:r>
          </a:p>
          <a:p>
            <a:r>
              <a:rPr lang="en-US" sz="1400" dirty="0"/>
              <a:t>      - 3: ID-A, new: if the proposed hop is not successful, we project out the proposed states if the proposed hop is accepted - we project onto that state</a:t>
            </a:r>
          </a:p>
          <a:p>
            <a:r>
              <a:rPr lang="en-US" sz="1400" dirty="0"/>
              <a:t>      - 4: </a:t>
            </a:r>
            <a:r>
              <a:rPr lang="en-US" sz="1400" b="1" dirty="0"/>
              <a:t>ID-F</a:t>
            </a:r>
            <a:r>
              <a:rPr lang="en-US" sz="1400" dirty="0"/>
              <a:t>, new: if the proposed hop is not successful, we project out the proposed states but we don't do anything if the hop is successful</a:t>
            </a:r>
          </a:p>
        </p:txBody>
      </p:sp>
    </p:spTree>
    <p:extLst>
      <p:ext uri="{BB962C8B-B14F-4D97-AF65-F5344CB8AC3E}">
        <p14:creationId xmlns:p14="http://schemas.microsoft.com/office/powerpoint/2010/main" val="3128178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B4AF48-C412-767C-D2BE-BCD896D02232}"/>
              </a:ext>
            </a:extLst>
          </p:cNvPr>
          <p:cNvSpPr txBox="1"/>
          <p:nvPr/>
        </p:nvSpPr>
        <p:spPr>
          <a:xfrm>
            <a:off x="2674448" y="105525"/>
            <a:ext cx="5614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Decoherence: BCSH and MF-SD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DF3BD-E440-715B-B39E-3E59A39C72AC}"/>
              </a:ext>
            </a:extLst>
          </p:cNvPr>
          <p:cNvSpPr txBox="1"/>
          <p:nvPr/>
        </p:nvSpPr>
        <p:spPr>
          <a:xfrm>
            <a:off x="774302" y="1265575"/>
            <a:ext cx="4701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Xu, J.; Wang, L.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2019</a:t>
            </a:r>
            <a:r>
              <a:rPr lang="en-US" sz="1400" dirty="0">
                <a:solidFill>
                  <a:srgbClr val="0000FF"/>
                </a:solidFill>
              </a:rPr>
              <a:t>, 150, 164101.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FFC6C-3368-8715-31B6-C063839EC396}"/>
              </a:ext>
            </a:extLst>
          </p:cNvPr>
          <p:cNvSpPr txBox="1"/>
          <p:nvPr/>
        </p:nvSpPr>
        <p:spPr>
          <a:xfrm>
            <a:off x="1466343" y="753392"/>
            <a:ext cx="3527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Branching-corrected SH (BCSH)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0E725-C3A6-CC6C-A81E-0E4DCA20B5FB}"/>
              </a:ext>
            </a:extLst>
          </p:cNvPr>
          <p:cNvSpPr txBox="1"/>
          <p:nvPr/>
        </p:nvSpPr>
        <p:spPr>
          <a:xfrm>
            <a:off x="69984" y="1616704"/>
            <a:ext cx="65422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 decoherence is a way to enforce the self-consistency, so: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at every nonadiabatic interaction region, there is a possibility of the </a:t>
            </a:r>
            <a:r>
              <a:rPr lang="en-US" sz="1400" dirty="0" err="1"/>
              <a:t>wavepacket</a:t>
            </a:r>
            <a:r>
              <a:rPr lang="en-US" sz="1400" dirty="0"/>
              <a:t> branching into reflecting and transmitting </a:t>
            </a:r>
            <a:r>
              <a:rPr lang="en-US" sz="1400" dirty="0" err="1"/>
              <a:t>wavepackets</a:t>
            </a:r>
            <a:r>
              <a:rPr lang="en-US" sz="1400" dirty="0"/>
              <a:t> on different surfaces.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the idea is to eliminate the </a:t>
            </a:r>
            <a:r>
              <a:rPr lang="en-US" sz="1400" dirty="0" err="1"/>
              <a:t>wavepackets</a:t>
            </a:r>
            <a:r>
              <a:rPr lang="en-US" sz="1400" dirty="0"/>
              <a:t> that go in the opposite direction with the main </a:t>
            </a:r>
            <a:r>
              <a:rPr lang="en-US" sz="1400" dirty="0" err="1"/>
              <a:t>wavepacket</a:t>
            </a:r>
            <a:r>
              <a:rPr lang="en-US" sz="1400" dirty="0"/>
              <a:t> on the active 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the correction is applied only at the reflection points (not the reflection of active trajectory, but the reflection of the </a:t>
            </a:r>
            <a:r>
              <a:rPr lang="en-US" sz="1400" dirty="0" err="1"/>
              <a:t>wavepacket</a:t>
            </a:r>
            <a:r>
              <a:rPr lang="en-US" sz="1400" dirty="0"/>
              <a:t> on other surfaces in comparison to that of the active surface)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the reflection is judged as: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01D74F-156F-E3DF-E86A-F8B8C686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53" y="4611954"/>
            <a:ext cx="4870044" cy="2140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9F00E-C4A4-8A07-7B44-A93729B4A333}"/>
                  </a:ext>
                </a:extLst>
              </p:cNvPr>
              <p:cNvSpPr txBox="1"/>
              <p:nvPr/>
            </p:nvSpPr>
            <p:spPr>
              <a:xfrm>
                <a:off x="6794089" y="2519810"/>
                <a:ext cx="4847305" cy="3162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This method is essentially like </a:t>
                </a:r>
                <a:r>
                  <a:rPr lang="en-US" sz="1600" dirty="0" err="1"/>
                  <a:t>Ehrenfest</a:t>
                </a:r>
                <a:r>
                  <a:rPr lang="en-US" sz="1600" dirty="0"/>
                  <a:t>,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but there is always a probability to collapse the coherent superposition to a pure state. 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 probability of such a collapse is given by the quantum amplitude of the state and by the decoherence time to collapse onto a particular state k.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The decoherence time is given by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9F00E-C4A4-8A07-7B44-A93729B4A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089" y="2519810"/>
                <a:ext cx="4847305" cy="3162404"/>
              </a:xfrm>
              <a:prstGeom prst="rect">
                <a:avLst/>
              </a:prstGeom>
              <a:blipFill>
                <a:blip r:embed="rId3"/>
                <a:stretch>
                  <a:fillRect l="-755" t="-578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C51DD63-50B9-248C-F13E-19999F8387A9}"/>
              </a:ext>
            </a:extLst>
          </p:cNvPr>
          <p:cNvSpPr txBox="1"/>
          <p:nvPr/>
        </p:nvSpPr>
        <p:spPr>
          <a:xfrm>
            <a:off x="8639611" y="80358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MF-SD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DB5A23-ABA9-DD8A-6C35-807E64B8D900}"/>
                  </a:ext>
                </a:extLst>
              </p:cNvPr>
              <p:cNvSpPr txBox="1"/>
              <p:nvPr/>
            </p:nvSpPr>
            <p:spPr>
              <a:xfrm>
                <a:off x="6794089" y="5767588"/>
                <a:ext cx="415447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𝑀𝐹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𝑀𝐹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DB5A23-ABA9-DD8A-6C35-807E64B8D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089" y="5767588"/>
                <a:ext cx="4154471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7" descr="Image result for ub logo">
            <a:extLst>
              <a:ext uri="{FF2B5EF4-FFF2-40B4-BE49-F238E27FC236}">
                <a16:creationId xmlns:a16="http://schemas.microsoft.com/office/drawing/2014/main" id="{DDDB8859-FCBB-F5C5-BAFC-C4DDF8F7F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A43420-1362-AA39-663D-59A490829BC0}"/>
              </a:ext>
            </a:extLst>
          </p:cNvPr>
          <p:cNvSpPr txBox="1"/>
          <p:nvPr/>
        </p:nvSpPr>
        <p:spPr>
          <a:xfrm>
            <a:off x="6794089" y="1335651"/>
            <a:ext cx="45088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Bedard-Hearn, M. J.; Larsen, R. E.; Schwartz, B. J.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2005</a:t>
            </a:r>
            <a:r>
              <a:rPr lang="en-US" sz="1400" dirty="0">
                <a:solidFill>
                  <a:srgbClr val="0000FF"/>
                </a:solidFill>
              </a:rPr>
              <a:t>, 123, 234106.</a:t>
            </a:r>
          </a:p>
        </p:txBody>
      </p:sp>
    </p:spTree>
    <p:extLst>
      <p:ext uri="{BB962C8B-B14F-4D97-AF65-F5344CB8AC3E}">
        <p14:creationId xmlns:p14="http://schemas.microsoft.com/office/powerpoint/2010/main" val="1864396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93C4FE-09E2-FAE1-8282-536F5679096B}"/>
              </a:ext>
            </a:extLst>
          </p:cNvPr>
          <p:cNvSpPr txBox="1"/>
          <p:nvPr/>
        </p:nvSpPr>
        <p:spPr>
          <a:xfrm>
            <a:off x="3490787" y="5697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Jaeger, H. M.; Fischer, S.;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2012</a:t>
            </a:r>
            <a:r>
              <a:rPr lang="en-US" sz="1400" dirty="0">
                <a:solidFill>
                  <a:srgbClr val="0000FF"/>
                </a:solidFill>
              </a:rPr>
              <a:t>, 137, 22A545</a:t>
            </a:r>
          </a:p>
        </p:txBody>
      </p:sp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D5339889-CB86-1D51-3EA7-D1FFC8156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7515BF-E28A-078C-583E-1CD5FBE40AFF}"/>
              </a:ext>
            </a:extLst>
          </p:cNvPr>
          <p:cNvSpPr txBox="1"/>
          <p:nvPr/>
        </p:nvSpPr>
        <p:spPr>
          <a:xfrm>
            <a:off x="3722668" y="46531"/>
            <a:ext cx="4216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Decoherence: DISH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2C25A-75EE-072D-FE58-049827A3445D}"/>
              </a:ext>
            </a:extLst>
          </p:cNvPr>
          <p:cNvSpPr txBox="1"/>
          <p:nvPr/>
        </p:nvSpPr>
        <p:spPr>
          <a:xfrm>
            <a:off x="243841" y="819910"/>
            <a:ext cx="428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Hops are the consequences of decoherence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E691AC-BE93-CF62-7C13-E55857CF16F2}"/>
                  </a:ext>
                </a:extLst>
              </p:cNvPr>
              <p:cNvSpPr txBox="1"/>
              <p:nvPr/>
            </p:nvSpPr>
            <p:spPr>
              <a:xfrm>
                <a:off x="508001" y="1123766"/>
                <a:ext cx="11490960" cy="2437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1600" dirty="0"/>
                  <a:t>Coherence interval for state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- pure dephasing time for the pair of states </a:t>
                </a:r>
                <a:r>
                  <a:rPr lang="en-US" sz="1600" i="1" dirty="0"/>
                  <a:t>i</a:t>
                </a:r>
                <a:r>
                  <a:rPr lang="en-US" sz="1600" dirty="0"/>
                  <a:t> and </a:t>
                </a:r>
                <a:r>
                  <a:rPr lang="en-US" sz="1600" i="1" dirty="0"/>
                  <a:t>j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1600" dirty="0"/>
                  <a:t>The time at which decoherence event takes place is distributed exponentially: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~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600" dirty="0"/>
                  <a:t>, which corresponds to the Poisson distribution of the number of events to take place in a given time interval.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1600" dirty="0"/>
                  <a:t>At decoherence event: coherent superposition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dirty="0"/>
                  <a:t> is projected in the following way: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     - with the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the superposition is collapsed on the pure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(set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r>
                  <a:rPr lang="en-US" sz="1600" dirty="0"/>
                  <a:t>           -- but do this only if the hop to this state + velocity rescaling associated with this transition is possible </a:t>
                </a:r>
              </a:p>
              <a:p>
                <a:r>
                  <a:rPr lang="en-US" sz="1600" dirty="0"/>
                  <a:t>     - with the probability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is projected out from the superposition (reset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, renormalize others)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E691AC-BE93-CF62-7C13-E55857CF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1" y="1123766"/>
                <a:ext cx="11490960" cy="2437014"/>
              </a:xfrm>
              <a:prstGeom prst="rect">
                <a:avLst/>
              </a:prstGeom>
              <a:blipFill>
                <a:blip r:embed="rId3"/>
                <a:stretch>
                  <a:fillRect l="-265" t="-12750" b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0D75A9-BBAF-4396-10ED-A106BA927B37}"/>
                  </a:ext>
                </a:extLst>
              </p:cNvPr>
              <p:cNvSpPr txBox="1"/>
              <p:nvPr/>
            </p:nvSpPr>
            <p:spPr>
              <a:xfrm>
                <a:off x="365761" y="3688065"/>
                <a:ext cx="678687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What if the decohered state is the active state? </a:t>
                </a:r>
              </a:p>
              <a:p>
                <a:r>
                  <a:rPr lang="en-US" sz="1600" dirty="0"/>
                  <a:t>  - If we collapse on this state – fine;</a:t>
                </a:r>
              </a:p>
              <a:p>
                <a:r>
                  <a:rPr lang="en-US" sz="1600" dirty="0"/>
                  <a:t>  - If we project out the state from the superposition – </a:t>
                </a:r>
                <a:r>
                  <a:rPr lang="en-US" sz="1600" dirty="0">
                    <a:solidFill>
                      <a:srgbClr val="FF0000"/>
                    </a:solidFill>
                  </a:rPr>
                  <a:t>the SE and SH populations become inconsistent</a:t>
                </a:r>
                <a:r>
                  <a:rPr lang="en-US" sz="1600" dirty="0"/>
                  <a:t> (e.g. say the ground state is active,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0D75A9-BBAF-4396-10ED-A106BA92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1" y="3688065"/>
                <a:ext cx="6786879" cy="1323439"/>
              </a:xfrm>
              <a:prstGeom prst="rect">
                <a:avLst/>
              </a:prstGeom>
              <a:blipFill>
                <a:blip r:embed="rId4"/>
                <a:stretch>
                  <a:fillRect l="-449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020CF6C-2569-7F1C-0E20-FE84F18E8883}"/>
              </a:ext>
            </a:extLst>
          </p:cNvPr>
          <p:cNvSpPr txBox="1"/>
          <p:nvPr/>
        </p:nvSpPr>
        <p:spPr>
          <a:xfrm>
            <a:off x="7538721" y="3807018"/>
            <a:ext cx="385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2021</a:t>
            </a:r>
            <a:r>
              <a:rPr lang="en-US" sz="1400" dirty="0">
                <a:solidFill>
                  <a:srgbClr val="0000FF"/>
                </a:solidFill>
              </a:rPr>
              <a:t>, 155, 134106.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79360-64AC-26F7-1A73-41BEECC54EF1}"/>
                  </a:ext>
                </a:extLst>
              </p:cNvPr>
              <p:cNvSpPr txBox="1"/>
              <p:nvPr/>
            </p:nvSpPr>
            <p:spPr>
              <a:xfrm>
                <a:off x="631974" y="4914346"/>
                <a:ext cx="11243013" cy="917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if the decohered state turns out to be the active one, we project the corresponding amplitude out only if a successful hop to any other state can occur. The hop to any other state j is proposed with the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and if the hop into this state is successful, the superposition is </a:t>
                </a:r>
                <a:r>
                  <a:rPr lang="en-US" sz="1600" dirty="0" err="1"/>
                  <a:t>collaped</a:t>
                </a:r>
                <a:r>
                  <a:rPr lang="en-US" sz="1600" dirty="0"/>
                  <a:t> onto this new state and the hop occurs.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C979360-64AC-26F7-1A73-41BEECC5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74" y="4914346"/>
                <a:ext cx="11243013" cy="917046"/>
              </a:xfrm>
              <a:prstGeom prst="rect">
                <a:avLst/>
              </a:prstGeom>
              <a:blipFill>
                <a:blip r:embed="rId5"/>
                <a:stretch>
                  <a:fillRect l="-325" t="-1987" r="-651" b="-7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2C8449A-9356-8F1B-B8FA-3F34E513A47E}"/>
              </a:ext>
            </a:extLst>
          </p:cNvPr>
          <p:cNvSpPr txBox="1"/>
          <p:nvPr/>
        </p:nvSpPr>
        <p:spPr>
          <a:xfrm>
            <a:off x="2997200" y="5984612"/>
            <a:ext cx="6471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Note:  DISH is invoked by </a:t>
            </a:r>
            <a:r>
              <a:rPr lang="en-US" b="1" dirty="0" err="1">
                <a:solidFill>
                  <a:srgbClr val="0000FF"/>
                </a:solidFill>
              </a:rPr>
              <a:t>tsh_method</a:t>
            </a:r>
            <a:r>
              <a:rPr lang="en-US" b="1" dirty="0">
                <a:solidFill>
                  <a:srgbClr val="0000FF"/>
                </a:solidFill>
              </a:rPr>
              <a:t>==5 (hopping scheme)  and </a:t>
            </a:r>
            <a:r>
              <a:rPr lang="en-US" b="1" dirty="0" err="1">
                <a:solidFill>
                  <a:srgbClr val="0000FF"/>
                </a:solidFill>
              </a:rPr>
              <a:t>decoherence_algo</a:t>
            </a:r>
            <a:r>
              <a:rPr lang="en-US" b="1" dirty="0">
                <a:solidFill>
                  <a:srgbClr val="0000FF"/>
                </a:solidFill>
              </a:rPr>
              <a:t>==-1 (no additional decoherence)</a:t>
            </a:r>
          </a:p>
        </p:txBody>
      </p:sp>
    </p:spTree>
    <p:extLst>
      <p:ext uri="{BB962C8B-B14F-4D97-AF65-F5344CB8AC3E}">
        <p14:creationId xmlns:p14="http://schemas.microsoft.com/office/powerpoint/2010/main" val="13733096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>
            <a:stCxn id="23" idx="2"/>
            <a:endCxn id="12" idx="0"/>
          </p:cNvCxnSpPr>
          <p:nvPr/>
        </p:nvCxnSpPr>
        <p:spPr>
          <a:xfrm>
            <a:off x="4904307" y="4115589"/>
            <a:ext cx="0" cy="436604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3" idx="3"/>
            <a:endCxn id="29" idx="1"/>
          </p:cNvCxnSpPr>
          <p:nvPr/>
        </p:nvCxnSpPr>
        <p:spPr>
          <a:xfrm>
            <a:off x="5847890" y="3672982"/>
            <a:ext cx="1493250" cy="34195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85784" y="323037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5" y="5155627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lowchart: Process 11"/>
              <p:cNvSpPr/>
              <p:nvPr/>
            </p:nvSpPr>
            <p:spPr>
              <a:xfrm>
                <a:off x="1758223" y="4552193"/>
                <a:ext cx="6292169" cy="972766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Select a single </a:t>
                </a:r>
                <a:r>
                  <a:rPr lang="en-US" dirty="0" err="1"/>
                  <a:t>decohered</a:t>
                </a:r>
                <a:r>
                  <a:rPr lang="en-US" dirty="0"/>
                  <a:t> state,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our of the set randomly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don’t change the variables for other states</a:t>
                </a:r>
              </a:p>
            </p:txBody>
          </p:sp>
        </mc:Choice>
        <mc:Fallback xmlns="">
          <p:sp>
            <p:nvSpPr>
              <p:cNvPr id="12" name="Flowchart: Process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223" y="4552193"/>
                <a:ext cx="6292169" cy="972766"/>
              </a:xfrm>
              <a:prstGeom prst="flowChartProcess">
                <a:avLst/>
              </a:prstGeom>
              <a:blipFill>
                <a:blip r:embed="rId2"/>
                <a:stretch>
                  <a:fillRect l="-483" b="-6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Flowchart: Process 15"/>
              <p:cNvSpPr/>
              <p:nvPr/>
            </p:nvSpPr>
            <p:spPr>
              <a:xfrm>
                <a:off x="1660135" y="1513271"/>
                <a:ext cx="6488349" cy="1187664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Initialize set of “</a:t>
                </a:r>
                <a:r>
                  <a:rPr lang="en-US" dirty="0" err="1"/>
                  <a:t>decohering</a:t>
                </a:r>
                <a:r>
                  <a:rPr lang="en-US" dirty="0"/>
                  <a:t>” states: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For all states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compute coherence interval for this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to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∪{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Flowchart: Process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135" y="1513271"/>
                <a:ext cx="6488349" cy="1187664"/>
              </a:xfrm>
              <a:prstGeom prst="flowChartProcess">
                <a:avLst/>
              </a:prstGeom>
              <a:blipFill>
                <a:blip r:embed="rId3"/>
                <a:stretch>
                  <a:fillRect t="-4061" b="-33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Flowchart: Process 18"/>
              <p:cNvSpPr/>
              <p:nvPr/>
            </p:nvSpPr>
            <p:spPr>
              <a:xfrm>
                <a:off x="3475749" y="40696"/>
                <a:ext cx="2857119" cy="701282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Initialize “coherence time” for each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Flowchart: Process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749" y="40696"/>
                <a:ext cx="2857119" cy="701282"/>
              </a:xfrm>
              <a:prstGeom prst="flowChartProcess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lowchart: Decision 22"/>
              <p:cNvSpPr/>
              <p:nvPr/>
            </p:nvSpPr>
            <p:spPr>
              <a:xfrm>
                <a:off x="3960724" y="3230373"/>
                <a:ext cx="1887166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≠∅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Flowchart: Decision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724" y="3230373"/>
                <a:ext cx="1887166" cy="885217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Flowchart: Process 25"/>
              <p:cNvSpPr/>
              <p:nvPr/>
            </p:nvSpPr>
            <p:spPr>
              <a:xfrm>
                <a:off x="7737960" y="628726"/>
                <a:ext cx="2472840" cy="7650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Advance “coherence time”: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Flowchart: Process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960" y="628726"/>
                <a:ext cx="2472840" cy="765000"/>
              </a:xfrm>
              <a:prstGeom prst="flowChartProcess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19" idx="2"/>
            <a:endCxn id="16" idx="0"/>
          </p:cNvCxnSpPr>
          <p:nvPr/>
        </p:nvCxnSpPr>
        <p:spPr>
          <a:xfrm>
            <a:off x="4904309" y="741979"/>
            <a:ext cx="1" cy="771293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Flowchart: Process 28"/>
              <p:cNvSpPr/>
              <p:nvPr/>
            </p:nvSpPr>
            <p:spPr>
              <a:xfrm>
                <a:off x="7341140" y="3261926"/>
                <a:ext cx="3238566" cy="890501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Continue coherent evolution: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𝑖𝐻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Flowchart: Process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140" y="3261926"/>
                <a:ext cx="3238566" cy="890501"/>
              </a:xfrm>
              <a:prstGeom prst="flowChartProcess">
                <a:avLst/>
              </a:prstGeom>
              <a:blipFill>
                <a:blip r:embed="rId7"/>
                <a:stretch>
                  <a:fillRect t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26" idx="1"/>
            <a:endCxn id="16" idx="0"/>
          </p:cNvCxnSpPr>
          <p:nvPr/>
        </p:nvCxnSpPr>
        <p:spPr>
          <a:xfrm flipH="1">
            <a:off x="4904310" y="1011226"/>
            <a:ext cx="2833650" cy="502045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6" idx="2"/>
            <a:endCxn id="23" idx="0"/>
          </p:cNvCxnSpPr>
          <p:nvPr/>
        </p:nvCxnSpPr>
        <p:spPr>
          <a:xfrm flipH="1">
            <a:off x="4904307" y="2700936"/>
            <a:ext cx="2" cy="529437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657944" y="4048150"/>
            <a:ext cx="812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Flowchart: Decision 54"/>
              <p:cNvSpPr/>
              <p:nvPr/>
            </p:nvSpPr>
            <p:spPr>
              <a:xfrm>
                <a:off x="3960724" y="5960843"/>
                <a:ext cx="1887166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active state?</a:t>
                </a:r>
              </a:p>
            </p:txBody>
          </p:sp>
        </mc:Choice>
        <mc:Fallback xmlns="">
          <p:sp>
            <p:nvSpPr>
              <p:cNvPr id="55" name="Flowchart: Decision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724" y="5960843"/>
                <a:ext cx="1887166" cy="885217"/>
              </a:xfrm>
              <a:prstGeom prst="flowChartDecision">
                <a:avLst/>
              </a:prstGeom>
              <a:blipFill>
                <a:blip r:embed="rId8"/>
                <a:stretch>
                  <a:fillRect t="-4027" b="-10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stCxn id="55" idx="1"/>
          </p:cNvCxnSpPr>
          <p:nvPr/>
        </p:nvCxnSpPr>
        <p:spPr>
          <a:xfrm flipH="1">
            <a:off x="2853660" y="6403451"/>
            <a:ext cx="1107065" cy="246068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074068" y="5960842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(1)</a:t>
            </a:r>
          </a:p>
        </p:txBody>
      </p:sp>
      <p:cxnSp>
        <p:nvCxnSpPr>
          <p:cNvPr id="58" name="Straight Arrow Connector 57"/>
          <p:cNvCxnSpPr>
            <a:stCxn id="55" idx="3"/>
          </p:cNvCxnSpPr>
          <p:nvPr/>
        </p:nvCxnSpPr>
        <p:spPr>
          <a:xfrm>
            <a:off x="5847890" y="6403451"/>
            <a:ext cx="1467078" cy="233070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94072" y="5967568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(2)</a:t>
            </a:r>
          </a:p>
        </p:txBody>
      </p:sp>
      <p:cxnSp>
        <p:nvCxnSpPr>
          <p:cNvPr id="60" name="Straight Arrow Connector 59"/>
          <p:cNvCxnSpPr>
            <a:stCxn id="12" idx="2"/>
            <a:endCxn id="55" idx="0"/>
          </p:cNvCxnSpPr>
          <p:nvPr/>
        </p:nvCxnSpPr>
        <p:spPr>
          <a:xfrm>
            <a:off x="4904307" y="5524960"/>
            <a:ext cx="0" cy="435883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74" idx="0"/>
            <a:endCxn id="29" idx="2"/>
          </p:cNvCxnSpPr>
          <p:nvPr/>
        </p:nvCxnSpPr>
        <p:spPr>
          <a:xfrm flipH="1" flipV="1">
            <a:off x="8960423" y="4152426"/>
            <a:ext cx="253292" cy="1808416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898250" y="6027004"/>
            <a:ext cx="622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2692" y="6027004"/>
            <a:ext cx="622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…</a:t>
            </a:r>
          </a:p>
        </p:txBody>
      </p:sp>
      <p:cxnSp>
        <p:nvCxnSpPr>
          <p:cNvPr id="71" name="Straight Arrow Connector 70"/>
          <p:cNvCxnSpPr>
            <a:stCxn id="29" idx="0"/>
            <a:endCxn id="26" idx="2"/>
          </p:cNvCxnSpPr>
          <p:nvPr/>
        </p:nvCxnSpPr>
        <p:spPr>
          <a:xfrm flipV="1">
            <a:off x="8960423" y="1393726"/>
            <a:ext cx="13957" cy="1868200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255541" y="5960842"/>
            <a:ext cx="1916349" cy="7804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Finish scheme in panel (b)</a:t>
            </a:r>
          </a:p>
        </p:txBody>
      </p:sp>
      <p:sp>
        <p:nvSpPr>
          <p:cNvPr id="2" name="Rectangle 1"/>
          <p:cNvSpPr/>
          <p:nvPr/>
        </p:nvSpPr>
        <p:spPr>
          <a:xfrm>
            <a:off x="289431" y="2955515"/>
            <a:ext cx="369274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dish_decoherence_event_option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en-US" dirty="0"/>
              <a:t>0 – direct compare</a:t>
            </a:r>
          </a:p>
          <a:p>
            <a:pPr marL="285750" indent="-285750">
              <a:buFontTx/>
              <a:buChar char="-"/>
            </a:pPr>
            <a:r>
              <a:rPr lang="en-US" dirty="0"/>
              <a:t>1 -Poisson</a:t>
            </a:r>
          </a:p>
        </p:txBody>
      </p:sp>
      <p:pic>
        <p:nvPicPr>
          <p:cNvPr id="30" name="Picture 7" descr="Image result for ub logo">
            <a:extLst>
              <a:ext uri="{FF2B5EF4-FFF2-40B4-BE49-F238E27FC236}">
                <a16:creationId xmlns:a16="http://schemas.microsoft.com/office/drawing/2014/main" id="{619963CA-DC79-355A-1E9D-897600F90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E86DCE-77B5-FCD7-C07A-FA34A053A68B}"/>
              </a:ext>
            </a:extLst>
          </p:cNvPr>
          <p:cNvSpPr txBox="1"/>
          <p:nvPr/>
        </p:nvSpPr>
        <p:spPr>
          <a:xfrm>
            <a:off x="1" y="74858"/>
            <a:ext cx="285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DISH</a:t>
            </a:r>
          </a:p>
        </p:txBody>
      </p:sp>
    </p:spTree>
    <p:extLst>
      <p:ext uri="{BB962C8B-B14F-4D97-AF65-F5344CB8AC3E}">
        <p14:creationId xmlns:p14="http://schemas.microsoft.com/office/powerpoint/2010/main" val="9478141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Decision 12"/>
              <p:cNvSpPr/>
              <p:nvPr/>
            </p:nvSpPr>
            <p:spPr>
              <a:xfrm>
                <a:off x="5045606" y="80446"/>
                <a:ext cx="1887166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 active state?</a:t>
                </a:r>
              </a:p>
            </p:txBody>
          </p:sp>
        </mc:Choice>
        <mc:Fallback xmlns="">
          <p:sp>
            <p:nvSpPr>
              <p:cNvPr id="13" name="Flowchart: Decision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606" y="80446"/>
                <a:ext cx="1887166" cy="885217"/>
              </a:xfrm>
              <a:prstGeom prst="flowChartDecision">
                <a:avLst/>
              </a:prstGeom>
              <a:blipFill>
                <a:blip r:embed="rId2"/>
                <a:stretch>
                  <a:fillRect t="-4027" b="-1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3" idx="1"/>
            <a:endCxn id="47" idx="0"/>
          </p:cNvCxnSpPr>
          <p:nvPr/>
        </p:nvCxnSpPr>
        <p:spPr>
          <a:xfrm flipH="1">
            <a:off x="3938542" y="523054"/>
            <a:ext cx="1107065" cy="246068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4493" y="152339"/>
            <a:ext cx="79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(1)</a:t>
            </a:r>
          </a:p>
        </p:txBody>
      </p:sp>
      <p:cxnSp>
        <p:nvCxnSpPr>
          <p:cNvPr id="20" name="Straight Arrow Connector 19"/>
          <p:cNvCxnSpPr>
            <a:stCxn id="13" idx="3"/>
            <a:endCxn id="26" idx="0"/>
          </p:cNvCxnSpPr>
          <p:nvPr/>
        </p:nvCxnSpPr>
        <p:spPr>
          <a:xfrm>
            <a:off x="6932772" y="523054"/>
            <a:ext cx="1467078" cy="233070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1852" y="11708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Flowchart: Decision 25"/>
              <p:cNvSpPr/>
              <p:nvPr/>
            </p:nvSpPr>
            <p:spPr>
              <a:xfrm>
                <a:off x="7343275" y="756125"/>
                <a:ext cx="2113151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Flowchart: Decision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75" y="756125"/>
                <a:ext cx="2113151" cy="885217"/>
              </a:xfrm>
              <a:prstGeom prst="flowChartDecision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>
            <a:stCxn id="26" idx="1"/>
            <a:endCxn id="61" idx="0"/>
          </p:cNvCxnSpPr>
          <p:nvPr/>
        </p:nvCxnSpPr>
        <p:spPr>
          <a:xfrm flipH="1">
            <a:off x="7292504" y="1198734"/>
            <a:ext cx="50771" cy="562463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44049" y="110660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(2.2)</a:t>
            </a:r>
          </a:p>
        </p:txBody>
      </p:sp>
      <p:cxnSp>
        <p:nvCxnSpPr>
          <p:cNvPr id="29" name="Straight Arrow Connector 28"/>
          <p:cNvCxnSpPr>
            <a:stCxn id="26" idx="3"/>
            <a:endCxn id="40" idx="0"/>
          </p:cNvCxnSpPr>
          <p:nvPr/>
        </p:nvCxnSpPr>
        <p:spPr>
          <a:xfrm>
            <a:off x="9456425" y="1198734"/>
            <a:ext cx="142316" cy="478073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46616" y="1133921"/>
            <a:ext cx="97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(2.1)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Flowchart: Decision 46"/>
              <p:cNvSpPr/>
              <p:nvPr/>
            </p:nvSpPr>
            <p:spPr>
              <a:xfrm>
                <a:off x="2881966" y="769123"/>
                <a:ext cx="2113151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Flowchart: Decision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966" y="769123"/>
                <a:ext cx="2113151" cy="885217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>
            <a:stCxn id="47" idx="1"/>
            <a:endCxn id="36" idx="0"/>
          </p:cNvCxnSpPr>
          <p:nvPr/>
        </p:nvCxnSpPr>
        <p:spPr>
          <a:xfrm flipH="1">
            <a:off x="2792933" y="1211732"/>
            <a:ext cx="89032" cy="564747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683977" y="1138422"/>
            <a:ext cx="97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(1.1)</a:t>
            </a:r>
          </a:p>
        </p:txBody>
      </p:sp>
      <p:cxnSp>
        <p:nvCxnSpPr>
          <p:cNvPr id="51" name="Straight Arrow Connector 50"/>
          <p:cNvCxnSpPr>
            <a:stCxn id="47" idx="3"/>
            <a:endCxn id="42" idx="0"/>
          </p:cNvCxnSpPr>
          <p:nvPr/>
        </p:nvCxnSpPr>
        <p:spPr>
          <a:xfrm>
            <a:off x="4995116" y="1211732"/>
            <a:ext cx="12146" cy="549465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61697" y="120067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(1.2)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Flowchart: Process 35"/>
              <p:cNvSpPr/>
              <p:nvPr/>
            </p:nvSpPr>
            <p:spPr>
              <a:xfrm>
                <a:off x="1594945" y="1776478"/>
                <a:ext cx="2395976" cy="85792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Collapse onto state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: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400">
                        <a:latin typeface="Cambria Math" panose="02040503050406030204" pitchFamily="18" charset="0"/>
                      </a:rPr>
                      <m:t>"1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sz="1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Stay on the active state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400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Exit</a:t>
                </a:r>
              </a:p>
            </p:txBody>
          </p:sp>
        </mc:Choice>
        <mc:Fallback xmlns="">
          <p:sp>
            <p:nvSpPr>
              <p:cNvPr id="36" name="Flowchart: Process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945" y="1776478"/>
                <a:ext cx="2395976" cy="857920"/>
              </a:xfrm>
              <a:prstGeom prst="flowChartProcess">
                <a:avLst/>
              </a:prstGeom>
              <a:blipFill>
                <a:blip r:embed="rId5"/>
                <a:stretch>
                  <a:fillRect t="-6294" b="-12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Flowchart: Process 39"/>
              <p:cNvSpPr/>
              <p:nvPr/>
            </p:nvSpPr>
            <p:spPr>
              <a:xfrm>
                <a:off x="8500199" y="1676807"/>
                <a:ext cx="2197085" cy="1110539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Project out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Exit</a:t>
                </a:r>
              </a:p>
            </p:txBody>
          </p:sp>
        </mc:Choice>
        <mc:Fallback xmlns="">
          <p:sp>
            <p:nvSpPr>
              <p:cNvPr id="40" name="Flowchart: Process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199" y="1676807"/>
                <a:ext cx="2197085" cy="1110539"/>
              </a:xfrm>
              <a:prstGeom prst="flowChartProcess">
                <a:avLst/>
              </a:prstGeom>
              <a:blipFill>
                <a:blip r:embed="rId6"/>
                <a:stretch>
                  <a:fillRect t="-7609" b="-1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Flowchart: Process 41"/>
              <p:cNvSpPr/>
              <p:nvPr/>
            </p:nvSpPr>
            <p:spPr>
              <a:xfrm>
                <a:off x="4088862" y="1761197"/>
                <a:ext cx="1836801" cy="792147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𝑎𝑙𝑙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/{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becomes a set of proposed states</a:t>
                </a:r>
              </a:p>
            </p:txBody>
          </p:sp>
        </mc:Choice>
        <mc:Fallback xmlns="">
          <p:sp>
            <p:nvSpPr>
              <p:cNvPr id="42" name="Flowchart: Process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862" y="1761197"/>
                <a:ext cx="1836801" cy="792147"/>
              </a:xfrm>
              <a:prstGeom prst="flowChartProcess">
                <a:avLst/>
              </a:prstGeom>
              <a:blipFill>
                <a:blip r:embed="rId7"/>
                <a:stretch>
                  <a:fillRect l="-660" t="-2273" r="-2640" b="-18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Flowchart: Process 45"/>
              <p:cNvSpPr/>
              <p:nvPr/>
            </p:nvSpPr>
            <p:spPr>
              <a:xfrm>
                <a:off x="1981781" y="4161676"/>
                <a:ext cx="4649307" cy="608422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Select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randomly with prob.~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Mark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as a proposed hop</a:t>
                </a:r>
              </a:p>
            </p:txBody>
          </p:sp>
        </mc:Choice>
        <mc:Fallback xmlns="">
          <p:sp>
            <p:nvSpPr>
              <p:cNvPr id="46" name="Flowchart: Process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81" y="4161676"/>
                <a:ext cx="4649307" cy="608422"/>
              </a:xfrm>
              <a:prstGeom prst="flowChartProcess">
                <a:avLst/>
              </a:prstGeom>
              <a:blipFill>
                <a:blip r:embed="rId8"/>
                <a:stretch>
                  <a:fillRect t="-1980" b="-25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Flowchart: Decision 52"/>
          <p:cNvSpPr/>
          <p:nvPr/>
        </p:nvSpPr>
        <p:spPr>
          <a:xfrm>
            <a:off x="7616344" y="3062242"/>
            <a:ext cx="2113151" cy="88521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hop accepted?</a:t>
            </a:r>
          </a:p>
        </p:txBody>
      </p:sp>
      <p:cxnSp>
        <p:nvCxnSpPr>
          <p:cNvPr id="54" name="Straight Arrow Connector 53"/>
          <p:cNvCxnSpPr>
            <a:stCxn id="53" idx="1"/>
            <a:endCxn id="55" idx="0"/>
          </p:cNvCxnSpPr>
          <p:nvPr/>
        </p:nvCxnSpPr>
        <p:spPr>
          <a:xfrm>
            <a:off x="7616344" y="3504850"/>
            <a:ext cx="1208479" cy="1543144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Flowchart: Process 54"/>
              <p:cNvSpPr/>
              <p:nvPr/>
            </p:nvSpPr>
            <p:spPr>
              <a:xfrm>
                <a:off x="7492900" y="5047994"/>
                <a:ext cx="2663845" cy="113384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Collapse onto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"1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Hop onto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Exit</a:t>
                </a:r>
              </a:p>
            </p:txBody>
          </p:sp>
        </mc:Choice>
        <mc:Fallback xmlns="">
          <p:sp>
            <p:nvSpPr>
              <p:cNvPr id="55" name="Flowchart: Process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00" y="5047994"/>
                <a:ext cx="2663845" cy="1133840"/>
              </a:xfrm>
              <a:prstGeom prst="flowChartProcess">
                <a:avLst/>
              </a:prstGeom>
              <a:blipFill>
                <a:blip r:embed="rId9"/>
                <a:stretch>
                  <a:fillRect t="-5851" b="-1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stCxn id="53" idx="3"/>
            <a:endCxn id="64" idx="0"/>
          </p:cNvCxnSpPr>
          <p:nvPr/>
        </p:nvCxnSpPr>
        <p:spPr>
          <a:xfrm flipH="1">
            <a:off x="9418610" y="3504851"/>
            <a:ext cx="310884" cy="694133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Flowchart: Process 56"/>
              <p:cNvSpPr/>
              <p:nvPr/>
            </p:nvSpPr>
            <p:spPr>
              <a:xfrm>
                <a:off x="4639843" y="6378431"/>
                <a:ext cx="2362849" cy="373266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Exclude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Flowchart: Process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843" y="6378431"/>
                <a:ext cx="2362849" cy="373266"/>
              </a:xfrm>
              <a:prstGeom prst="flowChartProcess">
                <a:avLst/>
              </a:prstGeom>
              <a:blipFill>
                <a:blip r:embed="rId10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Flowchart: Decision 57"/>
              <p:cNvSpPr/>
              <p:nvPr/>
            </p:nvSpPr>
            <p:spPr>
              <a:xfrm>
                <a:off x="3583268" y="2903123"/>
                <a:ext cx="2113151" cy="885217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58" name="Flowchart: Decision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268" y="2903123"/>
                <a:ext cx="2113151" cy="885217"/>
              </a:xfrm>
              <a:prstGeom prst="flowChartDecision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Elbow Connector 58"/>
          <p:cNvCxnSpPr>
            <a:stCxn id="57" idx="3"/>
            <a:endCxn id="58" idx="3"/>
          </p:cNvCxnSpPr>
          <p:nvPr/>
        </p:nvCxnSpPr>
        <p:spPr>
          <a:xfrm flipH="1" flipV="1">
            <a:off x="5696419" y="3345732"/>
            <a:ext cx="1306273" cy="3219333"/>
          </a:xfrm>
          <a:prstGeom prst="bentConnector3">
            <a:avLst>
              <a:gd name="adj1" fmla="val -17500"/>
            </a:avLst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Flowchart: Process 60"/>
              <p:cNvSpPr/>
              <p:nvPr/>
            </p:nvSpPr>
            <p:spPr>
              <a:xfrm>
                <a:off x="6222461" y="1761197"/>
                <a:ext cx="2140085" cy="792147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becomes a proposed state</a:t>
                </a:r>
              </a:p>
            </p:txBody>
          </p:sp>
        </mc:Choice>
        <mc:Fallback xmlns="">
          <p:sp>
            <p:nvSpPr>
              <p:cNvPr id="61" name="Flowchart: Process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461" y="1761197"/>
                <a:ext cx="2140085" cy="792147"/>
              </a:xfrm>
              <a:prstGeom prst="flowChartProcess">
                <a:avLst/>
              </a:prstGeom>
              <a:blipFill>
                <a:blip r:embed="rId12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61" idx="2"/>
            <a:endCxn id="53" idx="0"/>
          </p:cNvCxnSpPr>
          <p:nvPr/>
        </p:nvCxnSpPr>
        <p:spPr>
          <a:xfrm>
            <a:off x="7292503" y="2553343"/>
            <a:ext cx="1380416" cy="508898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329160" y="4465783"/>
            <a:ext cx="11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(2.1.1)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98740" y="361281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(2.1.2)</a:t>
            </a:r>
          </a:p>
        </p:txBody>
      </p:sp>
      <p:sp>
        <p:nvSpPr>
          <p:cNvPr id="64" name="Flowchart: Process 63"/>
          <p:cNvSpPr/>
          <p:nvPr/>
        </p:nvSpPr>
        <p:spPr>
          <a:xfrm>
            <a:off x="8670779" y="4198983"/>
            <a:ext cx="1495663" cy="6398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nothing</a:t>
            </a:r>
          </a:p>
          <a:p>
            <a:pPr algn="ctr"/>
            <a:r>
              <a:rPr lang="en-US" dirty="0"/>
              <a:t>Exit</a:t>
            </a:r>
          </a:p>
        </p:txBody>
      </p:sp>
      <p:cxnSp>
        <p:nvCxnSpPr>
          <p:cNvPr id="67" name="Straight Arrow Connector 66"/>
          <p:cNvCxnSpPr>
            <a:stCxn id="58" idx="1"/>
            <a:endCxn id="69" idx="3"/>
          </p:cNvCxnSpPr>
          <p:nvPr/>
        </p:nvCxnSpPr>
        <p:spPr>
          <a:xfrm flipH="1">
            <a:off x="3095421" y="3345731"/>
            <a:ext cx="487847" cy="51216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8" idx="2"/>
            <a:endCxn id="46" idx="0"/>
          </p:cNvCxnSpPr>
          <p:nvPr/>
        </p:nvCxnSpPr>
        <p:spPr>
          <a:xfrm flipH="1">
            <a:off x="4306435" y="3788340"/>
            <a:ext cx="333409" cy="373337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Process 68"/>
          <p:cNvSpPr/>
          <p:nvPr/>
        </p:nvSpPr>
        <p:spPr>
          <a:xfrm>
            <a:off x="1599758" y="3077007"/>
            <a:ext cx="1495663" cy="6398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nothing</a:t>
            </a:r>
          </a:p>
          <a:p>
            <a:pPr algn="ctr"/>
            <a:r>
              <a:rPr lang="en-US" dirty="0"/>
              <a:t>Exit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55618" y="2780499"/>
            <a:ext cx="11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(1.2.1)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4102" y="3680902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(1.2.2)</a:t>
            </a:r>
          </a:p>
        </p:txBody>
      </p:sp>
      <p:sp>
        <p:nvSpPr>
          <p:cNvPr id="78" name="Flowchart: Decision 77"/>
          <p:cNvSpPr/>
          <p:nvPr/>
        </p:nvSpPr>
        <p:spPr>
          <a:xfrm>
            <a:off x="3733438" y="5072708"/>
            <a:ext cx="2113151" cy="88521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 hop accepted?</a:t>
            </a:r>
          </a:p>
        </p:txBody>
      </p:sp>
      <p:cxnSp>
        <p:nvCxnSpPr>
          <p:cNvPr id="79" name="Straight Arrow Connector 78"/>
          <p:cNvCxnSpPr>
            <a:stCxn id="78" idx="1"/>
            <a:endCxn id="81" idx="0"/>
          </p:cNvCxnSpPr>
          <p:nvPr/>
        </p:nvCxnSpPr>
        <p:spPr>
          <a:xfrm flipH="1">
            <a:off x="2971565" y="5515316"/>
            <a:ext cx="761872" cy="216420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173638" y="5143435"/>
            <a:ext cx="13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 (1.2.2.1)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Flowchart: Process 80"/>
              <p:cNvSpPr/>
              <p:nvPr/>
            </p:nvSpPr>
            <p:spPr>
              <a:xfrm>
                <a:off x="1653136" y="5731736"/>
                <a:ext cx="2636859" cy="1057594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Project out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̃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Hop onto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dirty="0"/>
                  <a:t>Exit</a:t>
                </a:r>
              </a:p>
            </p:txBody>
          </p:sp>
        </mc:Choice>
        <mc:Fallback xmlns="">
          <p:sp>
            <p:nvSpPr>
              <p:cNvPr id="81" name="Flowchart: Process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36" y="5731736"/>
                <a:ext cx="2636859" cy="1057594"/>
              </a:xfrm>
              <a:prstGeom prst="flowChartProcess">
                <a:avLst/>
              </a:prstGeom>
              <a:blipFill>
                <a:blip r:embed="rId13"/>
                <a:stretch>
                  <a:fillRect t="-8523" b="-14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78" idx="3"/>
            <a:endCxn id="57" idx="0"/>
          </p:cNvCxnSpPr>
          <p:nvPr/>
        </p:nvCxnSpPr>
        <p:spPr>
          <a:xfrm flipH="1">
            <a:off x="5821268" y="5515317"/>
            <a:ext cx="25321" cy="863115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892695" y="574621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(1.2.2.2)</a:t>
            </a:r>
          </a:p>
        </p:txBody>
      </p:sp>
      <p:cxnSp>
        <p:nvCxnSpPr>
          <p:cNvPr id="84" name="Straight Arrow Connector 83"/>
          <p:cNvCxnSpPr>
            <a:stCxn id="46" idx="2"/>
            <a:endCxn id="78" idx="0"/>
          </p:cNvCxnSpPr>
          <p:nvPr/>
        </p:nvCxnSpPr>
        <p:spPr>
          <a:xfrm>
            <a:off x="4306435" y="4770099"/>
            <a:ext cx="483579" cy="302609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42" idx="2"/>
            <a:endCxn id="58" idx="0"/>
          </p:cNvCxnSpPr>
          <p:nvPr/>
        </p:nvCxnSpPr>
        <p:spPr>
          <a:xfrm flipH="1">
            <a:off x="4639844" y="2553344"/>
            <a:ext cx="367419" cy="349779"/>
          </a:xfrm>
          <a:prstGeom prst="straightConnector1">
            <a:avLst/>
          </a:prstGeom>
          <a:ln w="1016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7" descr="Image result for ub logo">
            <a:extLst>
              <a:ext uri="{FF2B5EF4-FFF2-40B4-BE49-F238E27FC236}">
                <a16:creationId xmlns:a16="http://schemas.microsoft.com/office/drawing/2014/main" id="{B9477651-37FE-E113-1394-0D466E2B0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D21CF2-7B6C-20EB-23DD-4276C2CC5D45}"/>
              </a:ext>
            </a:extLst>
          </p:cNvPr>
          <p:cNvSpPr txBox="1"/>
          <p:nvPr/>
        </p:nvSpPr>
        <p:spPr>
          <a:xfrm>
            <a:off x="1" y="74858"/>
            <a:ext cx="285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DISH</a:t>
            </a:r>
          </a:p>
        </p:txBody>
      </p:sp>
    </p:spTree>
    <p:extLst>
      <p:ext uri="{BB962C8B-B14F-4D97-AF65-F5344CB8AC3E}">
        <p14:creationId xmlns:p14="http://schemas.microsoft.com/office/powerpoint/2010/main" val="2864613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C4792DB8-3E67-7343-E4F5-4DD6CCB67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42B302-D3E4-9E3B-58A3-2502EF010106}"/>
              </a:ext>
            </a:extLst>
          </p:cNvPr>
          <p:cNvSpPr txBox="1"/>
          <p:nvPr/>
        </p:nvSpPr>
        <p:spPr>
          <a:xfrm>
            <a:off x="3329204" y="83577"/>
            <a:ext cx="5002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Decoherence: DISH_rev2023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9981FA-BBF5-BDB4-6CC1-3BC478FD1927}"/>
                  </a:ext>
                </a:extLst>
              </p:cNvPr>
              <p:cNvSpPr txBox="1"/>
              <p:nvPr/>
            </p:nvSpPr>
            <p:spPr>
              <a:xfrm>
                <a:off x="323516" y="4203967"/>
                <a:ext cx="1189736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DISH revision of 2023 simply applies the wavefunction collapse/projection out correction to the TD-SE wavefunction, similar to IDA or SDM, except that if a state "</a:t>
                </a:r>
                <a:r>
                  <a:rPr lang="en-US" sz="1400" dirty="0" err="1"/>
                  <a:t>i</a:t>
                </a:r>
                <a:r>
                  <a:rPr lang="en-US" sz="1400" dirty="0"/>
                  <a:t>" is decided to experience a decoherence event, the wavefunction is collapsed onto this state with the probability of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 and with the probability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 the state is projected out from the coherent superposition. In this case, it doesn't matter if the decoherent state is an active state or not.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9981FA-BBF5-BDB4-6CC1-3BC478FD1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16" y="4203967"/>
                <a:ext cx="11897360" cy="738664"/>
              </a:xfrm>
              <a:prstGeom prst="rect">
                <a:avLst/>
              </a:prstGeom>
              <a:blipFill>
                <a:blip r:embed="rId3"/>
                <a:stretch>
                  <a:fillRect l="-154" t="-1653" r="-307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21951DE-F436-9618-D99A-1DC36E6E16F8}"/>
              </a:ext>
            </a:extLst>
          </p:cNvPr>
          <p:cNvSpPr txBox="1"/>
          <p:nvPr/>
        </p:nvSpPr>
        <p:spPr>
          <a:xfrm>
            <a:off x="274013" y="672251"/>
            <a:ext cx="184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DISH: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BA8F7-3D7F-0090-9FB5-B17E107B5009}"/>
              </a:ext>
            </a:extLst>
          </p:cNvPr>
          <p:cNvSpPr txBox="1"/>
          <p:nvPr/>
        </p:nvSpPr>
        <p:spPr>
          <a:xfrm>
            <a:off x="2506077" y="3648082"/>
            <a:ext cx="4403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Zhang, Q.; Shao, X.; Li, W.; Mi, W.; </a:t>
            </a:r>
            <a:r>
              <a:rPr lang="en-US" sz="1400" dirty="0" err="1">
                <a:solidFill>
                  <a:srgbClr val="0000FF"/>
                </a:solidFill>
                <a:effectLst/>
              </a:rPr>
              <a:t>Pavanello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M.; Akimov, A. V.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J. Phys.: </a:t>
            </a:r>
            <a:r>
              <a:rPr lang="en-US" sz="1400" i="1" dirty="0" err="1">
                <a:solidFill>
                  <a:srgbClr val="0000FF"/>
                </a:solidFill>
                <a:effectLst/>
              </a:rPr>
              <a:t>Condens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. Matter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2024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36</a:t>
            </a:r>
            <a:r>
              <a:rPr lang="en-US" sz="1400" dirty="0">
                <a:solidFill>
                  <a:srgbClr val="0000FF"/>
                </a:solidFill>
                <a:effectLst/>
              </a:rPr>
              <a:t>, 385901.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0F9EBF-0FC4-97E4-0952-8E82B23015B7}"/>
                  </a:ext>
                </a:extLst>
              </p:cNvPr>
              <p:cNvSpPr txBox="1"/>
              <p:nvPr/>
            </p:nvSpPr>
            <p:spPr>
              <a:xfrm>
                <a:off x="7347970" y="5196948"/>
                <a:ext cx="4272067" cy="13408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⟨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begChr m:val="⟨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0F9EBF-0FC4-97E4-0952-8E82B2301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970" y="5196948"/>
                <a:ext cx="4272067" cy="1340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948E396-2D56-1B62-757A-8ADDCC833C9D}"/>
              </a:ext>
            </a:extLst>
          </p:cNvPr>
          <p:cNvSpPr txBox="1"/>
          <p:nvPr/>
        </p:nvSpPr>
        <p:spPr>
          <a:xfrm>
            <a:off x="249772" y="5196948"/>
            <a:ext cx="570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Projector operator introduced in the original DISH paper of Jaeger et al.: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E9753-392E-5A03-9559-851A7986E951}"/>
              </a:ext>
            </a:extLst>
          </p:cNvPr>
          <p:cNvSpPr txBox="1"/>
          <p:nvPr/>
        </p:nvSpPr>
        <p:spPr>
          <a:xfrm>
            <a:off x="274013" y="5774149"/>
            <a:ext cx="67151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DISH_rev2023 only applies this </a:t>
            </a:r>
            <a:r>
              <a:rPr lang="en-US" sz="1400" b="1" dirty="0">
                <a:solidFill>
                  <a:srgbClr val="C00000"/>
                </a:solidFill>
              </a:rPr>
              <a:t>operator to the electronic part only </a:t>
            </a:r>
            <a:r>
              <a:rPr lang="en-US" sz="1400" dirty="0"/>
              <a:t>regardless whether the projection can be consistent with the energy conservation, which is already broken in the NBRA anyways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5F45D-FCEF-13B0-C8FF-A3DB91958591}"/>
              </a:ext>
            </a:extLst>
          </p:cNvPr>
          <p:cNvSpPr txBox="1"/>
          <p:nvPr/>
        </p:nvSpPr>
        <p:spPr>
          <a:xfrm>
            <a:off x="2782642" y="6722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Jaeger, H. M.; Fischer, S.;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2012</a:t>
            </a:r>
            <a:r>
              <a:rPr lang="en-US" sz="1400" dirty="0">
                <a:solidFill>
                  <a:srgbClr val="0000FF"/>
                </a:solidFill>
              </a:rPr>
              <a:t>, 137, 22A545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54F3FE-B61B-086C-6BCF-7CE632FF675B}"/>
                  </a:ext>
                </a:extLst>
              </p:cNvPr>
              <p:cNvSpPr txBox="1"/>
              <p:nvPr/>
            </p:nvSpPr>
            <p:spPr>
              <a:xfrm>
                <a:off x="447655" y="1406937"/>
                <a:ext cx="11490960" cy="2116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1400" dirty="0"/>
                  <a:t>Coherence interval for state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4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400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- pure dephasing time for the pair of states </a:t>
                </a:r>
                <a:r>
                  <a:rPr lang="en-US" sz="1400" i="1" dirty="0"/>
                  <a:t>i</a:t>
                </a:r>
                <a:r>
                  <a:rPr lang="en-US" sz="1400" dirty="0"/>
                  <a:t> and </a:t>
                </a:r>
                <a:r>
                  <a:rPr lang="en-US" sz="1400" i="1" dirty="0"/>
                  <a:t>j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1400" dirty="0"/>
                  <a:t>The time at which decoherence event takes place is distributed exponentially: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~</m:t>
                    </m:r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400" dirty="0"/>
                  <a:t>, which corresponds to the Poisson distribution of the number of events to take place in a given time interval.</a:t>
                </a:r>
              </a:p>
              <a:p>
                <a:pPr marL="342900" indent="-342900">
                  <a:buAutoNum type="arabicPeriod" startAt="2"/>
                </a:pPr>
                <a:r>
                  <a:rPr lang="en-US" sz="1400" dirty="0"/>
                  <a:t>At decoherence event: coherent superposition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400" dirty="0"/>
                  <a:t> is projected in the following way: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     - with the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, the superposition is collapsed on the pure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 (set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400" dirty="0"/>
                  <a:t>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)</a:t>
                </a:r>
              </a:p>
              <a:p>
                <a:r>
                  <a:rPr lang="en-US" sz="1400" dirty="0"/>
                  <a:t>           -- but do this only if the hop to this state + velocity rescaling associated with this transition is possible </a:t>
                </a:r>
              </a:p>
              <a:p>
                <a:r>
                  <a:rPr lang="en-US" sz="1400" dirty="0"/>
                  <a:t>     - with the probability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/>
                  <a:t>,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/>
                  <a:t> is projected out from the superposition (reset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, renormalize others)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54F3FE-B61B-086C-6BCF-7CE632FF6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55" y="1406937"/>
                <a:ext cx="11490960" cy="2116926"/>
              </a:xfrm>
              <a:prstGeom prst="rect">
                <a:avLst/>
              </a:prstGeom>
              <a:blipFill>
                <a:blip r:embed="rId5"/>
                <a:stretch>
                  <a:fillRect l="-159" t="-12392" b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E9685C5-BD43-8D24-DB92-39A0FB0ABDEF}"/>
              </a:ext>
            </a:extLst>
          </p:cNvPr>
          <p:cNvSpPr txBox="1"/>
          <p:nvPr/>
        </p:nvSpPr>
        <p:spPr>
          <a:xfrm>
            <a:off x="2782642" y="928639"/>
            <a:ext cx="385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 V. </a:t>
            </a:r>
            <a:r>
              <a:rPr lang="en-US" sz="1400" i="1" dirty="0">
                <a:solidFill>
                  <a:srgbClr val="0000FF"/>
                </a:solidFill>
              </a:rPr>
              <a:t>J. Chem. Phys.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2021</a:t>
            </a:r>
            <a:r>
              <a:rPr lang="en-US" sz="1400" dirty="0">
                <a:solidFill>
                  <a:srgbClr val="0000FF"/>
                </a:solidFill>
              </a:rPr>
              <a:t>, 155, 134106.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46D28-B471-7BBA-297A-F9139501DE84}"/>
              </a:ext>
            </a:extLst>
          </p:cNvPr>
          <p:cNvSpPr txBox="1"/>
          <p:nvPr/>
        </p:nvSpPr>
        <p:spPr>
          <a:xfrm>
            <a:off x="323516" y="945855"/>
            <a:ext cx="184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revision: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C09396-03D6-A270-DD86-D7E35D70C859}"/>
              </a:ext>
            </a:extLst>
          </p:cNvPr>
          <p:cNvSpPr txBox="1"/>
          <p:nvPr/>
        </p:nvSpPr>
        <p:spPr>
          <a:xfrm>
            <a:off x="274013" y="3769305"/>
            <a:ext cx="256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Branched-out revision: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8514F-7471-25ED-8707-57E0EE919213}"/>
              </a:ext>
            </a:extLst>
          </p:cNvPr>
          <p:cNvSpPr txBox="1"/>
          <p:nvPr/>
        </p:nvSpPr>
        <p:spPr>
          <a:xfrm>
            <a:off x="7859333" y="887112"/>
            <a:ext cx="1767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tsh_method</a:t>
            </a:r>
            <a:r>
              <a:rPr lang="en-US" b="1" dirty="0">
                <a:solidFill>
                  <a:srgbClr val="0000FF"/>
                </a:solidFill>
              </a:rPr>
              <a:t> =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7655E-2ACF-5607-9F70-78D7F02C4517}"/>
              </a:ext>
            </a:extLst>
          </p:cNvPr>
          <p:cNvSpPr txBox="1"/>
          <p:nvPr/>
        </p:nvSpPr>
        <p:spPr>
          <a:xfrm>
            <a:off x="7248660" y="3645003"/>
            <a:ext cx="4174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tsh_method</a:t>
            </a:r>
            <a:r>
              <a:rPr lang="en-US" b="1" dirty="0">
                <a:solidFill>
                  <a:srgbClr val="0000FF"/>
                </a:solidFill>
              </a:rPr>
              <a:t> = * ; </a:t>
            </a:r>
            <a:r>
              <a:rPr lang="en-US" b="1" dirty="0" err="1">
                <a:solidFill>
                  <a:srgbClr val="0000FF"/>
                </a:solidFill>
              </a:rPr>
              <a:t>decoherence_algo</a:t>
            </a:r>
            <a:r>
              <a:rPr lang="en-US" b="1" dirty="0">
                <a:solidFill>
                  <a:srgbClr val="0000FF"/>
                </a:solidFill>
              </a:rPr>
              <a:t> = 7 </a:t>
            </a:r>
          </a:p>
        </p:txBody>
      </p:sp>
    </p:spTree>
    <p:extLst>
      <p:ext uri="{BB962C8B-B14F-4D97-AF65-F5344CB8AC3E}">
        <p14:creationId xmlns:p14="http://schemas.microsoft.com/office/powerpoint/2010/main" val="17270766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4D3F80-D0F2-6BC7-70E4-6713D274D82F}"/>
              </a:ext>
            </a:extLst>
          </p:cNvPr>
          <p:cNvSpPr txBox="1"/>
          <p:nvPr/>
        </p:nvSpPr>
        <p:spPr>
          <a:xfrm>
            <a:off x="3270384" y="105525"/>
            <a:ext cx="5018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Decoherence: XFSH and MQCXF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95AB0ACF-4E7B-226C-CF52-55E2A4C4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54E75-C278-3FAB-9624-D4332DAB1F5E}"/>
                  </a:ext>
                </a:extLst>
              </p:cNvPr>
              <p:cNvSpPr txBox="1"/>
              <p:nvPr/>
            </p:nvSpPr>
            <p:spPr>
              <a:xfrm>
                <a:off x="127000" y="2628221"/>
                <a:ext cx="7447280" cy="615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𝑋𝐹</m:t>
                          </m:r>
                        </m:sub>
                      </m:sSub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𝝆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𝝆</m:t>
                              </m:r>
                            </m:e>
                          </m:d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54E75-C278-3FAB-9624-D4332DAB1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2628221"/>
                <a:ext cx="7447280" cy="615040"/>
              </a:xfrm>
              <a:prstGeom prst="rect">
                <a:avLst/>
              </a:prstGeom>
              <a:blipFill>
                <a:blip r:embed="rId3"/>
                <a:stretch>
                  <a:fillRect t="-115842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3E8066-A2D9-8CB9-7FB5-5268E7529409}"/>
                  </a:ext>
                </a:extLst>
              </p:cNvPr>
              <p:cNvSpPr txBox="1"/>
              <p:nvPr/>
            </p:nvSpPr>
            <p:spPr>
              <a:xfrm>
                <a:off x="-242852" y="3539110"/>
                <a:ext cx="3963952" cy="615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𝑋𝐹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𝑏𝑏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3E8066-A2D9-8CB9-7FB5-5268E7529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2852" y="3539110"/>
                <a:ext cx="3963952" cy="615040"/>
              </a:xfrm>
              <a:prstGeom prst="rect">
                <a:avLst/>
              </a:prstGeom>
              <a:blipFill>
                <a:blip r:embed="rId4"/>
                <a:stretch>
                  <a:fillRect t="-117000" b="-16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004616-C2C8-1F2A-43B1-B0084B37F622}"/>
                  </a:ext>
                </a:extLst>
              </p:cNvPr>
              <p:cNvSpPr txBox="1"/>
              <p:nvPr/>
            </p:nvSpPr>
            <p:spPr>
              <a:xfrm>
                <a:off x="6939280" y="3447336"/>
                <a:ext cx="5252720" cy="639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𝑋𝐹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 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𝑏𝑏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𝑏𝑏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𝑎𝑎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𝑏𝑏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𝑎𝑎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004616-C2C8-1F2A-43B1-B0084B37F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280" y="3447336"/>
                <a:ext cx="5252720" cy="639534"/>
              </a:xfrm>
              <a:prstGeom prst="rect">
                <a:avLst/>
              </a:prstGeom>
              <a:blipFill>
                <a:blip r:embed="rId5"/>
                <a:stretch>
                  <a:fillRect t="-112500" b="-15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A7ACF2-BDEE-3860-9E59-43DBF3F1DB5C}"/>
                  </a:ext>
                </a:extLst>
              </p:cNvPr>
              <p:cNvSpPr txBox="1"/>
              <p:nvPr/>
            </p:nvSpPr>
            <p:spPr>
              <a:xfrm>
                <a:off x="63500" y="1662909"/>
                <a:ext cx="6096000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𝑋𝐹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e>
                              <m: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A7ACF2-BDEE-3860-9E59-43DBF3F1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" y="1662909"/>
                <a:ext cx="6096000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5094C8-A634-25FF-3E37-90F1F1A690C0}"/>
                  </a:ext>
                </a:extLst>
              </p:cNvPr>
              <p:cNvSpPr txBox="1"/>
              <p:nvPr/>
            </p:nvSpPr>
            <p:spPr>
              <a:xfrm>
                <a:off x="8158480" y="1815975"/>
                <a:ext cx="1351280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5094C8-A634-25FF-3E37-90F1F1A69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480" y="1815975"/>
                <a:ext cx="1351280" cy="3779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46B4D-61F5-F856-CCFD-6247FDCA5788}"/>
                  </a:ext>
                </a:extLst>
              </p:cNvPr>
              <p:cNvSpPr txBox="1"/>
              <p:nvPr/>
            </p:nvSpPr>
            <p:spPr>
              <a:xfrm>
                <a:off x="8342630" y="2446127"/>
                <a:ext cx="342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𝑋𝐹</m:t>
                          </m:r>
                        </m:sup>
                      </m:sSup>
                      <m:d>
                        <m:d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46B4D-61F5-F856-CCFD-6247FDCA5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630" y="2446127"/>
                <a:ext cx="342392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62BEF9-1DB9-83C9-14E6-84D5D4148912}"/>
                  </a:ext>
                </a:extLst>
              </p:cNvPr>
              <p:cNvSpPr txBox="1"/>
              <p:nvPr/>
            </p:nvSpPr>
            <p:spPr>
              <a:xfrm>
                <a:off x="8277860" y="2816547"/>
                <a:ext cx="391414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𝐵𝑂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62BEF9-1DB9-83C9-14E6-84D5D4148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860" y="2816547"/>
                <a:ext cx="3914140" cy="4049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02D481-C64A-73A3-3012-E3541BB2A433}"/>
                  </a:ext>
                </a:extLst>
              </p:cNvPr>
              <p:cNvSpPr txBox="1"/>
              <p:nvPr/>
            </p:nvSpPr>
            <p:spPr>
              <a:xfrm>
                <a:off x="7307580" y="4181973"/>
                <a:ext cx="4401820" cy="1085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𝓟</m:t>
                      </m:r>
                      <m:d>
                        <m:d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𝛁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02D481-C64A-73A3-3012-E3541BB2A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580" y="4181973"/>
                <a:ext cx="4401820" cy="1085746"/>
              </a:xfrm>
              <a:prstGeom prst="rect">
                <a:avLst/>
              </a:prstGeom>
              <a:blipFill>
                <a:blip r:embed="rId10"/>
                <a:stretch>
                  <a:fillRect t="-23034" b="-93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5EF77-8A8B-3AC6-FC2B-30528A837112}"/>
                  </a:ext>
                </a:extLst>
              </p:cNvPr>
              <p:cNvSpPr txBox="1"/>
              <p:nvPr/>
            </p:nvSpPr>
            <p:spPr>
              <a:xfrm>
                <a:off x="351790" y="4244301"/>
                <a:ext cx="3963952" cy="411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>
                                <m:fPr>
                                  <m:type m:val="lin"/>
                                  <m:ctrlPr>
                                    <a:rPr lang="en-US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F5EF77-8A8B-3AC6-FC2B-30528A837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0" y="4244301"/>
                <a:ext cx="3963952" cy="411395"/>
              </a:xfrm>
              <a:prstGeom prst="rect">
                <a:avLst/>
              </a:prstGeom>
              <a:blipFill>
                <a:blip r:embed="rId11"/>
                <a:stretch>
                  <a:fillRect t="-98529" r="-154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19299A-DAAA-FD7F-EF0A-36C5CA75B6A6}"/>
                  </a:ext>
                </a:extLst>
              </p:cNvPr>
              <p:cNvSpPr txBox="1"/>
              <p:nvPr/>
            </p:nvSpPr>
            <p:spPr>
              <a:xfrm>
                <a:off x="3943350" y="4164749"/>
                <a:ext cx="1973580" cy="609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19299A-DAAA-FD7F-EF0A-36C5CA75B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50" y="4164749"/>
                <a:ext cx="1973580" cy="6090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6482946-43DF-D6BC-C5D2-6D168974886C}"/>
              </a:ext>
            </a:extLst>
          </p:cNvPr>
          <p:cNvSpPr txBox="1"/>
          <p:nvPr/>
        </p:nvSpPr>
        <p:spPr>
          <a:xfrm>
            <a:off x="5078730" y="5325918"/>
            <a:ext cx="2228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MFXF, aka </a:t>
            </a:r>
            <a:r>
              <a:rPr lang="en-US" sz="1800" dirty="0" err="1">
                <a:solidFill>
                  <a:srgbClr val="C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EhXF</a:t>
            </a:r>
            <a:r>
              <a:rPr lang="en-US" sz="1800" i="1" baseline="30000" dirty="0">
                <a:solidFill>
                  <a:srgbClr val="C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AC3D1F-E41E-2CA7-9196-DA702CA7C22E}"/>
                  </a:ext>
                </a:extLst>
              </p:cNvPr>
              <p:cNvSpPr txBox="1"/>
              <p:nvPr/>
            </p:nvSpPr>
            <p:spPr>
              <a:xfrm>
                <a:off x="586740" y="5332417"/>
                <a:ext cx="4251960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𝐵𝑂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𝑋𝐹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used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AC3D1F-E41E-2CA7-9196-DA702CA7C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" y="5332417"/>
                <a:ext cx="4251960" cy="376770"/>
              </a:xfrm>
              <a:prstGeom prst="rect">
                <a:avLst/>
              </a:prstGeom>
              <a:blipFill>
                <a:blip r:embed="rId13"/>
                <a:stretch>
                  <a:fillRect l="-114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A6D56C-4DA9-A801-FCC0-90DE9ECFD429}"/>
                  </a:ext>
                </a:extLst>
              </p:cNvPr>
              <p:cNvSpPr txBox="1"/>
              <p:nvPr/>
            </p:nvSpPr>
            <p:spPr>
              <a:xfrm>
                <a:off x="8082280" y="5339855"/>
                <a:ext cx="19723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𝑀𝐹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A6D56C-4DA9-A801-FCC0-90DE9ECFD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280" y="5339855"/>
                <a:ext cx="1972310" cy="369332"/>
              </a:xfrm>
              <a:prstGeom prst="rect">
                <a:avLst/>
              </a:prstGeom>
              <a:blipFill>
                <a:blip r:embed="rId14"/>
                <a:stretch>
                  <a:fillRect l="-2786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48EF89A-3FE7-9597-C23D-93A0132A8463}"/>
              </a:ext>
            </a:extLst>
          </p:cNvPr>
          <p:cNvSpPr txBox="1"/>
          <p:nvPr/>
        </p:nvSpPr>
        <p:spPr>
          <a:xfrm>
            <a:off x="5034280" y="5828144"/>
            <a:ext cx="197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SHXF (DISH-XF)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63CD64-4BE5-847B-7EB1-FEBE592E8341}"/>
                  </a:ext>
                </a:extLst>
              </p:cNvPr>
              <p:cNvSpPr txBox="1"/>
              <p:nvPr/>
            </p:nvSpPr>
            <p:spPr>
              <a:xfrm>
                <a:off x="586740" y="5828144"/>
                <a:ext cx="4251960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𝐵𝑂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𝑋𝐹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used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63CD64-4BE5-847B-7EB1-FEBE592E8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" y="5828144"/>
                <a:ext cx="4251960" cy="376770"/>
              </a:xfrm>
              <a:prstGeom prst="rect">
                <a:avLst/>
              </a:prstGeom>
              <a:blipFill>
                <a:blip r:embed="rId15"/>
                <a:stretch>
                  <a:fillRect l="-1146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3FFD2B20-59F8-3758-329F-4ED44E24C703}"/>
              </a:ext>
            </a:extLst>
          </p:cNvPr>
          <p:cNvSpPr txBox="1"/>
          <p:nvPr/>
        </p:nvSpPr>
        <p:spPr>
          <a:xfrm>
            <a:off x="8067040" y="5781323"/>
            <a:ext cx="364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Adiabatic forces of the active state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4F1ACE-0E54-C268-71F0-BA977826BEF1}"/>
              </a:ext>
            </a:extLst>
          </p:cNvPr>
          <p:cNvSpPr txBox="1"/>
          <p:nvPr/>
        </p:nvSpPr>
        <p:spPr>
          <a:xfrm>
            <a:off x="5261328" y="6383143"/>
            <a:ext cx="116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MQCXF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F7E9F14-67C2-77FF-0F8B-274B2646BAFE}"/>
                  </a:ext>
                </a:extLst>
              </p:cNvPr>
              <p:cNvSpPr txBox="1"/>
              <p:nvPr/>
            </p:nvSpPr>
            <p:spPr>
              <a:xfrm>
                <a:off x="586740" y="6375705"/>
                <a:ext cx="4251960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𝐵𝑂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𝑋𝐹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used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F7E9F14-67C2-77FF-0F8B-274B2646B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" y="6375705"/>
                <a:ext cx="4251960" cy="376770"/>
              </a:xfrm>
              <a:prstGeom prst="rect">
                <a:avLst/>
              </a:prstGeom>
              <a:blipFill>
                <a:blip r:embed="rId16"/>
                <a:stretch>
                  <a:fillRect l="-1146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580395-3226-4500-4830-830E96126450}"/>
                  </a:ext>
                </a:extLst>
              </p:cNvPr>
              <p:cNvSpPr txBox="1"/>
              <p:nvPr/>
            </p:nvSpPr>
            <p:spPr>
              <a:xfrm>
                <a:off x="8082280" y="6363305"/>
                <a:ext cx="39639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𝑀𝐹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𝑋𝐹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used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8580395-3226-4500-4830-830E96126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280" y="6363305"/>
                <a:ext cx="3963952" cy="369332"/>
              </a:xfrm>
              <a:prstGeom prst="rect">
                <a:avLst/>
              </a:prstGeom>
              <a:blipFill>
                <a:blip r:embed="rId17"/>
                <a:stretch>
                  <a:fillRect l="-1385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984E01C-6DDB-926F-71FB-136DC529C49E}"/>
              </a:ext>
            </a:extLst>
          </p:cNvPr>
          <p:cNvSpPr txBox="1"/>
          <p:nvPr/>
        </p:nvSpPr>
        <p:spPr>
          <a:xfrm>
            <a:off x="3111500" y="834315"/>
            <a:ext cx="7099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Original: Ha, J.-K.; Lee, I. S.; Min, S. K. </a:t>
            </a:r>
            <a:r>
              <a:rPr lang="en-US" sz="1400" i="1" dirty="0">
                <a:solidFill>
                  <a:srgbClr val="0000FF"/>
                </a:solidFill>
              </a:rPr>
              <a:t>J. Phys. Chem. Lett.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b="1" dirty="0">
                <a:solidFill>
                  <a:srgbClr val="0000FF"/>
                </a:solidFill>
              </a:rPr>
              <a:t>2018</a:t>
            </a:r>
            <a:r>
              <a:rPr lang="en-US" sz="1400" dirty="0">
                <a:solidFill>
                  <a:srgbClr val="0000FF"/>
                </a:solidFill>
              </a:rPr>
              <a:t>, 9, 1097</a:t>
            </a:r>
          </a:p>
          <a:p>
            <a:r>
              <a:rPr lang="en-US" sz="1400" dirty="0">
                <a:solidFill>
                  <a:srgbClr val="0000FF"/>
                </a:solidFill>
              </a:rPr>
              <a:t>Libra implementation: Han, D.; Akimov, A.V. </a:t>
            </a:r>
            <a:r>
              <a:rPr lang="en-US" sz="1400" i="1" dirty="0">
                <a:solidFill>
                  <a:srgbClr val="0000FF"/>
                </a:solidFill>
              </a:rPr>
              <a:t>J. Chem. Theory </a:t>
            </a:r>
            <a:r>
              <a:rPr lang="en-US" sz="1400" i="1" dirty="0" err="1">
                <a:solidFill>
                  <a:srgbClr val="0000FF"/>
                </a:solidFill>
              </a:rPr>
              <a:t>Comput</a:t>
            </a:r>
            <a:r>
              <a:rPr lang="en-US" sz="1400" i="1" dirty="0">
                <a:solidFill>
                  <a:srgbClr val="0000FF"/>
                </a:solidFill>
              </a:rPr>
              <a:t>.</a:t>
            </a:r>
            <a:r>
              <a:rPr lang="en-US" sz="1400" dirty="0">
                <a:solidFill>
                  <a:srgbClr val="0000FF"/>
                </a:solidFill>
              </a:rPr>
              <a:t> </a:t>
            </a:r>
            <a:r>
              <a:rPr lang="en-US" sz="1400" b="1" dirty="0">
                <a:solidFill>
                  <a:srgbClr val="0000FF"/>
                </a:solidFill>
              </a:rPr>
              <a:t>2024,</a:t>
            </a:r>
            <a:r>
              <a:rPr lang="en-US" sz="1400" dirty="0">
                <a:solidFill>
                  <a:srgbClr val="0000FF"/>
                </a:solidFill>
              </a:rPr>
              <a:t> 20, 5022–5042</a:t>
            </a:r>
          </a:p>
        </p:txBody>
      </p:sp>
    </p:spTree>
    <p:extLst>
      <p:ext uri="{BB962C8B-B14F-4D97-AF65-F5344CB8AC3E}">
        <p14:creationId xmlns:p14="http://schemas.microsoft.com/office/powerpoint/2010/main" val="4256845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F53-7E6E-4507-DFF7-B627F6CB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AAD838E-DFD7-9967-131B-418C78B83201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14227CCD-CC79-9BFA-80FE-3BA21591B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D70160ED-69D3-A10E-8377-8B74A8FC0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D8556FF2-9FCE-E367-C7C8-A4F41E2C2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E38A959D-BD1C-210B-6FF1-0090E0A53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27A6B14-7522-1339-4288-89E037DDDECC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4174A8-8D20-8DFB-80C9-0A0E78E7861C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A1AC23-E0D4-883F-EB37-5824B91FE71F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2E36E5-C398-5D1A-CC91-3E4D00F4912F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D4F9B0-0598-0E25-A308-9641E7E3CAC0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A2E7892-DC61-4F66-180C-F94138F142ED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C1C78A15-A4A4-A736-D2CA-820D564EF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4F4F105-A98F-5DDE-04CD-D2A93DA8AC27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322C8AFB-42DC-A3F3-9D35-90FF2AF98276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F77EB210-77DF-04C6-E762-8DA94CBD8390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534F859-9DF5-9D84-9AAF-F27FDDE0F2EC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008E0B71-DF0D-7F85-0726-4C9912A5A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86C7D57F-109F-968E-F166-ADB95E6AD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7E08F-8F94-9608-887C-1A6D8E0375AF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A386A9-D2A3-D116-8EB8-E274E90BBF39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786BC9C-138A-3F7C-B11D-9FEACD00BBD8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F962B3-76E5-85C2-A160-47FDB1D5D0D4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BA5CD5-889E-0E82-402B-1ECD0E4DBF8C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437D18FA-96EF-95BE-C9A1-D9D4B5A3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4C3058-6BE4-D1B4-29AE-D1207733DE42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C0E039FC-A528-4F81-3E97-B5E633BFB326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C4CA09FD-DA23-B73A-0CF6-2CF4A5A17DA4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11B8E54F-3E3F-BFBE-F877-719C1AD9D34D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59B086C9-4153-84AB-7370-36E522E2D056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A1353C6-9A76-9AA0-6B51-99EE5DEA36AF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3CCF2E21-F4E5-95FC-4970-A8EB7AFC1BF0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4EE32A-B499-4C2A-1C26-8FED2758FE66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B5318-B850-32E6-FC26-99F1BE511CC7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4.9: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Computing Decoherence Times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4662169F-8F8A-EB88-F94A-015FC821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BA89829-31E0-C900-4E7F-433E60F3B0DD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B712F726-C6BE-F417-AA2F-2F09EBB987FB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3F3199E8-1653-EF9C-B104-A2B37ADBCB32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2BA7E6BA-1CDD-E708-E592-38EAD5259E9E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E4838401-ECA0-7705-3628-68167FE661C5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5BA235EE-9E02-4E82-C233-5B5C1D5A6EC4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C50E6-1E17-0E6D-C44B-9EB640A47035}"/>
              </a:ext>
            </a:extLst>
          </p:cNvPr>
          <p:cNvSpPr/>
          <p:nvPr/>
        </p:nvSpPr>
        <p:spPr>
          <a:xfrm>
            <a:off x="6303667" y="4289902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1A43D-4F1A-FCFD-DBFC-472D275AEE46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A69EC-0C79-106F-F785-D9BAB3B4B9B5}"/>
              </a:ext>
            </a:extLst>
          </p:cNvPr>
          <p:cNvSpPr/>
          <p:nvPr/>
        </p:nvSpPr>
        <p:spPr>
          <a:xfrm>
            <a:off x="6315658" y="5137744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9126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44824" y="3015494"/>
                <a:ext cx="2688335" cy="597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𝐸𝐷𝐶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𝑘𝑖𝑛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24" y="3015494"/>
                <a:ext cx="2688335" cy="5979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34443" y="5063846"/>
                <a:ext cx="1428661" cy="728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443" y="5063846"/>
                <a:ext cx="1428661" cy="7288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12" name="Rectangle 11"/>
              <p:cNvSpPr/>
              <p:nvPr/>
            </p:nvSpPr>
            <p:spPr>
              <a:xfrm>
                <a:off x="695213" y="1113698"/>
                <a:ext cx="1695015" cy="515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 useBgFill="1"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13" y="1113698"/>
                <a:ext cx="1695015" cy="515013"/>
              </a:xfrm>
              <a:prstGeom prst="rect">
                <a:avLst/>
              </a:prstGeom>
              <a:blipFill>
                <a:blip r:embed="rId4"/>
                <a:stretch>
                  <a:fillRect l="-2878" t="-148810" r="-28417" b="-2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15395" y="5163769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mSDM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04803" y="805921"/>
            <a:ext cx="1742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Decoherence interval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376" y="5744302"/>
            <a:ext cx="29078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Akimov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A. V.;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O. V.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JPCL,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3857 </a:t>
            </a:r>
          </a:p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Smith, B.;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Akimov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A. V.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JCP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151, 124107</a:t>
            </a:r>
            <a:endParaRPr lang="en-US" sz="14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73884" y="2340682"/>
            <a:ext cx="1427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SDM/EDC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3490" y="2759302"/>
            <a:ext cx="33111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JCP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134114.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220" y="1665615"/>
            <a:ext cx="29078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Jaeger, H. M.; Fischer, S.;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O. V.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J. Chem. Phys.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2012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137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22A545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1260" y="4345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4266" y="4159208"/>
            <a:ext cx="358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Phase-informed Decoherence times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64266" y="4549004"/>
            <a:ext cx="36500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Sifain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A. E.; Wang, L.;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S.; </a:t>
            </a:r>
            <a:r>
              <a:rPr lang="en-US" sz="14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O. 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970677" y="4857808"/>
                <a:ext cx="2688335" cy="61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𝑃𝐼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677" y="4857808"/>
                <a:ext cx="2688335" cy="619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384275" y="1197094"/>
            <a:ext cx="911948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[-1]: set all dephasing rates to zero [ default ]</a:t>
            </a:r>
          </a:p>
          <a:p>
            <a:pPr marL="285750" indent="-285750">
              <a:buFontTx/>
              <a:buChar char="-"/>
            </a:pPr>
            <a:r>
              <a:rPr lang="en-US" dirty="0"/>
              <a:t>0: use the rates read out from the input </a:t>
            </a:r>
          </a:p>
          <a:p>
            <a:pPr marL="285750" indent="-285750">
              <a:buFontTx/>
              <a:buChar char="-"/>
            </a:pPr>
            <a:r>
              <a:rPr lang="en-US" dirty="0"/>
              <a:t>1: use the energy-based decoherence method (EDC)</a:t>
            </a:r>
          </a:p>
          <a:p>
            <a:pPr marL="285750" indent="-285750">
              <a:buFontTx/>
              <a:buChar char="-"/>
            </a:pPr>
            <a:r>
              <a:rPr lang="en-US" dirty="0"/>
              <a:t>2: Schwartz - mean-field Force-based decoherence (Schwartz 1), using </a:t>
            </a:r>
            <a:r>
              <a:rPr lang="en-US" dirty="0" err="1"/>
              <a:t>inv_alpha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3: Schwartz - pair-wise-based decoherence, (Schwartz 2), using </a:t>
            </a:r>
            <a:r>
              <a:rPr lang="en-US" dirty="0" err="1"/>
              <a:t>inv_alpha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4: Schwartz - mean-field Force-based decoherence (Schwartz 1), but using interaction width</a:t>
            </a:r>
          </a:p>
          <a:p>
            <a:pPr marL="285750" indent="-285750">
              <a:buFontTx/>
              <a:buChar char="-"/>
            </a:pPr>
            <a:r>
              <a:rPr lang="en-US" dirty="0"/>
              <a:t>5: Gu-Franco</a:t>
            </a:r>
          </a:p>
        </p:txBody>
      </p:sp>
      <p:cxnSp>
        <p:nvCxnSpPr>
          <p:cNvPr id="30" name="Straight Arrow Connector 29"/>
          <p:cNvCxnSpPr>
            <a:cxnSpLocks/>
          </p:cNvCxnSpPr>
          <p:nvPr/>
        </p:nvCxnSpPr>
        <p:spPr>
          <a:xfrm flipV="1">
            <a:off x="2449047" y="3516476"/>
            <a:ext cx="0" cy="63539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 flipV="1">
            <a:off x="3014891" y="3205685"/>
            <a:ext cx="0" cy="12470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995098" y="5498554"/>
            <a:ext cx="2927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en-US" b="1" dirty="0" err="1">
                <a:solidFill>
                  <a:srgbClr val="0000FF"/>
                </a:solidFill>
              </a:rPr>
              <a:t>dephasing_informed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dirty="0"/>
              <a:t>      - 0: don't apply [ default ]</a:t>
            </a:r>
          </a:p>
          <a:p>
            <a:r>
              <a:rPr lang="en-US" dirty="0"/>
              <a:t>      - 1: use it </a:t>
            </a:r>
          </a:p>
        </p:txBody>
      </p:sp>
      <p:pic>
        <p:nvPicPr>
          <p:cNvPr id="25" name="Picture 7" descr="Image result for ub logo">
            <a:extLst>
              <a:ext uri="{FF2B5EF4-FFF2-40B4-BE49-F238E27FC236}">
                <a16:creationId xmlns:a16="http://schemas.microsoft.com/office/drawing/2014/main" id="{506E677C-4818-EF17-F62A-9F5D174B5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6174C5-EC83-1815-747C-3F732F709E33}"/>
                  </a:ext>
                </a:extLst>
              </p:cNvPr>
              <p:cNvSpPr txBox="1"/>
              <p:nvPr/>
            </p:nvSpPr>
            <p:spPr>
              <a:xfrm>
                <a:off x="8280796" y="3936272"/>
                <a:ext cx="415447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𝑀𝐹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𝑀𝐹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6174C5-EC83-1815-747C-3F732F709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796" y="3936272"/>
                <a:ext cx="415447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5CFAAE-DC71-2FBB-9C19-032B9FE1B825}"/>
              </a:ext>
            </a:extLst>
          </p:cNvPr>
          <p:cNvCxnSpPr>
            <a:cxnSpLocks/>
          </p:cNvCxnSpPr>
          <p:nvPr/>
        </p:nvCxnSpPr>
        <p:spPr>
          <a:xfrm flipH="1" flipV="1">
            <a:off x="8406303" y="2314255"/>
            <a:ext cx="699833" cy="110525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9C3255-16E4-72C6-6F80-E66C64B77FA5}"/>
              </a:ext>
            </a:extLst>
          </p:cNvPr>
          <p:cNvSpPr txBox="1"/>
          <p:nvPr/>
        </p:nvSpPr>
        <p:spPr>
          <a:xfrm>
            <a:off x="9278302" y="33567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MF-SD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8F0819-FD4F-A3F8-916B-F91C5B3A62CA}"/>
              </a:ext>
            </a:extLst>
          </p:cNvPr>
          <p:cNvSpPr txBox="1"/>
          <p:nvPr/>
        </p:nvSpPr>
        <p:spPr>
          <a:xfrm>
            <a:off x="8420300" y="4452686"/>
            <a:ext cx="3580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en-US" b="1" dirty="0" err="1">
                <a:solidFill>
                  <a:srgbClr val="0000FF"/>
                </a:solidFill>
              </a:rPr>
              <a:t>schwartz_decoherence_inv_alpha</a:t>
            </a:r>
            <a:endParaRPr lang="en-US" b="1" dirty="0">
              <a:solidFill>
                <a:srgbClr val="0000FF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7405F1-F193-FAD6-03D1-EC301F08463A}"/>
              </a:ext>
            </a:extLst>
          </p:cNvPr>
          <p:cNvCxnSpPr>
            <a:cxnSpLocks/>
          </p:cNvCxnSpPr>
          <p:nvPr/>
        </p:nvCxnSpPr>
        <p:spPr>
          <a:xfrm flipH="1" flipV="1">
            <a:off x="7576632" y="2616353"/>
            <a:ext cx="998264" cy="288220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E0D50F-FD11-5CE9-5CB8-DA6995AB961B}"/>
              </a:ext>
            </a:extLst>
          </p:cNvPr>
          <p:cNvCxnSpPr>
            <a:cxnSpLocks/>
          </p:cNvCxnSpPr>
          <p:nvPr/>
        </p:nvCxnSpPr>
        <p:spPr>
          <a:xfrm flipV="1">
            <a:off x="10547696" y="4387010"/>
            <a:ext cx="158620" cy="39975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85D621-9526-0677-6222-C6DA1332C373}"/>
                  </a:ext>
                </a:extLst>
              </p:cNvPr>
              <p:cNvSpPr txBox="1"/>
              <p:nvPr/>
            </p:nvSpPr>
            <p:spPr>
              <a:xfrm>
                <a:off x="8358472" y="5388063"/>
                <a:ext cx="3590149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85D621-9526-0677-6222-C6DA1332C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72" y="5388063"/>
                <a:ext cx="3590149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007BAC5-DE03-953F-7F12-02F7ED6E9BF1}"/>
              </a:ext>
            </a:extLst>
          </p:cNvPr>
          <p:cNvSpPr txBox="1"/>
          <p:nvPr/>
        </p:nvSpPr>
        <p:spPr>
          <a:xfrm>
            <a:off x="7051174" y="6000795"/>
            <a:ext cx="511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stochastic pairwise decoherence (</a:t>
            </a:r>
            <a:r>
              <a:rPr lang="en-US" b="1" dirty="0"/>
              <a:t>ISPD</a:t>
            </a:r>
            <a:r>
              <a:rPr lang="en-US" dirty="0"/>
              <a:t>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370C79-60B9-598D-1657-BD2E3F82BF39}"/>
              </a:ext>
            </a:extLst>
          </p:cNvPr>
          <p:cNvCxnSpPr>
            <a:cxnSpLocks/>
          </p:cNvCxnSpPr>
          <p:nvPr/>
        </p:nvCxnSpPr>
        <p:spPr>
          <a:xfrm>
            <a:off x="10516230" y="5064817"/>
            <a:ext cx="0" cy="47364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573C0FE-82AB-ED81-3728-6DE99F0A0536}"/>
              </a:ext>
            </a:extLst>
          </p:cNvPr>
          <p:cNvSpPr txBox="1"/>
          <p:nvPr/>
        </p:nvSpPr>
        <p:spPr>
          <a:xfrm>
            <a:off x="7698103" y="6364448"/>
            <a:ext cx="4303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0000FF"/>
                </a:solidFill>
                <a:effectLst/>
              </a:rPr>
              <a:t>Esch</a:t>
            </a:r>
            <a:r>
              <a:rPr lang="en-US" sz="1400" dirty="0">
                <a:solidFill>
                  <a:srgbClr val="0000FF"/>
                </a:solidFill>
                <a:effectLst/>
              </a:rPr>
              <a:t>, M. P.; Levine, B. G.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JCP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2020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152</a:t>
            </a:r>
            <a:r>
              <a:rPr lang="en-US" sz="1400" dirty="0">
                <a:solidFill>
                  <a:srgbClr val="0000FF"/>
                </a:solidFill>
                <a:effectLst/>
              </a:rPr>
              <a:t>, 234105.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E8E9DB-0FF7-F3B4-6DC3-9258AACC8BDB}"/>
              </a:ext>
            </a:extLst>
          </p:cNvPr>
          <p:cNvSpPr txBox="1"/>
          <p:nvPr/>
        </p:nvSpPr>
        <p:spPr>
          <a:xfrm>
            <a:off x="9996622" y="3211866"/>
            <a:ext cx="20673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effectLst/>
              </a:rPr>
              <a:t>Bedard-Hearn, M. J.; Larsen, R. E.; Schwartz, B. J.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J</a:t>
            </a:r>
            <a:r>
              <a:rPr lang="en-US" sz="1400" i="1" dirty="0">
                <a:solidFill>
                  <a:srgbClr val="0000FF"/>
                </a:solidFill>
              </a:rPr>
              <a:t>CP</a:t>
            </a:r>
            <a:r>
              <a:rPr lang="en-US" sz="1400" dirty="0">
                <a:solidFill>
                  <a:srgbClr val="0000FF"/>
                </a:solidFill>
                <a:effectLst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2005</a:t>
            </a:r>
            <a:r>
              <a:rPr lang="en-US" sz="1400" dirty="0">
                <a:solidFill>
                  <a:srgbClr val="0000FF"/>
                </a:solidFill>
                <a:effectLst/>
              </a:rPr>
              <a:t>, </a:t>
            </a:r>
            <a:r>
              <a:rPr lang="en-US" sz="1400" i="1" dirty="0">
                <a:solidFill>
                  <a:srgbClr val="0000FF"/>
                </a:solidFill>
                <a:effectLst/>
              </a:rPr>
              <a:t>123</a:t>
            </a:r>
            <a:r>
              <a:rPr lang="en-US" sz="1400" dirty="0">
                <a:solidFill>
                  <a:srgbClr val="0000FF"/>
                </a:solidFill>
                <a:effectLst/>
              </a:rPr>
              <a:t>, 234106.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632052-FC9F-03DD-4E78-5C314EB43AD1}"/>
              </a:ext>
            </a:extLst>
          </p:cNvPr>
          <p:cNvSpPr txBox="1"/>
          <p:nvPr/>
        </p:nvSpPr>
        <p:spPr>
          <a:xfrm>
            <a:off x="3848286" y="22632"/>
            <a:ext cx="4216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Decoherence times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BF4A4-9835-6159-61E4-92B655BBC706}"/>
              </a:ext>
            </a:extLst>
          </p:cNvPr>
          <p:cNvSpPr txBox="1"/>
          <p:nvPr/>
        </p:nvSpPr>
        <p:spPr>
          <a:xfrm>
            <a:off x="3384275" y="552047"/>
            <a:ext cx="3185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decoherence_times_type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A216F-6106-11CC-33E8-A83999059D58}"/>
              </a:ext>
            </a:extLst>
          </p:cNvPr>
          <p:cNvSpPr txBox="1"/>
          <p:nvPr/>
        </p:nvSpPr>
        <p:spPr>
          <a:xfrm>
            <a:off x="227696" y="3826241"/>
            <a:ext cx="3232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dyn_control_params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decoherence_C_param</a:t>
            </a:r>
            <a:endParaRPr lang="en-US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 err="1">
                <a:solidFill>
                  <a:srgbClr val="0000FF"/>
                </a:solidFill>
              </a:rPr>
              <a:t>decoherence_eps_param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631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15A3-EF31-D7CF-AF30-449DB81C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A08A46-A4BF-21F8-4F02-5110E01F78CF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AF118ECA-1667-58C0-1342-B558E24EB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665CAEBE-28EC-12A1-73F4-E7ECD84EC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F14F7392-3B35-02C0-0018-AC58DD9B0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48511325-EAC3-E661-C551-B90352755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B1BE5AB-D868-C675-67A2-DCA437C0FA9C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6427BD-10B4-0CE4-6C34-935FD4E6041B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E73F85-43CE-96BC-DB89-2BF45CB2792F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39C863-8A96-FF59-78EF-C708DEE31EE2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4CCA5F-4435-1EFB-7F4D-3B65DF1A1B48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5C6224C-5D5E-103B-6D59-BD1F3AD20DD4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F39CF98F-90A9-16C0-4CF9-01E6EAEF5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BD2E538-DB9A-4C8F-2E7B-F9B56B77F07A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03DBF2E8-7755-0A85-0DEE-6025066DC9C0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4B648A7-0C0E-D568-0831-56DCB1A8C156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F47C8F40-6EFB-D72B-0023-56F5436CCA79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1C407D92-9046-1F0C-C91E-14B3B7BC6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388B4FEC-D885-B103-4F92-2F7D0C815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63415-31A4-D60C-C535-7EC824AEC8BC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C2CE25-90C2-06AE-6205-68B1FF677A50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30933D9E-F527-1BE1-2F54-6858AA613D21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63A6E7-A7EB-D12C-95BF-5312D1D31751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BBE042C-A4FE-DA1D-441D-A2D11A146765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A9FEEA67-B687-FC00-DE46-C28ABE876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F6D3D-F18C-00A2-0F3E-92B6713B2383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37833BCA-30A2-4D98-DEA3-A937288E342D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ADA4B480-D2AE-48AA-A506-EFBB883036D1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CED87251-C542-8C39-6B9C-BA9861EE018E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6A88487E-83C5-E100-5F70-175C6642B10B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CD88049-BE8D-72E8-C656-8723CE9462E8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8D275C43-941A-413D-5D7E-91F0B8E92BE3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5CE375-843C-FD41-0844-920EFE125B4C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34221-89C4-AEEF-257F-D8156A44FCB6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4.10: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Additional Options and Recipes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8C23DEB8-0716-98AA-7EC9-925CF2B5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99F3172-9EB6-F6D7-555B-238F9F8A10FC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A440E453-CCC1-FBEE-3D18-33A42621F071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CCFE3176-7EF1-C6A4-C8B8-D8698603C953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21F3B303-04E7-911C-F21C-BDE4BBE7E457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2756B40A-A2CE-037B-3A6B-F3942F154C74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EA70AFCF-CA61-DBF7-D11B-673BA9668BFC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67EF9A-0353-F771-9DE1-A2B428FB839D}"/>
              </a:ext>
            </a:extLst>
          </p:cNvPr>
          <p:cNvSpPr/>
          <p:nvPr/>
        </p:nvSpPr>
        <p:spPr>
          <a:xfrm>
            <a:off x="6303667" y="4289902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51F657-2624-16A6-F12B-A13E4CAE2001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3DE45-037D-6571-3632-BAC26BC677F0}"/>
              </a:ext>
            </a:extLst>
          </p:cNvPr>
          <p:cNvSpPr/>
          <p:nvPr/>
        </p:nvSpPr>
        <p:spPr>
          <a:xfrm>
            <a:off x="6315658" y="5137744"/>
            <a:ext cx="3754733" cy="6591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75001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ED4694-5C4E-E914-5D98-4DF3B42A49C1}"/>
              </a:ext>
            </a:extLst>
          </p:cNvPr>
          <p:cNvSpPr txBox="1"/>
          <p:nvPr/>
        </p:nvSpPr>
        <p:spPr>
          <a:xfrm>
            <a:off x="1714685" y="0"/>
            <a:ext cx="753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Other ways of computing Decoherence times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575A049A-4709-8738-7875-68EC3270D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ACC44-6E5C-20F4-662E-6744C6BC2E20}"/>
                  </a:ext>
                </a:extLst>
              </p:cNvPr>
              <p:cNvSpPr txBox="1"/>
              <p:nvPr/>
            </p:nvSpPr>
            <p:spPr>
              <a:xfrm>
                <a:off x="3128255" y="611778"/>
                <a:ext cx="2863476" cy="7358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𝑁𝐷𝑀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ACC44-6E5C-20F4-662E-6744C6BC2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55" y="611778"/>
                <a:ext cx="2863476" cy="7358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1A07205-0D06-410B-7979-093785633ABC}"/>
              </a:ext>
            </a:extLst>
          </p:cNvPr>
          <p:cNvSpPr txBox="1"/>
          <p:nvPr/>
        </p:nvSpPr>
        <p:spPr>
          <a:xfrm>
            <a:off x="6617093" y="795033"/>
            <a:ext cx="245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 decay of mixing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B1788-C265-6339-C990-ADABBADCC5B4}"/>
              </a:ext>
            </a:extLst>
          </p:cNvPr>
          <p:cNvSpPr txBox="1"/>
          <p:nvPr/>
        </p:nvSpPr>
        <p:spPr>
          <a:xfrm>
            <a:off x="239860" y="795033"/>
            <a:ext cx="2025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2001, Hack, </a:t>
            </a:r>
            <a:r>
              <a:rPr lang="en-US" b="1" dirty="0" err="1"/>
              <a:t>Truhlar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ADE27-4BB0-2ECA-01C2-0E219346B4B4}"/>
                  </a:ext>
                </a:extLst>
              </p:cNvPr>
              <p:cNvSpPr txBox="1"/>
              <p:nvPr/>
            </p:nvSpPr>
            <p:spPr>
              <a:xfrm>
                <a:off x="3054931" y="1161092"/>
                <a:ext cx="3488838" cy="735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𝑆𝐶𝐷𝑀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ADE27-4BB0-2ECA-01C2-0E219346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931" y="1161092"/>
                <a:ext cx="3488838" cy="7358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68037B6-ED2B-977C-FF90-E7B2ACB76226}"/>
              </a:ext>
            </a:extLst>
          </p:cNvPr>
          <p:cNvSpPr txBox="1"/>
          <p:nvPr/>
        </p:nvSpPr>
        <p:spPr>
          <a:xfrm>
            <a:off x="216131" y="1389236"/>
            <a:ext cx="2614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2004, Zhu, Jasper, </a:t>
            </a:r>
            <a:r>
              <a:rPr lang="en-US" b="1" dirty="0" err="1"/>
              <a:t>Truhlar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7B4C7-5A40-68EC-C321-487C90178A59}"/>
              </a:ext>
            </a:extLst>
          </p:cNvPr>
          <p:cNvSpPr txBox="1"/>
          <p:nvPr/>
        </p:nvSpPr>
        <p:spPr>
          <a:xfrm>
            <a:off x="6543769" y="1350922"/>
            <a:ext cx="3070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Self-consistent decay of mixing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2E6AD4-EE08-D991-07D8-537968AE933B}"/>
                  </a:ext>
                </a:extLst>
              </p:cNvPr>
              <p:cNvSpPr txBox="1"/>
              <p:nvPr/>
            </p:nvSpPr>
            <p:spPr>
              <a:xfrm>
                <a:off x="3085346" y="5909701"/>
                <a:ext cx="3070778" cy="742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𝑆𝐷𝑀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𝑘𝑖𝑛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2E6AD4-EE08-D991-07D8-537968AE9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346" y="5909701"/>
                <a:ext cx="3070778" cy="742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419BC5F-EF39-3E70-72BE-FCFEE1680138}"/>
              </a:ext>
            </a:extLst>
          </p:cNvPr>
          <p:cNvSpPr txBox="1"/>
          <p:nvPr/>
        </p:nvSpPr>
        <p:spPr>
          <a:xfrm>
            <a:off x="165628" y="6126269"/>
            <a:ext cx="239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2007, </a:t>
            </a:r>
            <a:r>
              <a:rPr lang="en-US" b="1" dirty="0" err="1"/>
              <a:t>Granucci</a:t>
            </a:r>
            <a:r>
              <a:rPr lang="en-US" b="1" dirty="0"/>
              <a:t>, Persico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2DEAF4-D962-FB44-ADE1-6467CE792539}"/>
                  </a:ext>
                </a:extLst>
              </p:cNvPr>
              <p:cNvSpPr txBox="1"/>
              <p:nvPr/>
            </p:nvSpPr>
            <p:spPr>
              <a:xfrm>
                <a:off x="3214000" y="2525696"/>
                <a:ext cx="4955458" cy="585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2DEAF4-D962-FB44-ADE1-6467CE792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000" y="2525696"/>
                <a:ext cx="4955458" cy="5852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FF015D9-FDB8-F398-E795-AE40BD944B7E}"/>
              </a:ext>
            </a:extLst>
          </p:cNvPr>
          <p:cNvSpPr txBox="1"/>
          <p:nvPr/>
        </p:nvSpPr>
        <p:spPr>
          <a:xfrm>
            <a:off x="209155" y="1998522"/>
            <a:ext cx="214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2005, Jasper, </a:t>
            </a:r>
            <a:r>
              <a:rPr lang="en-US" b="1" dirty="0" err="1"/>
              <a:t>Truhlar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8C430D-1ADE-E1CA-4A99-EF9CE1015EDE}"/>
                  </a:ext>
                </a:extLst>
              </p:cNvPr>
              <p:cNvSpPr txBox="1"/>
              <p:nvPr/>
            </p:nvSpPr>
            <p:spPr>
              <a:xfrm>
                <a:off x="3536925" y="3138056"/>
                <a:ext cx="5722969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sub>
                          </m:sSub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14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𝑭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b="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𝑭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b="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1400" b="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𝑷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8C430D-1ADE-E1CA-4A99-EF9CE1015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925" y="3138056"/>
                <a:ext cx="5722969" cy="728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C12C29-3FB6-1D02-124B-B2A9AC0B76DC}"/>
                  </a:ext>
                </a:extLst>
              </p:cNvPr>
              <p:cNvSpPr txBox="1"/>
              <p:nvPr/>
            </p:nvSpPr>
            <p:spPr>
              <a:xfrm>
                <a:off x="9233582" y="3309243"/>
                <a:ext cx="1534089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C12C29-3FB6-1D02-124B-B2A9AC0B7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582" y="3309243"/>
                <a:ext cx="1534089" cy="494238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B6BBEEC-E99A-12A8-69A4-8CB15BA87340}"/>
              </a:ext>
            </a:extLst>
          </p:cNvPr>
          <p:cNvSpPr txBox="1"/>
          <p:nvPr/>
        </p:nvSpPr>
        <p:spPr>
          <a:xfrm>
            <a:off x="209155" y="3371696"/>
            <a:ext cx="332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 GWP center motion, etc.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3B614E-8423-CD48-5F4D-D8616383E9B9}"/>
                  </a:ext>
                </a:extLst>
              </p:cNvPr>
              <p:cNvSpPr txBox="1"/>
              <p:nvPr/>
            </p:nvSpPr>
            <p:spPr>
              <a:xfrm>
                <a:off x="4411195" y="3984646"/>
                <a:ext cx="3161071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𝑇𝑟𝑢h𝑙𝑎𝑟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</m:acc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3B614E-8423-CD48-5F4D-D8616383E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195" y="3984646"/>
                <a:ext cx="3161071" cy="7288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5CCE0A-B0CB-AAEF-8877-F29FEB6A5F6F}"/>
              </a:ext>
            </a:extLst>
          </p:cNvPr>
          <p:cNvSpPr txBox="1"/>
          <p:nvPr/>
        </p:nvSpPr>
        <p:spPr>
          <a:xfrm>
            <a:off x="2297972" y="4120574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4A5CA3-E7A2-4CC8-5987-915E88AA8D69}"/>
                  </a:ext>
                </a:extLst>
              </p:cNvPr>
              <p:cNvSpPr txBox="1"/>
              <p:nvPr/>
            </p:nvSpPr>
            <p:spPr>
              <a:xfrm>
                <a:off x="3054931" y="1960766"/>
                <a:ext cx="3488838" cy="580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4A5CA3-E7A2-4CC8-5987-915E88AA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931" y="1960766"/>
                <a:ext cx="3488838" cy="580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B55921-8270-7D54-EA34-1DC398C342AE}"/>
                  </a:ext>
                </a:extLst>
              </p:cNvPr>
              <p:cNvSpPr txBox="1"/>
              <p:nvPr/>
            </p:nvSpPr>
            <p:spPr>
              <a:xfrm>
                <a:off x="7019990" y="2139728"/>
                <a:ext cx="194959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B55921-8270-7D54-EA34-1DC398C34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990" y="2139728"/>
                <a:ext cx="1949593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Arrow: Down 36">
            <a:extLst>
              <a:ext uri="{FF2B5EF4-FFF2-40B4-BE49-F238E27FC236}">
                <a16:creationId xmlns:a16="http://schemas.microsoft.com/office/drawing/2014/main" id="{05CF37AC-67DD-DE1B-9DB5-C104A9332A23}"/>
              </a:ext>
            </a:extLst>
          </p:cNvPr>
          <p:cNvSpPr/>
          <p:nvPr/>
        </p:nvSpPr>
        <p:spPr>
          <a:xfrm rot="16200000">
            <a:off x="6648453" y="2009027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E7C3F40E-EE85-F28A-ED64-FB7EE633F7C7}"/>
              </a:ext>
            </a:extLst>
          </p:cNvPr>
          <p:cNvSpPr/>
          <p:nvPr/>
        </p:nvSpPr>
        <p:spPr>
          <a:xfrm rot="16200000">
            <a:off x="9074931" y="2009026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3728F0-A07A-64A5-8CE8-03BD29A4625E}"/>
                  </a:ext>
                </a:extLst>
              </p:cNvPr>
              <p:cNvSpPr txBox="1"/>
              <p:nvPr/>
            </p:nvSpPr>
            <p:spPr>
              <a:xfrm>
                <a:off x="9687870" y="2134940"/>
                <a:ext cx="1582994" cy="315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93728F0-A07A-64A5-8CE8-03BD29A46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870" y="2134940"/>
                <a:ext cx="1582994" cy="3159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Down 40">
            <a:extLst>
              <a:ext uri="{FF2B5EF4-FFF2-40B4-BE49-F238E27FC236}">
                <a16:creationId xmlns:a16="http://schemas.microsoft.com/office/drawing/2014/main" id="{10C5D038-57D7-2151-69DE-81254A5FC7A5}"/>
              </a:ext>
            </a:extLst>
          </p:cNvPr>
          <p:cNvSpPr/>
          <p:nvPr/>
        </p:nvSpPr>
        <p:spPr>
          <a:xfrm rot="16200000">
            <a:off x="11442284" y="2033406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3833CD9D-F038-2228-39C4-1B7FAF7EA8D1}"/>
              </a:ext>
            </a:extLst>
          </p:cNvPr>
          <p:cNvSpPr/>
          <p:nvPr/>
        </p:nvSpPr>
        <p:spPr>
          <a:xfrm rot="16200000">
            <a:off x="2346265" y="2667220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2C7BF0D8-B52E-3C85-E00A-65F4A2C8F5F5}"/>
              </a:ext>
            </a:extLst>
          </p:cNvPr>
          <p:cNvSpPr/>
          <p:nvPr/>
        </p:nvSpPr>
        <p:spPr>
          <a:xfrm rot="18806268">
            <a:off x="3299285" y="3042391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74F0744-0C94-63A7-BB50-A920128FCF54}"/>
              </a:ext>
            </a:extLst>
          </p:cNvPr>
          <p:cNvSpPr/>
          <p:nvPr/>
        </p:nvSpPr>
        <p:spPr>
          <a:xfrm rot="18806268">
            <a:off x="3998182" y="3794577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6C4A04-6999-8361-24DB-653E3F65045F}"/>
              </a:ext>
            </a:extLst>
          </p:cNvPr>
          <p:cNvSpPr txBox="1"/>
          <p:nvPr/>
        </p:nvSpPr>
        <p:spPr>
          <a:xfrm>
            <a:off x="6711925" y="6113978"/>
            <a:ext cx="263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Simplified decay of mixing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6860D0-8057-011C-3120-97954235DB8C}"/>
              </a:ext>
            </a:extLst>
          </p:cNvPr>
          <p:cNvSpPr txBox="1"/>
          <p:nvPr/>
        </p:nvSpPr>
        <p:spPr>
          <a:xfrm>
            <a:off x="5835850" y="5486796"/>
            <a:ext cx="6267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Larsen, R.E., Bedard-Hearn, M.J., Schwartz, B.J., </a:t>
            </a:r>
            <a:r>
              <a:rPr lang="en-US" sz="1400" b="1" dirty="0">
                <a:solidFill>
                  <a:srgbClr val="0000FF"/>
                </a:solidFill>
              </a:rPr>
              <a:t>2006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JPCB</a:t>
            </a:r>
            <a:r>
              <a:rPr lang="en-US" sz="1400" dirty="0">
                <a:solidFill>
                  <a:srgbClr val="0000FF"/>
                </a:solidFill>
              </a:rPr>
              <a:t> 110, 20055.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679815-AA7B-B828-0151-E6A7E51C26A6}"/>
              </a:ext>
            </a:extLst>
          </p:cNvPr>
          <p:cNvSpPr txBox="1"/>
          <p:nvPr/>
        </p:nvSpPr>
        <p:spPr>
          <a:xfrm>
            <a:off x="192832" y="4922780"/>
            <a:ext cx="386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2006,  Larsen, Bedard-Hearn, Schwartz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AE904B2-1E72-426F-7B5E-EAD75873BAC6}"/>
                  </a:ext>
                </a:extLst>
              </p:cNvPr>
              <p:cNvSpPr txBox="1"/>
              <p:nvPr/>
            </p:nvSpPr>
            <p:spPr>
              <a:xfrm>
                <a:off x="4472068" y="4827192"/>
                <a:ext cx="3525758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𝐵𝐿𝑆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𝑴𝑭</m:t>
                                      </m:r>
                                    </m:sup>
                                  </m:s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𝑴𝑭</m:t>
                                  </m:r>
                                </m:sup>
                              </m:sSup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AE904B2-1E72-426F-7B5E-EAD75873B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8" y="4827192"/>
                <a:ext cx="3525758" cy="7288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E138F095-43ED-189D-F83D-68FD35C4EB38}"/>
              </a:ext>
            </a:extLst>
          </p:cNvPr>
          <p:cNvSpPr txBox="1"/>
          <p:nvPr/>
        </p:nvSpPr>
        <p:spPr>
          <a:xfrm>
            <a:off x="7837411" y="1049909"/>
            <a:ext cx="4326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Hack, M.D., </a:t>
            </a:r>
            <a:r>
              <a:rPr lang="en-US" sz="1400" dirty="0" err="1">
                <a:solidFill>
                  <a:srgbClr val="0000FF"/>
                </a:solidFill>
              </a:rPr>
              <a:t>Truhlar</a:t>
            </a:r>
            <a:r>
              <a:rPr lang="en-US" sz="1400" dirty="0">
                <a:solidFill>
                  <a:srgbClr val="0000FF"/>
                </a:solidFill>
              </a:rPr>
              <a:t>, D.G., </a:t>
            </a:r>
            <a:r>
              <a:rPr lang="en-US" sz="1400" b="1" dirty="0">
                <a:solidFill>
                  <a:srgbClr val="0000FF"/>
                </a:solidFill>
              </a:rPr>
              <a:t>2001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114, 9305.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3F52D-1064-8961-DABB-D34A8D02B455}"/>
              </a:ext>
            </a:extLst>
          </p:cNvPr>
          <p:cNvSpPr txBox="1"/>
          <p:nvPr/>
        </p:nvSpPr>
        <p:spPr>
          <a:xfrm>
            <a:off x="7161509" y="1599034"/>
            <a:ext cx="5002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Zhu, C., Jasper, A.W., </a:t>
            </a:r>
            <a:r>
              <a:rPr lang="en-US" sz="1400" dirty="0" err="1">
                <a:solidFill>
                  <a:srgbClr val="0000FF"/>
                </a:solidFill>
              </a:rPr>
              <a:t>Truhlar</a:t>
            </a:r>
            <a:r>
              <a:rPr lang="en-US" sz="1400" dirty="0">
                <a:solidFill>
                  <a:srgbClr val="0000FF"/>
                </a:solidFill>
              </a:rPr>
              <a:t>, D.G., </a:t>
            </a:r>
            <a:r>
              <a:rPr lang="en-US" sz="1400" b="1" dirty="0">
                <a:solidFill>
                  <a:srgbClr val="0000FF"/>
                </a:solidFill>
              </a:rPr>
              <a:t>2004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120, 5543.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405251-7463-8829-CCEC-2158038425B2}"/>
              </a:ext>
            </a:extLst>
          </p:cNvPr>
          <p:cNvSpPr txBox="1"/>
          <p:nvPr/>
        </p:nvSpPr>
        <p:spPr>
          <a:xfrm>
            <a:off x="7062303" y="6443850"/>
            <a:ext cx="4538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Granucci</a:t>
            </a:r>
            <a:r>
              <a:rPr lang="en-US" sz="1400" dirty="0">
                <a:solidFill>
                  <a:srgbClr val="0000FF"/>
                </a:solidFill>
              </a:rPr>
              <a:t>, G., Persico, M., </a:t>
            </a:r>
            <a:r>
              <a:rPr lang="en-US" sz="1400" b="1" dirty="0">
                <a:solidFill>
                  <a:srgbClr val="0000FF"/>
                </a:solidFill>
              </a:rPr>
              <a:t>2007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, 126, 134114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CD594A-75EB-F7DE-6F54-FB4E6B613310}"/>
              </a:ext>
            </a:extLst>
          </p:cNvPr>
          <p:cNvSpPr txBox="1"/>
          <p:nvPr/>
        </p:nvSpPr>
        <p:spPr>
          <a:xfrm>
            <a:off x="7362423" y="3839854"/>
            <a:ext cx="45833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Jasper, A.W., </a:t>
            </a:r>
            <a:r>
              <a:rPr lang="en-US" sz="1400" dirty="0" err="1">
                <a:solidFill>
                  <a:srgbClr val="0000FF"/>
                </a:solidFill>
              </a:rPr>
              <a:t>Truhlar</a:t>
            </a:r>
            <a:r>
              <a:rPr lang="en-US" sz="1400" dirty="0">
                <a:solidFill>
                  <a:srgbClr val="0000FF"/>
                </a:solidFill>
              </a:rPr>
              <a:t>, D.G., </a:t>
            </a:r>
            <a:r>
              <a:rPr lang="en-US" sz="1400" b="1" dirty="0">
                <a:solidFill>
                  <a:srgbClr val="0000FF"/>
                </a:solidFill>
              </a:rPr>
              <a:t>2005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123, 064103</a:t>
            </a:r>
          </a:p>
        </p:txBody>
      </p:sp>
    </p:spTree>
    <p:extLst>
      <p:ext uri="{BB962C8B-B14F-4D97-AF65-F5344CB8AC3E}">
        <p14:creationId xmlns:p14="http://schemas.microsoft.com/office/powerpoint/2010/main" val="35906955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545CF4-F6D0-A157-170B-656C00BEE6C6}"/>
                  </a:ext>
                </a:extLst>
              </p:cNvPr>
              <p:cNvSpPr txBox="1"/>
              <p:nvPr/>
            </p:nvSpPr>
            <p:spPr>
              <a:xfrm>
                <a:off x="6880611" y="2944502"/>
                <a:ext cx="4484498" cy="777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𝑆𝑆𝑌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545CF4-F6D0-A157-170B-656C00BEE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611" y="2944502"/>
                <a:ext cx="4484498" cy="777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9D38B3-B81E-0BD8-1116-DEC64807A11A}"/>
              </a:ext>
            </a:extLst>
          </p:cNvPr>
          <p:cNvSpPr txBox="1"/>
          <p:nvPr/>
        </p:nvSpPr>
        <p:spPr>
          <a:xfrm>
            <a:off x="1714685" y="0"/>
            <a:ext cx="753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Other ways of computing Decoherence times</a:t>
            </a:r>
          </a:p>
        </p:txBody>
      </p:sp>
      <p:pic>
        <p:nvPicPr>
          <p:cNvPr id="6" name="Picture 7" descr="Image result for ub logo">
            <a:extLst>
              <a:ext uri="{FF2B5EF4-FFF2-40B4-BE49-F238E27FC236}">
                <a16:creationId xmlns:a16="http://schemas.microsoft.com/office/drawing/2014/main" id="{BFAD58FD-12D8-A524-EDE0-585466CFE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A314D-9F20-4EFD-4269-B969848BBF85}"/>
              </a:ext>
            </a:extLst>
          </p:cNvPr>
          <p:cNvSpPr txBox="1"/>
          <p:nvPr/>
        </p:nvSpPr>
        <p:spPr>
          <a:xfrm>
            <a:off x="290513" y="2048732"/>
            <a:ext cx="403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2011, </a:t>
            </a:r>
            <a:r>
              <a:rPr lang="en-US" b="1" dirty="0" err="1"/>
              <a:t>Shenvi</a:t>
            </a:r>
            <a:r>
              <a:rPr lang="en-US" b="1" dirty="0"/>
              <a:t>, </a:t>
            </a:r>
            <a:r>
              <a:rPr lang="en-US" b="1" dirty="0" err="1"/>
              <a:t>Subotnik</a:t>
            </a:r>
            <a:r>
              <a:rPr lang="en-US" b="1" dirty="0"/>
              <a:t>, Yang</a:t>
            </a:r>
          </a:p>
          <a:p>
            <a:r>
              <a:rPr lang="en-US" dirty="0"/>
              <a:t>Exclude the momentum difference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674813-87B8-C5D8-780A-9B159E717EE5}"/>
                  </a:ext>
                </a:extLst>
              </p:cNvPr>
              <p:cNvSpPr txBox="1"/>
              <p:nvPr/>
            </p:nvSpPr>
            <p:spPr>
              <a:xfrm>
                <a:off x="3716592" y="1775389"/>
                <a:ext cx="4011561" cy="632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674813-87B8-C5D8-780A-9B159E717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592" y="1775389"/>
                <a:ext cx="4011561" cy="632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F3A49A-218B-BEED-E163-E31E006E0664}"/>
                  </a:ext>
                </a:extLst>
              </p:cNvPr>
              <p:cNvSpPr txBox="1"/>
              <p:nvPr/>
            </p:nvSpPr>
            <p:spPr>
              <a:xfrm>
                <a:off x="5926737" y="2295320"/>
                <a:ext cx="4159045" cy="686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sz="1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2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2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2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2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2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sz="12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F3A49A-218B-BEED-E163-E31E006E0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737" y="2295320"/>
                <a:ext cx="4159045" cy="6868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679E4DC7-E7FD-D650-324F-509B24193DEA}"/>
              </a:ext>
            </a:extLst>
          </p:cNvPr>
          <p:cNvSpPr/>
          <p:nvPr/>
        </p:nvSpPr>
        <p:spPr>
          <a:xfrm rot="18438659">
            <a:off x="5457916" y="2194971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D6F4106-B15B-61C1-D284-281CB22AC620}"/>
              </a:ext>
            </a:extLst>
          </p:cNvPr>
          <p:cNvSpPr/>
          <p:nvPr/>
        </p:nvSpPr>
        <p:spPr>
          <a:xfrm rot="18438659">
            <a:off x="6721959" y="2891912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303735-8E16-A9DF-1A88-A9A2A5FF9AE4}"/>
                  </a:ext>
                </a:extLst>
              </p:cNvPr>
              <p:cNvSpPr txBox="1"/>
              <p:nvPr/>
            </p:nvSpPr>
            <p:spPr>
              <a:xfrm>
                <a:off x="3229589" y="885130"/>
                <a:ext cx="3488838" cy="735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𝑆𝐶𝐷𝑀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303735-8E16-A9DF-1A88-A9A2A5FF9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589" y="885130"/>
                <a:ext cx="3488838" cy="7358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CA497A7-A285-4F10-CF50-CC8BBB26536E}"/>
              </a:ext>
            </a:extLst>
          </p:cNvPr>
          <p:cNvSpPr txBox="1"/>
          <p:nvPr/>
        </p:nvSpPr>
        <p:spPr>
          <a:xfrm>
            <a:off x="376754" y="1127153"/>
            <a:ext cx="2720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2008, Cheng, </a:t>
            </a:r>
            <a:r>
              <a:rPr lang="en-US" b="1" dirty="0" err="1"/>
              <a:t>Truhlar</a:t>
            </a:r>
            <a:r>
              <a:rPr lang="en-US" b="1" dirty="0"/>
              <a:t>, et al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A0BD6F-77A1-BDE9-3A70-B29D4ED20769}"/>
              </a:ext>
            </a:extLst>
          </p:cNvPr>
          <p:cNvSpPr txBox="1"/>
          <p:nvPr/>
        </p:nvSpPr>
        <p:spPr>
          <a:xfrm>
            <a:off x="6850389" y="1068385"/>
            <a:ext cx="4384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2-parameters self-consistent decay of mixing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02CBD-AAA9-DEF9-347B-4CB7FF7E7520}"/>
              </a:ext>
            </a:extLst>
          </p:cNvPr>
          <p:cNvSpPr txBox="1"/>
          <p:nvPr/>
        </p:nvSpPr>
        <p:spPr>
          <a:xfrm>
            <a:off x="5148538" y="1480128"/>
            <a:ext cx="6816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Cheng, S.C., Zhu, C., Liang, K.K., Lin, S.H., </a:t>
            </a:r>
            <a:r>
              <a:rPr lang="en-US" sz="1400" dirty="0" err="1">
                <a:solidFill>
                  <a:srgbClr val="0000FF"/>
                </a:solidFill>
              </a:rPr>
              <a:t>Truhlar</a:t>
            </a:r>
            <a:r>
              <a:rPr lang="en-US" sz="1400" dirty="0">
                <a:solidFill>
                  <a:srgbClr val="0000FF"/>
                </a:solidFill>
              </a:rPr>
              <a:t>, D.G., </a:t>
            </a:r>
            <a:r>
              <a:rPr lang="en-US" sz="1400" b="1" dirty="0">
                <a:solidFill>
                  <a:srgbClr val="0000FF"/>
                </a:solidFill>
              </a:rPr>
              <a:t>2008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129. 024112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BD81A-F75D-1416-340F-0DF11BAA5CD2}"/>
              </a:ext>
            </a:extLst>
          </p:cNvPr>
          <p:cNvSpPr txBox="1"/>
          <p:nvPr/>
        </p:nvSpPr>
        <p:spPr>
          <a:xfrm>
            <a:off x="235019" y="2842406"/>
            <a:ext cx="5258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Shenvi</a:t>
            </a:r>
            <a:r>
              <a:rPr lang="en-US" sz="1400" dirty="0">
                <a:solidFill>
                  <a:srgbClr val="0000FF"/>
                </a:solidFill>
              </a:rPr>
              <a:t>, N., </a:t>
            </a:r>
            <a:r>
              <a:rPr lang="en-US" sz="1400" dirty="0" err="1">
                <a:solidFill>
                  <a:srgbClr val="0000FF"/>
                </a:solidFill>
              </a:rPr>
              <a:t>Subotnik</a:t>
            </a:r>
            <a:r>
              <a:rPr lang="en-US" sz="1400" dirty="0">
                <a:solidFill>
                  <a:srgbClr val="0000FF"/>
                </a:solidFill>
              </a:rPr>
              <a:t>, J.E., Yang, W., </a:t>
            </a:r>
            <a:r>
              <a:rPr lang="en-US" sz="1400" b="1" dirty="0">
                <a:solidFill>
                  <a:srgbClr val="0000FF"/>
                </a:solidFill>
              </a:rPr>
              <a:t>2011</a:t>
            </a:r>
            <a:r>
              <a:rPr lang="en-US" sz="1400" dirty="0">
                <a:solidFill>
                  <a:srgbClr val="0000FF"/>
                </a:solidFill>
              </a:rPr>
              <a:t>,</a:t>
            </a:r>
            <a:r>
              <a:rPr lang="en-US" sz="1400" i="1" dirty="0">
                <a:solidFill>
                  <a:srgbClr val="0000FF"/>
                </a:solidFill>
              </a:rPr>
              <a:t> JCP</a:t>
            </a:r>
            <a:r>
              <a:rPr lang="en-US" sz="1400" dirty="0">
                <a:solidFill>
                  <a:srgbClr val="0000FF"/>
                </a:solidFill>
              </a:rPr>
              <a:t> 134. 144102.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793EA4-541B-5CE6-8B5A-A4D0FFE51A1B}"/>
              </a:ext>
            </a:extLst>
          </p:cNvPr>
          <p:cNvSpPr txBox="1"/>
          <p:nvPr/>
        </p:nvSpPr>
        <p:spPr>
          <a:xfrm>
            <a:off x="312893" y="5060613"/>
            <a:ext cx="2204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2017, Gu and Franco</a:t>
            </a:r>
          </a:p>
          <a:p>
            <a:r>
              <a:rPr lang="en-US" dirty="0"/>
              <a:t>As a purity decay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30CFF8-450B-BF4A-ADC3-8C6F14985A4B}"/>
                  </a:ext>
                </a:extLst>
              </p:cNvPr>
              <p:cNvSpPr txBox="1"/>
              <p:nvPr/>
            </p:nvSpPr>
            <p:spPr>
              <a:xfrm>
                <a:off x="6096839" y="4947083"/>
                <a:ext cx="2669421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30CFF8-450B-BF4A-ADC3-8C6F14985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839" y="4947083"/>
                <a:ext cx="2669421" cy="5930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Down 29">
            <a:extLst>
              <a:ext uri="{FF2B5EF4-FFF2-40B4-BE49-F238E27FC236}">
                <a16:creationId xmlns:a16="http://schemas.microsoft.com/office/drawing/2014/main" id="{26AF5D23-60A3-0382-BACB-FC57A7FD989E}"/>
              </a:ext>
            </a:extLst>
          </p:cNvPr>
          <p:cNvSpPr/>
          <p:nvPr/>
        </p:nvSpPr>
        <p:spPr>
          <a:xfrm rot="16200000">
            <a:off x="5562632" y="4954730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33A9EA-3772-D5F7-189F-16686448C61C}"/>
                  </a:ext>
                </a:extLst>
              </p:cNvPr>
              <p:cNvSpPr txBox="1"/>
              <p:nvPr/>
            </p:nvSpPr>
            <p:spPr>
              <a:xfrm>
                <a:off x="3102728" y="4979650"/>
                <a:ext cx="2385661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⟩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33A9EA-3772-D5F7-189F-16686448C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728" y="4979650"/>
                <a:ext cx="2385661" cy="490647"/>
              </a:xfrm>
              <a:prstGeom prst="rect">
                <a:avLst/>
              </a:prstGeom>
              <a:blipFill>
                <a:blip r:embed="rId8"/>
                <a:stretch>
                  <a:fillRect t="-156250" r="-25320" b="-22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Down 32">
            <a:extLst>
              <a:ext uri="{FF2B5EF4-FFF2-40B4-BE49-F238E27FC236}">
                <a16:creationId xmlns:a16="http://schemas.microsoft.com/office/drawing/2014/main" id="{D337B2F6-23BB-ECFA-891B-7FE5C3DA27AD}"/>
              </a:ext>
            </a:extLst>
          </p:cNvPr>
          <p:cNvSpPr/>
          <p:nvPr/>
        </p:nvSpPr>
        <p:spPr>
          <a:xfrm rot="16200000">
            <a:off x="8939692" y="5324969"/>
            <a:ext cx="317303" cy="5678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C08871-1A5C-EEC1-64F9-220E386D5233}"/>
                  </a:ext>
                </a:extLst>
              </p:cNvPr>
              <p:cNvSpPr txBox="1"/>
              <p:nvPr/>
            </p:nvSpPr>
            <p:spPr>
              <a:xfrm>
                <a:off x="4628159" y="5678479"/>
                <a:ext cx="1858297" cy="317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𝑆𝐵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C08871-1A5C-EEC1-64F9-220E386D5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159" y="5678479"/>
                <a:ext cx="1858297" cy="317304"/>
              </a:xfrm>
              <a:prstGeom prst="rect">
                <a:avLst/>
              </a:prstGeom>
              <a:blipFill>
                <a:blip r:embed="rId9"/>
                <a:stretch>
                  <a:fillRect t="-1923" r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90085BA-5D12-9A3D-3340-CB43D6BA6319}"/>
                  </a:ext>
                </a:extLst>
              </p:cNvPr>
              <p:cNvSpPr txBox="1"/>
              <p:nvPr/>
            </p:nvSpPr>
            <p:spPr>
              <a:xfrm>
                <a:off x="6567665" y="5598771"/>
                <a:ext cx="1858297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𝑆𝐵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⨂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90085BA-5D12-9A3D-3340-CB43D6BA6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665" y="5598771"/>
                <a:ext cx="1858297" cy="490647"/>
              </a:xfrm>
              <a:prstGeom prst="rect">
                <a:avLst/>
              </a:prstGeom>
              <a:blipFill>
                <a:blip r:embed="rId10"/>
                <a:stretch>
                  <a:fillRect t="-154321" r="-24590" b="-2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9FA1A81-8CDB-4F0C-B7F1-95E287C6F470}"/>
                  </a:ext>
                </a:extLst>
              </p:cNvPr>
              <p:cNvSpPr txBox="1"/>
              <p:nvPr/>
            </p:nvSpPr>
            <p:spPr>
              <a:xfrm>
                <a:off x="9382250" y="4968031"/>
                <a:ext cx="2770110" cy="769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𝑎𝑏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𝑎𝑏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𝑎𝑏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9FA1A81-8CDB-4F0C-B7F1-95E287C6F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250" y="4968031"/>
                <a:ext cx="2770110" cy="769250"/>
              </a:xfrm>
              <a:prstGeom prst="rect">
                <a:avLst/>
              </a:prstGeom>
              <a:blipFill>
                <a:blip r:embed="rId11"/>
                <a:stretch>
                  <a:fillRect b="-5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CC5ADE-439E-AB48-E3CC-03A5B14313AD}"/>
                  </a:ext>
                </a:extLst>
              </p:cNvPr>
              <p:cNvSpPr txBox="1"/>
              <p:nvPr/>
            </p:nvSpPr>
            <p:spPr>
              <a:xfrm>
                <a:off x="9122860" y="5690573"/>
                <a:ext cx="3288890" cy="317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〈"/>
                          <m:endChr m:val="〉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CC5ADE-439E-AB48-E3CC-03A5B1431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860" y="5690573"/>
                <a:ext cx="3288890" cy="317138"/>
              </a:xfrm>
              <a:prstGeom prst="rect">
                <a:avLst/>
              </a:prstGeom>
              <a:blipFill>
                <a:blip r:embed="rId1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256C332-4D8B-AAD1-14A3-9BC920342E76}"/>
                  </a:ext>
                </a:extLst>
              </p:cNvPr>
              <p:cNvSpPr txBox="1"/>
              <p:nvPr/>
            </p:nvSpPr>
            <p:spPr>
              <a:xfrm>
                <a:off x="5820697" y="6169327"/>
                <a:ext cx="2265404" cy="591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𝑑𝑒𝑝h</m:t>
                              </m:r>
                            </m:sup>
                          </m:s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256C332-4D8B-AAD1-14A3-9BC920342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697" y="6169327"/>
                <a:ext cx="2265404" cy="5917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70E3EB04-5455-2B19-5A0E-6D4E42BD5CF2}"/>
              </a:ext>
            </a:extLst>
          </p:cNvPr>
          <p:cNvSpPr txBox="1"/>
          <p:nvPr/>
        </p:nvSpPr>
        <p:spPr>
          <a:xfrm>
            <a:off x="1351613" y="6154981"/>
            <a:ext cx="4085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2-level system with constant diabatic coupling = pure dephasing limit: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36833-D6CC-3084-93E1-E6359E343A83}"/>
                  </a:ext>
                </a:extLst>
              </p:cNvPr>
              <p:cNvSpPr txBox="1"/>
              <p:nvPr/>
            </p:nvSpPr>
            <p:spPr>
              <a:xfrm>
                <a:off x="3097627" y="3804402"/>
                <a:ext cx="2295524" cy="557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𝐷𝐼𝑆𝐻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𝑑𝑒𝑝h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036833-D6CC-3084-93E1-E6359E343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627" y="3804402"/>
                <a:ext cx="2295524" cy="557140"/>
              </a:xfrm>
              <a:prstGeom prst="rect">
                <a:avLst/>
              </a:prstGeom>
              <a:blipFill>
                <a:blip r:embed="rId14"/>
                <a:stretch>
                  <a:fillRect t="-130769" r="-4775" b="-193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F0795371-CD8C-AC66-38E5-218B97D790AB}"/>
              </a:ext>
            </a:extLst>
          </p:cNvPr>
          <p:cNvSpPr txBox="1"/>
          <p:nvPr/>
        </p:nvSpPr>
        <p:spPr>
          <a:xfrm>
            <a:off x="235019" y="4496658"/>
            <a:ext cx="55856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Jaeger, H.M., Fischer, S.,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O.V., </a:t>
            </a:r>
            <a:r>
              <a:rPr lang="en-US" sz="1400" b="1" dirty="0">
                <a:solidFill>
                  <a:srgbClr val="0000FF"/>
                </a:solidFill>
              </a:rPr>
              <a:t>2012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137. 22A545.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453AC-1008-012D-5216-D2E9654A2060}"/>
              </a:ext>
            </a:extLst>
          </p:cNvPr>
          <p:cNvSpPr txBox="1"/>
          <p:nvPr/>
        </p:nvSpPr>
        <p:spPr>
          <a:xfrm>
            <a:off x="312893" y="3685959"/>
            <a:ext cx="2916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2012, Jaeger, Fisher, </a:t>
            </a:r>
            <a:r>
              <a:rPr lang="en-US" b="1" dirty="0" err="1"/>
              <a:t>Prezhdo</a:t>
            </a:r>
            <a:endParaRPr lang="en-US" b="1" dirty="0"/>
          </a:p>
          <a:p>
            <a:r>
              <a:rPr lang="en-US" b="1" dirty="0"/>
              <a:t>DISH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387A85-5CFA-197B-977A-65D2183F1156}"/>
                  </a:ext>
                </a:extLst>
              </p:cNvPr>
              <p:cNvSpPr txBox="1"/>
              <p:nvPr/>
            </p:nvSpPr>
            <p:spPr>
              <a:xfrm>
                <a:off x="5793502" y="3856977"/>
                <a:ext cx="2010697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𝑑𝑒𝑝h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387A85-5CFA-197B-977A-65D2183F1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502" y="3856977"/>
                <a:ext cx="2010697" cy="7288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4B2E76F0-0892-219E-882F-C78403E053F8}"/>
              </a:ext>
            </a:extLst>
          </p:cNvPr>
          <p:cNvSpPr txBox="1"/>
          <p:nvPr/>
        </p:nvSpPr>
        <p:spPr>
          <a:xfrm>
            <a:off x="5754173" y="4503697"/>
            <a:ext cx="4783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Akimov, A.V.,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O.V., </a:t>
            </a:r>
            <a:r>
              <a:rPr lang="en-US" sz="1400" b="1" dirty="0">
                <a:solidFill>
                  <a:srgbClr val="0000FF"/>
                </a:solidFill>
              </a:rPr>
              <a:t>2013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JPCL</a:t>
            </a:r>
            <a:r>
              <a:rPr lang="en-US" sz="1400" dirty="0">
                <a:solidFill>
                  <a:srgbClr val="0000FF"/>
                </a:solidFill>
              </a:rPr>
              <a:t> 4, 3857.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EAC010-E6F9-FF67-4EE7-E0E5B2C92B20}"/>
              </a:ext>
            </a:extLst>
          </p:cNvPr>
          <p:cNvSpPr txBox="1"/>
          <p:nvPr/>
        </p:nvSpPr>
        <p:spPr>
          <a:xfrm>
            <a:off x="5795934" y="3601241"/>
            <a:ext cx="231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2013,Akimov, </a:t>
            </a:r>
            <a:r>
              <a:rPr lang="en-US" b="1" dirty="0" err="1"/>
              <a:t>Prezhdo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A0741EB-84C8-5F1A-374B-56F981B469E5}"/>
                  </a:ext>
                </a:extLst>
              </p:cNvPr>
              <p:cNvSpPr txBox="1"/>
              <p:nvPr/>
            </p:nvSpPr>
            <p:spPr>
              <a:xfrm>
                <a:off x="9545707" y="3817428"/>
                <a:ext cx="2872014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𝐷𝐼𝑆𝐻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A0741EB-84C8-5F1A-374B-56F981B46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707" y="3817428"/>
                <a:ext cx="2872014" cy="7288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4F29A910-232A-A019-7BF4-F46AE5806FFA}"/>
              </a:ext>
            </a:extLst>
          </p:cNvPr>
          <p:cNvSpPr txBox="1"/>
          <p:nvPr/>
        </p:nvSpPr>
        <p:spPr>
          <a:xfrm>
            <a:off x="9252154" y="401587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B7576-A4ED-6A68-BF42-7EA29CC36E85}"/>
              </a:ext>
            </a:extLst>
          </p:cNvPr>
          <p:cNvSpPr txBox="1"/>
          <p:nvPr/>
        </p:nvSpPr>
        <p:spPr>
          <a:xfrm>
            <a:off x="8623533" y="633839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C6D34E-30E1-1D95-9FAD-AA0BF7AA15B5}"/>
                  </a:ext>
                </a:extLst>
              </p:cNvPr>
              <p:cNvSpPr txBox="1"/>
              <p:nvPr/>
            </p:nvSpPr>
            <p:spPr>
              <a:xfrm>
                <a:off x="9084966" y="6189809"/>
                <a:ext cx="2872014" cy="567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𝐺𝑢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𝐹𝑟𝑎𝑛𝑐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C6D34E-30E1-1D95-9FAD-AA0BF7AA1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966" y="6189809"/>
                <a:ext cx="2872014" cy="5673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198009A-1139-F475-21F7-070EA7A4065E}"/>
              </a:ext>
            </a:extLst>
          </p:cNvPr>
          <p:cNvSpPr txBox="1"/>
          <p:nvPr/>
        </p:nvSpPr>
        <p:spPr>
          <a:xfrm>
            <a:off x="333396" y="5645512"/>
            <a:ext cx="416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Gu, B., Franco, I., </a:t>
            </a:r>
            <a:r>
              <a:rPr lang="en-US" sz="1400" b="1" dirty="0">
                <a:solidFill>
                  <a:srgbClr val="0000FF"/>
                </a:solidFill>
              </a:rPr>
              <a:t>2017,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i="1" dirty="0">
                <a:solidFill>
                  <a:srgbClr val="0000FF"/>
                </a:solidFill>
              </a:rPr>
              <a:t>JPCL</a:t>
            </a:r>
            <a:r>
              <a:rPr lang="en-US" sz="1400" dirty="0">
                <a:solidFill>
                  <a:srgbClr val="0000FF"/>
                </a:solidFill>
              </a:rPr>
              <a:t> 8, 4289.</a:t>
            </a:r>
          </a:p>
          <a:p>
            <a:r>
              <a:rPr lang="fr-FR" sz="1400" dirty="0" err="1">
                <a:solidFill>
                  <a:srgbClr val="0000FF"/>
                </a:solidFill>
              </a:rPr>
              <a:t>Gu</a:t>
            </a:r>
            <a:r>
              <a:rPr lang="fr-FR" sz="1400" dirty="0">
                <a:solidFill>
                  <a:srgbClr val="0000FF"/>
                </a:solidFill>
              </a:rPr>
              <a:t>, B., Franco, I., </a:t>
            </a:r>
            <a:r>
              <a:rPr lang="fr-FR" sz="1400" b="1" dirty="0">
                <a:solidFill>
                  <a:srgbClr val="0000FF"/>
                </a:solidFill>
              </a:rPr>
              <a:t>2018,</a:t>
            </a:r>
            <a:r>
              <a:rPr lang="fr-FR" sz="1400" dirty="0">
                <a:solidFill>
                  <a:srgbClr val="0000FF"/>
                </a:solidFill>
              </a:rPr>
              <a:t> </a:t>
            </a:r>
            <a:r>
              <a:rPr lang="fr-FR" sz="1400" i="1" dirty="0">
                <a:solidFill>
                  <a:srgbClr val="0000FF"/>
                </a:solidFill>
              </a:rPr>
              <a:t>JPCL</a:t>
            </a:r>
            <a:r>
              <a:rPr lang="fr-FR" sz="1400" dirty="0">
                <a:solidFill>
                  <a:srgbClr val="0000FF"/>
                </a:solidFill>
              </a:rPr>
              <a:t> 9, 773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998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63BDE0-54F4-91C2-05D2-FA7FF4A67097}"/>
              </a:ext>
            </a:extLst>
          </p:cNvPr>
          <p:cNvSpPr txBox="1"/>
          <p:nvPr/>
        </p:nvSpPr>
        <p:spPr>
          <a:xfrm>
            <a:off x="1714685" y="0"/>
            <a:ext cx="753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Other ways of computing Decoherence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324666-3283-FBB4-50F8-5C4A72AD5446}"/>
                  </a:ext>
                </a:extLst>
              </p:cNvPr>
              <p:cNvSpPr txBox="1"/>
              <p:nvPr/>
            </p:nvSpPr>
            <p:spPr>
              <a:xfrm>
                <a:off x="2373434" y="3264394"/>
                <a:ext cx="4020404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𝐸𝑠𝑐h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𝐿𝑒𝑣𝑖𝑛𝑒</m:t>
                              </m:r>
                            </m:sup>
                          </m:sSubSup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324666-3283-FBB4-50F8-5C4A72AD5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434" y="3264394"/>
                <a:ext cx="4020404" cy="7288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797D3D3-2E87-6340-D4E3-21D129F0B7DD}"/>
              </a:ext>
            </a:extLst>
          </p:cNvPr>
          <p:cNvSpPr txBox="1"/>
          <p:nvPr/>
        </p:nvSpPr>
        <p:spPr>
          <a:xfrm>
            <a:off x="286502" y="3542477"/>
            <a:ext cx="1916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2020, </a:t>
            </a:r>
            <a:r>
              <a:rPr lang="en-US" b="1" dirty="0" err="1"/>
              <a:t>Esch</a:t>
            </a:r>
            <a:r>
              <a:rPr lang="en-US" b="1" dirty="0"/>
              <a:t>, Levine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28F65-EFA2-B2F7-33FA-61715E080E38}"/>
              </a:ext>
            </a:extLst>
          </p:cNvPr>
          <p:cNvSpPr txBox="1"/>
          <p:nvPr/>
        </p:nvSpPr>
        <p:spPr>
          <a:xfrm>
            <a:off x="6694440" y="3542477"/>
            <a:ext cx="3016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decoherence scheme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9C78E-D1C7-5D33-2C6D-E3761F0CF1D5}"/>
              </a:ext>
            </a:extLst>
          </p:cNvPr>
          <p:cNvSpPr txBox="1"/>
          <p:nvPr/>
        </p:nvSpPr>
        <p:spPr>
          <a:xfrm>
            <a:off x="286502" y="258143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Sifain</a:t>
            </a:r>
            <a:r>
              <a:rPr lang="en-US" sz="1400" dirty="0">
                <a:solidFill>
                  <a:srgbClr val="0000FF"/>
                </a:solidFill>
              </a:rPr>
              <a:t>, A.E., Wang, L., </a:t>
            </a:r>
            <a:r>
              <a:rPr lang="en-US" sz="1400" dirty="0" err="1">
                <a:solidFill>
                  <a:srgbClr val="0000FF"/>
                </a:solidFill>
              </a:rPr>
              <a:t>Tretiak</a:t>
            </a:r>
            <a:r>
              <a:rPr lang="en-US" sz="1400" dirty="0">
                <a:solidFill>
                  <a:srgbClr val="0000FF"/>
                </a:solidFill>
              </a:rPr>
              <a:t>, S., </a:t>
            </a:r>
            <a:r>
              <a:rPr lang="en-US" sz="1400" dirty="0" err="1">
                <a:solidFill>
                  <a:srgbClr val="0000FF"/>
                </a:solidFill>
              </a:rPr>
              <a:t>Prezhdo</a:t>
            </a:r>
            <a:r>
              <a:rPr lang="en-US" sz="1400" dirty="0">
                <a:solidFill>
                  <a:srgbClr val="0000FF"/>
                </a:solidFill>
              </a:rPr>
              <a:t>, O.V., </a:t>
            </a:r>
            <a:r>
              <a:rPr lang="en-US" sz="1400" b="1" dirty="0">
                <a:solidFill>
                  <a:srgbClr val="0000FF"/>
                </a:solidFill>
              </a:rPr>
              <a:t>2019</a:t>
            </a:r>
            <a:r>
              <a:rPr lang="en-US" sz="1400" dirty="0">
                <a:solidFill>
                  <a:srgbClr val="0000FF"/>
                </a:solidFill>
              </a:rPr>
              <a:t>, </a:t>
            </a:r>
            <a:r>
              <a:rPr lang="en-US" sz="1400" i="1" dirty="0">
                <a:solidFill>
                  <a:srgbClr val="0000FF"/>
                </a:solidFill>
              </a:rPr>
              <a:t>JCP</a:t>
            </a:r>
            <a:r>
              <a:rPr lang="en-US" sz="1400" dirty="0">
                <a:solidFill>
                  <a:srgbClr val="0000FF"/>
                </a:solidFill>
              </a:rPr>
              <a:t> 150. 194104.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F33778-9FBF-4A21-F23D-36D625D5BADD}"/>
                  </a:ext>
                </a:extLst>
              </p:cNvPr>
              <p:cNvSpPr txBox="1"/>
              <p:nvPr/>
            </p:nvSpPr>
            <p:spPr>
              <a:xfrm>
                <a:off x="1088380" y="906758"/>
                <a:ext cx="2010697" cy="728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𝑑𝑒𝑝h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F33778-9FBF-4A21-F23D-36D625D5B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380" y="906758"/>
                <a:ext cx="2010697" cy="7288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951DFFF-1B4E-47F8-1BDB-B37FDA6C0A2F}"/>
              </a:ext>
            </a:extLst>
          </p:cNvPr>
          <p:cNvSpPr txBox="1"/>
          <p:nvPr/>
        </p:nvSpPr>
        <p:spPr>
          <a:xfrm>
            <a:off x="286502" y="1860143"/>
            <a:ext cx="3614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2019, </a:t>
            </a:r>
            <a:r>
              <a:rPr lang="en-US" b="1" dirty="0" err="1"/>
              <a:t>Sifain</a:t>
            </a:r>
            <a:r>
              <a:rPr lang="en-US" b="1" dirty="0"/>
              <a:t>, Wang, </a:t>
            </a:r>
            <a:r>
              <a:rPr lang="en-US" b="1" dirty="0" err="1"/>
              <a:t>Tretiak</a:t>
            </a:r>
            <a:r>
              <a:rPr lang="en-US" b="1" dirty="0"/>
              <a:t>, </a:t>
            </a:r>
            <a:r>
              <a:rPr lang="en-US" b="1" dirty="0" err="1"/>
              <a:t>Prezhdo</a:t>
            </a:r>
            <a:endParaRPr lang="en-US" b="1" dirty="0"/>
          </a:p>
          <a:p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ephasing-informed correction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911977-6835-A37D-568F-A27E49D36D80}"/>
              </a:ext>
            </a:extLst>
          </p:cNvPr>
          <p:cNvSpPr txBox="1"/>
          <p:nvPr/>
        </p:nvSpPr>
        <p:spPr>
          <a:xfrm>
            <a:off x="3569110" y="1108071"/>
            <a:ext cx="808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a problematic at the points of zero gap (where coherence times should be infinite)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17ADF0-8208-0C16-97E1-EFE4A6B1CCF0}"/>
                  </a:ext>
                </a:extLst>
              </p:cNvPr>
              <p:cNvSpPr txBox="1"/>
              <p:nvPr/>
            </p:nvSpPr>
            <p:spPr>
              <a:xfrm>
                <a:off x="7164443" y="2146753"/>
                <a:ext cx="3016531" cy="619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𝑑𝑒𝑝h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𝑑𝑒𝑝h</m:t>
                          </m:r>
                        </m:sup>
                      </m:sSubSup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17ADF0-8208-0C16-97E1-EFE4A6B1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443" y="2146753"/>
                <a:ext cx="3016531" cy="6195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0F32EF-996B-24EB-A42E-951E6B79FD21}"/>
                  </a:ext>
                </a:extLst>
              </p:cNvPr>
              <p:cNvSpPr txBox="1"/>
              <p:nvPr/>
            </p:nvSpPr>
            <p:spPr>
              <a:xfrm>
                <a:off x="7384027" y="4239603"/>
                <a:ext cx="3451122" cy="515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𝑆𝐻𝑋𝐹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,−1</m:t>
                          </m:r>
                        </m:sup>
                      </m:sSubSup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0F32EF-996B-24EB-A42E-951E6B79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027" y="4239603"/>
                <a:ext cx="3451122" cy="515013"/>
              </a:xfrm>
              <a:prstGeom prst="rect">
                <a:avLst/>
              </a:prstGeom>
              <a:blipFill>
                <a:blip r:embed="rId5"/>
                <a:stretch>
                  <a:fillRect t="-147059" b="-20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DF80C1-E582-AFED-BF36-40DFF22277F2}"/>
                  </a:ext>
                </a:extLst>
              </p:cNvPr>
              <p:cNvSpPr txBox="1"/>
              <p:nvPr/>
            </p:nvSpPr>
            <p:spPr>
              <a:xfrm>
                <a:off x="7384027" y="4743851"/>
                <a:ext cx="1848463" cy="541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=−ℏ</m:t>
                      </m:r>
                      <m:f>
                        <m:f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DF80C1-E582-AFED-BF36-40DFF2227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027" y="4743851"/>
                <a:ext cx="1848463" cy="541815"/>
              </a:xfrm>
              <a:prstGeom prst="rect">
                <a:avLst/>
              </a:prstGeom>
              <a:blipFill>
                <a:blip r:embed="rId6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B71F2AA-C8B6-2CBF-25F8-A1F78F76E320}"/>
              </a:ext>
            </a:extLst>
          </p:cNvPr>
          <p:cNvSpPr txBox="1"/>
          <p:nvPr/>
        </p:nvSpPr>
        <p:spPr>
          <a:xfrm>
            <a:off x="269708" y="5082162"/>
            <a:ext cx="6941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Vindel</a:t>
            </a:r>
            <a:r>
              <a:rPr lang="en-US" sz="1400" dirty="0">
                <a:solidFill>
                  <a:srgbClr val="0000FF"/>
                </a:solidFill>
              </a:rPr>
              <a:t>-Zandbergen, P., </a:t>
            </a:r>
            <a:r>
              <a:rPr lang="en-US" sz="1400" dirty="0" err="1">
                <a:solidFill>
                  <a:srgbClr val="0000FF"/>
                </a:solidFill>
              </a:rPr>
              <a:t>Ibele</a:t>
            </a:r>
            <a:r>
              <a:rPr lang="en-US" sz="1400" dirty="0">
                <a:solidFill>
                  <a:srgbClr val="0000FF"/>
                </a:solidFill>
              </a:rPr>
              <a:t>, L.M., Ha, J.-K., et al., </a:t>
            </a:r>
            <a:r>
              <a:rPr lang="en-US" sz="1400" b="1" dirty="0">
                <a:solidFill>
                  <a:srgbClr val="0000FF"/>
                </a:solidFill>
              </a:rPr>
              <a:t>2021</a:t>
            </a:r>
            <a:r>
              <a:rPr lang="en-US" sz="1400" dirty="0">
                <a:solidFill>
                  <a:srgbClr val="0000FF"/>
                </a:solidFill>
              </a:rPr>
              <a:t> </a:t>
            </a:r>
            <a:r>
              <a:rPr lang="en-US" sz="1400" i="1" dirty="0">
                <a:solidFill>
                  <a:srgbClr val="0000FF"/>
                </a:solidFill>
              </a:rPr>
              <a:t>JCTC</a:t>
            </a:r>
            <a:r>
              <a:rPr lang="en-US" sz="1400" dirty="0">
                <a:solidFill>
                  <a:srgbClr val="0000FF"/>
                </a:solidFill>
              </a:rPr>
              <a:t> 17, 3852.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507530-23A8-E1DB-F03C-60565469E8F2}"/>
              </a:ext>
            </a:extLst>
          </p:cNvPr>
          <p:cNvSpPr txBox="1"/>
          <p:nvPr/>
        </p:nvSpPr>
        <p:spPr>
          <a:xfrm>
            <a:off x="297838" y="4368428"/>
            <a:ext cx="4637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2021, </a:t>
            </a:r>
            <a:r>
              <a:rPr lang="en-US" sz="1800" b="1" dirty="0" err="1"/>
              <a:t>Vindel</a:t>
            </a:r>
            <a:r>
              <a:rPr lang="en-US" sz="1800" b="1" dirty="0"/>
              <a:t>-Zandbergen et al.</a:t>
            </a:r>
          </a:p>
          <a:p>
            <a:r>
              <a:rPr lang="en-US" dirty="0"/>
              <a:t>In the context of exact factorization approach</a:t>
            </a:r>
          </a:p>
        </p:txBody>
      </p:sp>
      <p:pic>
        <p:nvPicPr>
          <p:cNvPr id="2" name="Picture 7" descr="Image result for ub logo">
            <a:extLst>
              <a:ext uri="{FF2B5EF4-FFF2-40B4-BE49-F238E27FC236}">
                <a16:creationId xmlns:a16="http://schemas.microsoft.com/office/drawing/2014/main" id="{25455C59-E56D-F1B1-1FAC-BEC88BDA6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99243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30E39-09DA-B06C-483C-9DA3D1927725}"/>
                  </a:ext>
                </a:extLst>
              </p:cNvPr>
              <p:cNvSpPr txBox="1"/>
              <p:nvPr/>
            </p:nvSpPr>
            <p:spPr>
              <a:xfrm>
                <a:off x="467032" y="847936"/>
                <a:ext cx="11257936" cy="896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1143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Gaussian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moving on the surface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would acquire an additional phase with respect to Gaussian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moving on the surface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such that: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ℏ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C30E39-09DA-B06C-483C-9DA3D1927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32" y="847936"/>
                <a:ext cx="11257936" cy="896015"/>
              </a:xfrm>
              <a:prstGeom prst="rect">
                <a:avLst/>
              </a:prstGeom>
              <a:blipFill>
                <a:blip r:embed="rId2"/>
                <a:stretch>
                  <a:fillRect r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7" descr="Image result for ub logo">
            <a:extLst>
              <a:ext uri="{FF2B5EF4-FFF2-40B4-BE49-F238E27FC236}">
                <a16:creationId xmlns:a16="http://schemas.microsoft.com/office/drawing/2014/main" id="{EE43B913-F868-7F1E-F536-FD7204E3A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A9452-0446-2B36-9A95-FAA81E09D5D9}"/>
              </a:ext>
            </a:extLst>
          </p:cNvPr>
          <p:cNvSpPr txBox="1"/>
          <p:nvPr/>
        </p:nvSpPr>
        <p:spPr>
          <a:xfrm>
            <a:off x="6612193" y="1313110"/>
            <a:ext cx="5279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</a:rPr>
              <a:t>Shenvi</a:t>
            </a:r>
            <a:r>
              <a:rPr lang="en-US" sz="1400" dirty="0">
                <a:solidFill>
                  <a:srgbClr val="0000FF"/>
                </a:solidFill>
              </a:rPr>
              <a:t>, N., </a:t>
            </a:r>
            <a:r>
              <a:rPr lang="en-US" sz="1400" dirty="0" err="1">
                <a:solidFill>
                  <a:srgbClr val="0000FF"/>
                </a:solidFill>
              </a:rPr>
              <a:t>Subotnik</a:t>
            </a:r>
            <a:r>
              <a:rPr lang="en-US" sz="1400" dirty="0">
                <a:solidFill>
                  <a:srgbClr val="0000FF"/>
                </a:solidFill>
              </a:rPr>
              <a:t>, J.E., Yang, W., 2011. J. Chem. Phys. 135. 024101.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AACCD1-0DF8-3B5D-CA3C-884F088CFA48}"/>
                  </a:ext>
                </a:extLst>
              </p:cNvPr>
              <p:cNvSpPr txBox="1"/>
              <p:nvPr/>
            </p:nvSpPr>
            <p:spPr>
              <a:xfrm>
                <a:off x="467032" y="2004415"/>
                <a:ext cx="10943304" cy="1011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1143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uch a phase difference can also be acquired if the effective Hamiltonian used in the TD-SE (coherent dynamics) is constructed as: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𝑠𝑡𝑎𝑡𝑒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𝑎𝑐𝑡𝑖𝑣𝑒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ℏ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ℏ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𝑛𝑚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AACCD1-0DF8-3B5D-CA3C-884F088CF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32" y="2004415"/>
                <a:ext cx="10943304" cy="1011687"/>
              </a:xfrm>
              <a:prstGeom prst="rect">
                <a:avLst/>
              </a:prstGeom>
              <a:blipFill>
                <a:blip r:embed="rId4"/>
                <a:stretch>
                  <a:fillRect l="-334" r="-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189698-CAA2-BA44-E482-4CD0CAA1BAD2}"/>
                  </a:ext>
                </a:extLst>
              </p:cNvPr>
              <p:cNvSpPr txBox="1"/>
              <p:nvPr/>
            </p:nvSpPr>
            <p:spPr>
              <a:xfrm>
                <a:off x="6779342" y="2406502"/>
                <a:ext cx="4306529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189698-CAA2-BA44-E482-4CD0CAA1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342" y="2406502"/>
                <a:ext cx="4306529" cy="483466"/>
              </a:xfrm>
              <a:prstGeom prst="rect">
                <a:avLst/>
              </a:prstGeom>
              <a:blipFill>
                <a:blip r:embed="rId5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942655-08CA-5659-20FD-123671F3484D}"/>
                  </a:ext>
                </a:extLst>
              </p:cNvPr>
              <p:cNvSpPr txBox="1"/>
              <p:nvPr/>
            </p:nvSpPr>
            <p:spPr>
              <a:xfrm>
                <a:off x="2900516" y="3625680"/>
                <a:ext cx="5592813" cy="40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𝑠𝑡𝑎𝑡𝑒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𝑎𝑐𝑡𝑖𝑣𝑒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ℏ</m:t>
                      </m:r>
                      <m:sSubSup>
                        <m:sSub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942655-08CA-5659-20FD-123671F34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516" y="3625680"/>
                <a:ext cx="5592813" cy="401264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D805C2A-ABF6-B8C7-4220-2295D465236D}"/>
              </a:ext>
            </a:extLst>
          </p:cNvPr>
          <p:cNvSpPr txBox="1"/>
          <p:nvPr/>
        </p:nvSpPr>
        <p:spPr>
          <a:xfrm>
            <a:off x="467032" y="3276566"/>
            <a:ext cx="545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2019, Miao, </a:t>
            </a:r>
            <a:r>
              <a:rPr lang="en-US" b="1" dirty="0" err="1"/>
              <a:t>Subotnik</a:t>
            </a:r>
            <a:r>
              <a:rPr lang="en-US" b="1" dirty="0"/>
              <a:t>: Generalization to multiple states: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9D6E5A-5FF9-25D6-0FB5-A360F87B9BBA}"/>
                  </a:ext>
                </a:extLst>
              </p:cNvPr>
              <p:cNvSpPr txBox="1"/>
              <p:nvPr/>
            </p:nvSpPr>
            <p:spPr>
              <a:xfrm>
                <a:off x="2792362" y="4026944"/>
                <a:ext cx="6812012" cy="890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𝑠𝑖𝑔𝑛</m:t>
                                </m:r>
                                <m:d>
                                  <m:dPr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</m:d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p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  <m:r>
                                      <a:rPr lang="en-US" sz="1400" b="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d>
                                      <m:d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</m:d>
                                        <m:r>
                                          <a:rPr lang="en-US" sz="1400" b="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400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1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rad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p>
                                    <m: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en-US" sz="14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</m:d>
                                    <m:r>
                                      <a:rPr lang="en-US" sz="1400" b="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4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≥0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sz="1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9D6E5A-5FF9-25D6-0FB5-A360F87B9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362" y="4026944"/>
                <a:ext cx="6812012" cy="8900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86EE9E0-61A0-9D5B-906D-D139864C2790}"/>
              </a:ext>
            </a:extLst>
          </p:cNvPr>
          <p:cNvSpPr txBox="1"/>
          <p:nvPr/>
        </p:nvSpPr>
        <p:spPr>
          <a:xfrm>
            <a:off x="6612193" y="3276566"/>
            <a:ext cx="4370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Miao, G., </a:t>
            </a:r>
            <a:r>
              <a:rPr lang="en-US" sz="1400" dirty="0" err="1">
                <a:solidFill>
                  <a:srgbClr val="0000FF"/>
                </a:solidFill>
              </a:rPr>
              <a:t>Subotnik</a:t>
            </a:r>
            <a:r>
              <a:rPr lang="en-US" sz="1400" dirty="0">
                <a:solidFill>
                  <a:srgbClr val="0000FF"/>
                </a:solidFill>
              </a:rPr>
              <a:t>, J., 2019. J. Phys. Chem. A 123, 5428.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BBB337-30A9-9AF8-D186-1412B904DA4C}"/>
                  </a:ext>
                </a:extLst>
              </p:cNvPr>
              <p:cNvSpPr txBox="1"/>
              <p:nvPr/>
            </p:nvSpPr>
            <p:spPr>
              <a:xfrm>
                <a:off x="324465" y="5768919"/>
                <a:ext cx="5456903" cy="936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num>
                        <m:den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𝑛𝑖</m:t>
                                      </m:r>
                                    </m:sub>
                                  </m:sSub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𝑖𝑚</m:t>
                                      </m:r>
                                    </m:sub>
                                  </m:sSub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sz="14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BBB337-30A9-9AF8-D186-1412B904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5" y="5768919"/>
                <a:ext cx="5456903" cy="936603"/>
              </a:xfrm>
              <a:prstGeom prst="rect">
                <a:avLst/>
              </a:prstGeom>
              <a:blipFill>
                <a:blip r:embed="rId8"/>
                <a:stretch>
                  <a:fillRect t="-75974" b="-1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3939CD2A-6EE9-AC72-FAB8-B23F97830107}"/>
              </a:ext>
            </a:extLst>
          </p:cNvPr>
          <p:cNvSpPr txBox="1"/>
          <p:nvPr/>
        </p:nvSpPr>
        <p:spPr>
          <a:xfrm>
            <a:off x="9227572" y="6393526"/>
            <a:ext cx="3481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Zhu, C., 2016. Sci. Rep. 6. 24198.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ED5155-1636-B76B-D478-F34B1D26FF09}"/>
              </a:ext>
            </a:extLst>
          </p:cNvPr>
          <p:cNvSpPr txBox="1"/>
          <p:nvPr/>
        </p:nvSpPr>
        <p:spPr>
          <a:xfrm>
            <a:off x="467032" y="570676"/>
            <a:ext cx="2839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2011, </a:t>
            </a:r>
            <a:r>
              <a:rPr lang="en-US" b="1" dirty="0" err="1"/>
              <a:t>Shenvi</a:t>
            </a:r>
            <a:r>
              <a:rPr lang="en-US" b="1" dirty="0"/>
              <a:t>-</a:t>
            </a:r>
            <a:r>
              <a:rPr lang="en-US" b="1" dirty="0" err="1"/>
              <a:t>Subotnik</a:t>
            </a:r>
            <a:r>
              <a:rPr lang="en-US" b="1" dirty="0"/>
              <a:t>-Yang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11654E-972E-D41D-6558-B75A86907AFB}"/>
              </a:ext>
            </a:extLst>
          </p:cNvPr>
          <p:cNvSpPr txBox="1"/>
          <p:nvPr/>
        </p:nvSpPr>
        <p:spPr>
          <a:xfrm>
            <a:off x="387829" y="4916996"/>
            <a:ext cx="2818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2016, Zhu: </a:t>
            </a:r>
            <a:r>
              <a:rPr lang="en-US" dirty="0"/>
              <a:t>in terms of QCLE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644625F-FD25-ACF9-4D1C-1A7EB6026020}"/>
              </a:ext>
            </a:extLst>
          </p:cNvPr>
          <p:cNvSpPr/>
          <p:nvPr/>
        </p:nvSpPr>
        <p:spPr>
          <a:xfrm>
            <a:off x="5584723" y="5768919"/>
            <a:ext cx="589935" cy="4843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0C3025-F25F-E66F-26B7-B434AFA37582}"/>
                  </a:ext>
                </a:extLst>
              </p:cNvPr>
              <p:cNvSpPr txBox="1"/>
              <p:nvPr/>
            </p:nvSpPr>
            <p:spPr>
              <a:xfrm>
                <a:off x="6497892" y="5259674"/>
                <a:ext cx="5508523" cy="939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rad>
                        </m:e>
                      </m:d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sz="1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30C3025-F25F-E66F-26B7-B434AFA3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892" y="5259674"/>
                <a:ext cx="5508523" cy="939744"/>
              </a:xfrm>
              <a:prstGeom prst="rect">
                <a:avLst/>
              </a:prstGeom>
              <a:blipFill>
                <a:blip r:embed="rId9"/>
                <a:stretch>
                  <a:fillRect t="-34416" b="-116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B48AFE-3C7D-9045-0E89-5FEA50464BB7}"/>
                  </a:ext>
                </a:extLst>
              </p:cNvPr>
              <p:cNvSpPr txBox="1"/>
              <p:nvPr/>
            </p:nvSpPr>
            <p:spPr>
              <a:xfrm>
                <a:off x="6612193" y="6210656"/>
                <a:ext cx="1784554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B48AFE-3C7D-9045-0E89-5FEA5046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193" y="6210656"/>
                <a:ext cx="1784554" cy="490647"/>
              </a:xfrm>
              <a:prstGeom prst="rect">
                <a:avLst/>
              </a:prstGeom>
              <a:blipFill>
                <a:blip r:embed="rId10"/>
                <a:stretch>
                  <a:fillRect t="-156250" r="-34932" b="-22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D7131DD7-CFF2-9F2B-C15F-3681A1CF7575}"/>
              </a:ext>
            </a:extLst>
          </p:cNvPr>
          <p:cNvSpPr txBox="1"/>
          <p:nvPr/>
        </p:nvSpPr>
        <p:spPr>
          <a:xfrm>
            <a:off x="3515032" y="523220"/>
            <a:ext cx="1247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 </a:t>
            </a:r>
            <a:r>
              <a:rPr lang="en-US" b="1" dirty="0" err="1">
                <a:solidFill>
                  <a:srgbClr val="FF0000"/>
                </a:solidFill>
              </a:rPr>
              <a:t>do_ssy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BB5806-9A51-95DB-30D6-A5F2A23F83BA}"/>
              </a:ext>
            </a:extLst>
          </p:cNvPr>
          <p:cNvSpPr txBox="1"/>
          <p:nvPr/>
        </p:nvSpPr>
        <p:spPr>
          <a:xfrm>
            <a:off x="8946022" y="4790210"/>
            <a:ext cx="2575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rep_tdse</a:t>
            </a:r>
            <a:r>
              <a:rPr lang="en-US" b="1" dirty="0">
                <a:solidFill>
                  <a:srgbClr val="FF0000"/>
                </a:solidFill>
              </a:rPr>
              <a:t> = 3; </a:t>
            </a:r>
            <a:r>
              <a:rPr lang="en-US" b="1" dirty="0" err="1">
                <a:solidFill>
                  <a:srgbClr val="FF0000"/>
                </a:solidFill>
              </a:rPr>
              <a:t>electronic_integrator</a:t>
            </a:r>
            <a:r>
              <a:rPr lang="en-US" b="1" dirty="0">
                <a:solidFill>
                  <a:srgbClr val="FF0000"/>
                </a:solidFill>
              </a:rPr>
              <a:t>=1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614DB5-B308-765B-F4D8-87D2F82D5114}"/>
              </a:ext>
            </a:extLst>
          </p:cNvPr>
          <p:cNvSpPr txBox="1"/>
          <p:nvPr/>
        </p:nvSpPr>
        <p:spPr>
          <a:xfrm>
            <a:off x="3657545" y="4971085"/>
            <a:ext cx="2575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rep_tdse</a:t>
            </a:r>
            <a:r>
              <a:rPr lang="en-US" b="1" dirty="0">
                <a:solidFill>
                  <a:srgbClr val="FF0000"/>
                </a:solidFill>
              </a:rPr>
              <a:t> = 3; </a:t>
            </a:r>
            <a:r>
              <a:rPr lang="en-US" b="1" dirty="0" err="1">
                <a:solidFill>
                  <a:srgbClr val="FF0000"/>
                </a:solidFill>
              </a:rPr>
              <a:t>electronic_integrator</a:t>
            </a:r>
            <a:r>
              <a:rPr lang="en-US" b="1" dirty="0">
                <a:solidFill>
                  <a:srgbClr val="FF0000"/>
                </a:solidFill>
              </a:rPr>
              <a:t>=0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1896A-D993-5BB6-426D-E2843C3CD593}"/>
              </a:ext>
            </a:extLst>
          </p:cNvPr>
          <p:cNvSpPr txBox="1"/>
          <p:nvPr/>
        </p:nvSpPr>
        <p:spPr>
          <a:xfrm>
            <a:off x="1965970" y="104053"/>
            <a:ext cx="753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0070C0"/>
                </a:solidFill>
              </a:rPr>
              <a:t>Shenvi</a:t>
            </a:r>
            <a:r>
              <a:rPr lang="en-US" sz="2800" b="1" dirty="0">
                <a:solidFill>
                  <a:srgbClr val="0070C0"/>
                </a:solidFill>
              </a:rPr>
              <a:t>-</a:t>
            </a:r>
            <a:r>
              <a:rPr lang="en-US" sz="2800" b="1" dirty="0" err="1">
                <a:solidFill>
                  <a:srgbClr val="0070C0"/>
                </a:solidFill>
              </a:rPr>
              <a:t>Subotnik</a:t>
            </a:r>
            <a:r>
              <a:rPr lang="en-US" sz="2800" b="1" dirty="0">
                <a:solidFill>
                  <a:srgbClr val="0070C0"/>
                </a:solidFill>
              </a:rPr>
              <a:t>-Yang (SSY) Phase correction</a:t>
            </a:r>
          </a:p>
        </p:txBody>
      </p:sp>
    </p:spTree>
    <p:extLst>
      <p:ext uri="{BB962C8B-B14F-4D97-AF65-F5344CB8AC3E}">
        <p14:creationId xmlns:p14="http://schemas.microsoft.com/office/powerpoint/2010/main" val="18026451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C134AE-649D-5606-D1FD-F5FE3326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50" y="619716"/>
            <a:ext cx="9546077" cy="1832646"/>
          </a:xfrm>
          <a:prstGeom prst="rect">
            <a:avLst/>
          </a:prstGeom>
        </p:spPr>
      </p:pic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3CE13A90-6232-4E0A-7006-3128A9F14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59501B-E814-54A2-19EC-3E2350459074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Setting up parameters controlling dynamics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91769C-708A-57B6-B355-12165256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02" y="3147533"/>
            <a:ext cx="10611395" cy="1035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EC9EC9-E941-EE80-D5B4-BF2E0F4A9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7" y="4639644"/>
            <a:ext cx="10693950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9171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985859-07B1-7D87-F1E3-3F3CCCA5972A}"/>
              </a:ext>
            </a:extLst>
          </p:cNvPr>
          <p:cNvSpPr txBox="1"/>
          <p:nvPr/>
        </p:nvSpPr>
        <p:spPr>
          <a:xfrm>
            <a:off x="1965970" y="104053"/>
            <a:ext cx="753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Composite schemes</a:t>
            </a:r>
          </a:p>
        </p:txBody>
      </p:sp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6571FA84-1BF9-111B-2E0E-7B453EC6E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16CBA7-F1CD-B13C-D109-675C3F007084}"/>
              </a:ext>
            </a:extLst>
          </p:cNvPr>
          <p:cNvSpPr txBox="1"/>
          <p:nvPr/>
        </p:nvSpPr>
        <p:spPr>
          <a:xfrm>
            <a:off x="152982" y="642174"/>
            <a:ext cx="1938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to evolve electronic amplitudes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66A2F-AC4A-578B-3E9E-6B3B60DC57C8}"/>
              </a:ext>
            </a:extLst>
          </p:cNvPr>
          <p:cNvSpPr/>
          <p:nvPr/>
        </p:nvSpPr>
        <p:spPr>
          <a:xfrm>
            <a:off x="1" y="2966968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 SSY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DB0CF-7E00-FDD7-7854-CAB249D75809}"/>
              </a:ext>
            </a:extLst>
          </p:cNvPr>
          <p:cNvSpPr/>
          <p:nvPr/>
        </p:nvSpPr>
        <p:spPr>
          <a:xfrm>
            <a:off x="0" y="4068382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Without SSY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C5B70-DEF9-3BB0-E2F9-B0479956B1D1}"/>
              </a:ext>
            </a:extLst>
          </p:cNvPr>
          <p:cNvSpPr txBox="1"/>
          <p:nvPr/>
        </p:nvSpPr>
        <p:spPr>
          <a:xfrm>
            <a:off x="4114236" y="792163"/>
            <a:ext cx="193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Hop proposal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0C8475-F65D-E0C3-3AE3-2765DDEFDD00}"/>
              </a:ext>
            </a:extLst>
          </p:cNvPr>
          <p:cNvSpPr/>
          <p:nvPr/>
        </p:nvSpPr>
        <p:spPr>
          <a:xfrm>
            <a:off x="4220235" y="2259974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FSSH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7B7E83-5505-79FE-DE7E-117E0E85B72C}"/>
              </a:ext>
            </a:extLst>
          </p:cNvPr>
          <p:cNvSpPr/>
          <p:nvPr/>
        </p:nvSpPr>
        <p:spPr>
          <a:xfrm>
            <a:off x="4220232" y="3115266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FSSH-2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D93D8-3B70-3FC4-8022-EAF39F6D623E}"/>
              </a:ext>
            </a:extLst>
          </p:cNvPr>
          <p:cNvSpPr/>
          <p:nvPr/>
        </p:nvSpPr>
        <p:spPr>
          <a:xfrm>
            <a:off x="4220232" y="3977140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FSSH-3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138B7-7BBA-DCFA-3DE8-B6B9C97B38A4}"/>
              </a:ext>
            </a:extLst>
          </p:cNvPr>
          <p:cNvSpPr/>
          <p:nvPr/>
        </p:nvSpPr>
        <p:spPr>
          <a:xfrm>
            <a:off x="4174120" y="1509746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GFSH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834F2-3690-AF5B-3780-59BBB14E4C95}"/>
              </a:ext>
            </a:extLst>
          </p:cNvPr>
          <p:cNvSpPr txBox="1"/>
          <p:nvPr/>
        </p:nvSpPr>
        <p:spPr>
          <a:xfrm>
            <a:off x="6207755" y="600872"/>
            <a:ext cx="193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Decoherence correction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94862-D2D2-03AA-D89C-1975622C68EB}"/>
              </a:ext>
            </a:extLst>
          </p:cNvPr>
          <p:cNvSpPr/>
          <p:nvPr/>
        </p:nvSpPr>
        <p:spPr>
          <a:xfrm>
            <a:off x="6251299" y="1385702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SDM/</a:t>
            </a:r>
            <a:r>
              <a:rPr lang="en-US" b="1" dirty="0" err="1"/>
              <a:t>mSDM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06A48-4CB1-9FD6-4723-75BC6ACA1FD7}"/>
              </a:ext>
            </a:extLst>
          </p:cNvPr>
          <p:cNvSpPr/>
          <p:nvPr/>
        </p:nvSpPr>
        <p:spPr>
          <a:xfrm>
            <a:off x="6251299" y="2128280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IDA/IDF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733AE5-6D36-8346-5050-B2EE9AED9C90}"/>
              </a:ext>
            </a:extLst>
          </p:cNvPr>
          <p:cNvSpPr/>
          <p:nvPr/>
        </p:nvSpPr>
        <p:spPr>
          <a:xfrm>
            <a:off x="6251299" y="2912099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BCSH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C35DF-3317-0FCA-F759-0398F87F26D8}"/>
              </a:ext>
            </a:extLst>
          </p:cNvPr>
          <p:cNvSpPr/>
          <p:nvPr/>
        </p:nvSpPr>
        <p:spPr>
          <a:xfrm>
            <a:off x="6251299" y="3676149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DISH (rev)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20A8D-8FBA-A501-EB15-166857A9A231}"/>
              </a:ext>
            </a:extLst>
          </p:cNvPr>
          <p:cNvSpPr/>
          <p:nvPr/>
        </p:nvSpPr>
        <p:spPr>
          <a:xfrm>
            <a:off x="6251299" y="4396626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514B54-6C33-D980-9E08-08AED5A1621C}"/>
              </a:ext>
            </a:extLst>
          </p:cNvPr>
          <p:cNvSpPr txBox="1"/>
          <p:nvPr/>
        </p:nvSpPr>
        <p:spPr>
          <a:xfrm>
            <a:off x="8268595" y="508356"/>
            <a:ext cx="193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Decoherence </a:t>
            </a:r>
          </a:p>
          <a:p>
            <a:pPr algn="ctr"/>
            <a:r>
              <a:rPr lang="en-US" b="1" dirty="0"/>
              <a:t>times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52C42F-E702-05FA-B308-515D36AF7C2B}"/>
              </a:ext>
            </a:extLst>
          </p:cNvPr>
          <p:cNvSpPr/>
          <p:nvPr/>
        </p:nvSpPr>
        <p:spPr>
          <a:xfrm>
            <a:off x="8268594" y="1385702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DISH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3FCD93-CE7E-B8B1-8A66-B8B9C7063B47}"/>
              </a:ext>
            </a:extLst>
          </p:cNvPr>
          <p:cNvSpPr/>
          <p:nvPr/>
        </p:nvSpPr>
        <p:spPr>
          <a:xfrm>
            <a:off x="8268593" y="2151562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EDC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1D3457-2251-2D08-A861-44938979E045}"/>
              </a:ext>
            </a:extLst>
          </p:cNvPr>
          <p:cNvSpPr/>
          <p:nvPr/>
        </p:nvSpPr>
        <p:spPr>
          <a:xfrm>
            <a:off x="8268592" y="2962623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Schwartz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17E028-92AF-0BC4-9D14-3173BF540392}"/>
              </a:ext>
            </a:extLst>
          </p:cNvPr>
          <p:cNvSpPr/>
          <p:nvPr/>
        </p:nvSpPr>
        <p:spPr>
          <a:xfrm>
            <a:off x="8268591" y="3776751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Schwartz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1F0249-8DAE-2DAD-E348-C47B5FA7CAD9}"/>
              </a:ext>
            </a:extLst>
          </p:cNvPr>
          <p:cNvSpPr txBox="1"/>
          <p:nvPr/>
        </p:nvSpPr>
        <p:spPr>
          <a:xfrm>
            <a:off x="2096941" y="815869"/>
            <a:ext cx="193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Electron-nuclear dynamics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AF74FC-135B-DE6E-46EF-984385B0266F}"/>
              </a:ext>
            </a:extLst>
          </p:cNvPr>
          <p:cNvSpPr/>
          <p:nvPr/>
        </p:nvSpPr>
        <p:spPr>
          <a:xfrm>
            <a:off x="2123294" y="2344752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155499-319B-E701-C75F-EA757F29368A}"/>
              </a:ext>
            </a:extLst>
          </p:cNvPr>
          <p:cNvSpPr/>
          <p:nvPr/>
        </p:nvSpPr>
        <p:spPr>
          <a:xfrm>
            <a:off x="2088920" y="3161181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Adiabatic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44C8DA-8DE8-CB3B-3DFA-AAEBBCA6309A}"/>
              </a:ext>
            </a:extLst>
          </p:cNvPr>
          <p:cNvSpPr/>
          <p:nvPr/>
        </p:nvSpPr>
        <p:spPr>
          <a:xfrm>
            <a:off x="2088919" y="3940429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QTSH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D3DDA5-A417-683B-A0AB-8338B77FA617}"/>
              </a:ext>
            </a:extLst>
          </p:cNvPr>
          <p:cNvSpPr/>
          <p:nvPr/>
        </p:nvSpPr>
        <p:spPr>
          <a:xfrm>
            <a:off x="2022811" y="1509745"/>
            <a:ext cx="1938803" cy="673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XF variants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67AC6-C1F7-A0E8-CF5D-308E107FDAAD}"/>
              </a:ext>
            </a:extLst>
          </p:cNvPr>
          <p:cNvSpPr txBox="1"/>
          <p:nvPr/>
        </p:nvSpPr>
        <p:spPr>
          <a:xfrm>
            <a:off x="10173024" y="2976514"/>
            <a:ext cx="2109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Decoherence </a:t>
            </a:r>
          </a:p>
          <a:p>
            <a:pPr algn="ctr"/>
            <a:r>
              <a:rPr lang="en-US" b="1" dirty="0"/>
              <a:t>time</a:t>
            </a:r>
          </a:p>
          <a:p>
            <a:pPr algn="ctr"/>
            <a:r>
              <a:rPr lang="en-US" b="1" dirty="0"/>
              <a:t>hyperparameters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ACBE94-5867-0D45-5B2F-9E6A281C52BD}"/>
              </a:ext>
            </a:extLst>
          </p:cNvPr>
          <p:cNvSpPr txBox="1"/>
          <p:nvPr/>
        </p:nvSpPr>
        <p:spPr>
          <a:xfrm>
            <a:off x="177530" y="5857465"/>
            <a:ext cx="369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a result:  SSY-GFSH-</a:t>
            </a:r>
            <a:r>
              <a:rPr lang="en-US" dirty="0" err="1"/>
              <a:t>mSDM</a:t>
            </a:r>
            <a:r>
              <a:rPr lang="en-US" dirty="0"/>
              <a:t>, 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027CC-25E2-F775-25D3-9FC50A7B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097" y="4986400"/>
            <a:ext cx="7976386" cy="17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955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CF5B-48E8-437E-8B61-6668FFA8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293"/>
          <a:stretch>
            <a:fillRect/>
          </a:stretch>
        </p:blipFill>
        <p:spPr>
          <a:xfrm>
            <a:off x="347331" y="3814153"/>
            <a:ext cx="5748669" cy="596931"/>
          </a:xfrm>
          <a:prstGeom prst="rect">
            <a:avLst/>
          </a:prstGeom>
        </p:spPr>
      </p:pic>
      <p:pic>
        <p:nvPicPr>
          <p:cNvPr id="7" name="Picture 7" descr="Image result for ub logo">
            <a:extLst>
              <a:ext uri="{FF2B5EF4-FFF2-40B4-BE49-F238E27FC236}">
                <a16:creationId xmlns:a16="http://schemas.microsoft.com/office/drawing/2014/main" id="{518F31E1-F176-6BFF-DF5E-8296B3EC1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86B81A-8AFC-4DAF-19BD-04F96FC22B83}"/>
              </a:ext>
            </a:extLst>
          </p:cNvPr>
          <p:cNvSpPr txBox="1"/>
          <p:nvPr/>
        </p:nvSpPr>
        <p:spPr>
          <a:xfrm>
            <a:off x="1083722" y="96496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Recipes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BCB75F-DBAE-FC53-1985-A6A9AC6B1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85" y="4541719"/>
            <a:ext cx="5189260" cy="2218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2DC436-0D82-D45B-2CFE-0114E5813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14" y="897136"/>
            <a:ext cx="1305947" cy="25318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D95863-BADE-14BD-DB1F-BF4474FC5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578" y="890790"/>
            <a:ext cx="1519810" cy="26688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451CB5-68E0-01F7-26ED-3B5700C35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444" y="799909"/>
            <a:ext cx="4742404" cy="451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84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F19F-EDC2-047B-0F4B-1F6A7A4B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F71AB1-3F41-5412-F521-839CCA6FFE01}"/>
                  </a:ext>
                </a:extLst>
              </p:cNvPr>
              <p:cNvSpPr txBox="1"/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141" y="3641587"/>
                <a:ext cx="3124200" cy="547201"/>
              </a:xfrm>
              <a:prstGeom prst="rect">
                <a:avLst/>
              </a:prstGeom>
              <a:blipFill>
                <a:blip r:embed="rId2"/>
                <a:stretch>
                  <a:fillRect t="-137778" b="-19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2" name="Text Box 6">
            <a:extLst>
              <a:ext uri="{FF2B5EF4-FFF2-40B4-BE49-F238E27FC236}">
                <a16:creationId xmlns:a16="http://schemas.microsoft.com/office/drawing/2014/main" id="{FB758405-7957-F23C-B128-C15B4708D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071" y="2783944"/>
            <a:ext cx="1801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Non-adiabatic Couplings</a:t>
            </a:r>
          </a:p>
        </p:txBody>
      </p:sp>
      <p:sp>
        <p:nvSpPr>
          <p:cNvPr id="10249" name="TextBox 1">
            <a:extLst>
              <a:ext uri="{FF2B5EF4-FFF2-40B4-BE49-F238E27FC236}">
                <a16:creationId xmlns:a16="http://schemas.microsoft.com/office/drawing/2014/main" id="{70B7A089-7A60-55AA-55D1-89F1B2FD5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1" y="1070267"/>
            <a:ext cx="13740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Nuclear dynamics</a:t>
            </a:r>
            <a:endParaRPr lang="en-US" altLang="en-US" sz="1600" dirty="0"/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BF06774E-7651-3779-74D2-1D276B7E1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7533" y="717844"/>
            <a:ext cx="13740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Initialization</a:t>
            </a:r>
          </a:p>
        </p:txBody>
      </p:sp>
      <p:sp>
        <p:nvSpPr>
          <p:cNvPr id="10255" name="TextBox 22">
            <a:extLst>
              <a:ext uri="{FF2B5EF4-FFF2-40B4-BE49-F238E27FC236}">
                <a16:creationId xmlns:a16="http://schemas.microsoft.com/office/drawing/2014/main" id="{096FF78E-C79D-A445-2C30-1372C530F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086" y="5033977"/>
            <a:ext cx="19618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Proposed Hops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2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BD64ECC3-9FAB-2234-05CD-D87E43BEFF9F}"/>
              </a:ext>
            </a:extLst>
          </p:cNvPr>
          <p:cNvSpPr/>
          <p:nvPr/>
        </p:nvSpPr>
        <p:spPr>
          <a:xfrm rot="5400000">
            <a:off x="7825984" y="147096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4F212-985B-1110-4C42-2070FEECF1CF}"/>
                  </a:ext>
                </a:extLst>
              </p:cNvPr>
              <p:cNvSpPr txBox="1"/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5162866"/>
                <a:ext cx="2249270" cy="560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BFD301-DC21-46C1-FE61-121FC6A63595}"/>
                  </a:ext>
                </a:extLst>
              </p:cNvPr>
              <p:cNvSpPr txBox="1"/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452" y="2711605"/>
                <a:ext cx="3835789" cy="547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32183A-DE34-5BF7-876E-3FC474D1A39F}"/>
                  </a:ext>
                </a:extLst>
              </p:cNvPr>
              <p:cNvSpPr txBox="1"/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1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12" y="1054767"/>
                <a:ext cx="1595501" cy="437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80FBF3-B17D-B226-1ED4-9186E4FD85A1}"/>
                  </a:ext>
                </a:extLst>
              </p:cNvPr>
              <p:cNvSpPr txBox="1"/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117" y="1964273"/>
                <a:ext cx="1249765" cy="313612"/>
              </a:xfrm>
              <a:prstGeom prst="rect">
                <a:avLst/>
              </a:prstGeom>
              <a:blipFill>
                <a:blip r:embed="rId6"/>
                <a:stretch>
                  <a:fillRect t="-3846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3841F61-309E-4B13-ACF8-EB35108CC1AF}"/>
              </a:ext>
            </a:extLst>
          </p:cNvPr>
          <p:cNvSpPr/>
          <p:nvPr/>
        </p:nvSpPr>
        <p:spPr>
          <a:xfrm>
            <a:off x="4356026" y="3537654"/>
            <a:ext cx="215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600" b="1" dirty="0">
                <a:solidFill>
                  <a:srgbClr val="008000"/>
                </a:solidFill>
              </a:rPr>
              <a:t>Integrate Coherent Electronic Dynamics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07EDE2A3-20C4-69EE-5183-FA55BF614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886" y="1968569"/>
            <a:ext cx="20064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Stationary adiabatic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740AE47-24EC-8ABC-6EEC-8BD11D2476D9}"/>
                  </a:ext>
                </a:extLst>
              </p:cNvPr>
              <p:cNvSpPr/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44" y="3547016"/>
                <a:ext cx="2565831" cy="615168"/>
              </a:xfrm>
              <a:prstGeom prst="rect">
                <a:avLst/>
              </a:prstGeom>
              <a:blipFill>
                <a:blip r:embed="rId7"/>
                <a:stretch>
                  <a:fillRect t="-115842" r="-238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28">
            <a:extLst>
              <a:ext uri="{FF2B5EF4-FFF2-40B4-BE49-F238E27FC236}">
                <a16:creationId xmlns:a16="http://schemas.microsoft.com/office/drawing/2014/main" id="{5BB719CE-96E3-CC08-CB9E-F6936FDDD802}"/>
              </a:ext>
            </a:extLst>
          </p:cNvPr>
          <p:cNvSpPr/>
          <p:nvPr/>
        </p:nvSpPr>
        <p:spPr>
          <a:xfrm rot="5400000">
            <a:off x="7841638" y="230255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C83FBCE-0670-4266-0590-A727D77F3093}"/>
              </a:ext>
            </a:extLst>
          </p:cNvPr>
          <p:cNvSpPr/>
          <p:nvPr/>
        </p:nvSpPr>
        <p:spPr>
          <a:xfrm rot="5400000">
            <a:off x="7824497" y="320841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E23260A-29B0-FD00-670A-68003F883767}"/>
              </a:ext>
            </a:extLst>
          </p:cNvPr>
          <p:cNvSpPr/>
          <p:nvPr/>
        </p:nvSpPr>
        <p:spPr>
          <a:xfrm rot="5400000">
            <a:off x="7841637" y="3978937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A2DF0F9A-EBEB-21B9-6CC8-25D40AE4E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4395473"/>
            <a:ext cx="23456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Decoherence 1</a:t>
            </a:r>
            <a:endParaRPr lang="en-US" altLang="en-US" sz="1600" dirty="0"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BA9BEFB0-96C9-D65E-3446-C16AFDE10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275" y="5764881"/>
            <a:ext cx="220297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Accept 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B53CF-2E79-A297-A524-D969029487B6}"/>
              </a:ext>
            </a:extLst>
          </p:cNvPr>
          <p:cNvSpPr txBox="1"/>
          <p:nvPr/>
        </p:nvSpPr>
        <p:spPr>
          <a:xfrm>
            <a:off x="8759952" y="5208743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 as in DISH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014B2C-5296-9C37-7A27-CC618B813B42}"/>
                  </a:ext>
                </a:extLst>
              </p:cNvPr>
              <p:cNvSpPr txBox="1"/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4357685"/>
                <a:ext cx="2052998" cy="488660"/>
              </a:xfrm>
              <a:prstGeom prst="rect">
                <a:avLst/>
              </a:prstGeom>
              <a:blipFill>
                <a:blip r:embed="rId8"/>
                <a:stretch>
                  <a:fillRect l="-297" r="-207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9A4D233-D9CB-5158-C2C2-C2C448F883DD}"/>
              </a:ext>
            </a:extLst>
          </p:cNvPr>
          <p:cNvSpPr txBox="1"/>
          <p:nvPr/>
        </p:nvSpPr>
        <p:spPr>
          <a:xfrm>
            <a:off x="8879378" y="4461081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in SDM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F1AAE-FE8B-D365-FB87-2C2C14FF953B}"/>
              </a:ext>
            </a:extLst>
          </p:cNvPr>
          <p:cNvSpPr txBox="1"/>
          <p:nvPr/>
        </p:nvSpPr>
        <p:spPr>
          <a:xfrm>
            <a:off x="6315658" y="5834412"/>
            <a:ext cx="154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energy conservation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F92537-8C23-C9D1-661C-5A4EA2B04FCC}"/>
                  </a:ext>
                </a:extLst>
              </p:cNvPr>
              <p:cNvSpPr/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604" y="5803478"/>
                <a:ext cx="2510944" cy="5763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22">
            <a:extLst>
              <a:ext uri="{FF2B5EF4-FFF2-40B4-BE49-F238E27FC236}">
                <a16:creationId xmlns:a16="http://schemas.microsoft.com/office/drawing/2014/main" id="{74D993CC-6925-A82D-2661-A19EF8D89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042" y="6209454"/>
            <a:ext cx="2520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8000"/>
                </a:solidFill>
              </a:rPr>
              <a:t>Change of state/Velocity rescaling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46396-A650-E787-2CE3-75688CB5D828}"/>
              </a:ext>
            </a:extLst>
          </p:cNvPr>
          <p:cNvSpPr txBox="1"/>
          <p:nvPr/>
        </p:nvSpPr>
        <p:spPr>
          <a:xfrm>
            <a:off x="6348970" y="6538887"/>
            <a:ext cx="355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change active electronic state, rescale velocity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BF4DE86F-796E-51B3-2039-1C6CD28F748C}"/>
              </a:ext>
            </a:extLst>
          </p:cNvPr>
          <p:cNvSpPr/>
          <p:nvPr/>
        </p:nvSpPr>
        <p:spPr>
          <a:xfrm rot="2042916">
            <a:off x="6606338" y="79686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FC383504-76A6-6496-E300-1172649F2027}"/>
              </a:ext>
            </a:extLst>
          </p:cNvPr>
          <p:cNvSpPr/>
          <p:nvPr/>
        </p:nvSpPr>
        <p:spPr>
          <a:xfrm rot="5400000">
            <a:off x="7824497" y="4683838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7D029EE4-2BFD-B0A7-8C82-DF6A640E3A69}"/>
              </a:ext>
            </a:extLst>
          </p:cNvPr>
          <p:cNvSpPr/>
          <p:nvPr/>
        </p:nvSpPr>
        <p:spPr>
          <a:xfrm rot="5400000">
            <a:off x="7824497" y="5657201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CCC69828-58CB-2B35-06EC-988701311344}"/>
              </a:ext>
            </a:extLst>
          </p:cNvPr>
          <p:cNvSpPr/>
          <p:nvPr/>
        </p:nvSpPr>
        <p:spPr>
          <a:xfrm rot="5400000">
            <a:off x="7841636" y="6123902"/>
            <a:ext cx="369522" cy="511907"/>
          </a:xfrm>
          <a:prstGeom prst="rightArrow">
            <a:avLst/>
          </a:prstGeom>
          <a:gradFill flip="none" rotWithShape="1">
            <a:gsLst>
              <a:gs pos="0">
                <a:srgbClr val="0000FF"/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20E41D1E-DA9D-42D6-B136-99E5E7927792}"/>
              </a:ext>
            </a:extLst>
          </p:cNvPr>
          <p:cNvCxnSpPr>
            <a:stCxn id="17" idx="3"/>
            <a:endCxn id="10" idx="3"/>
          </p:cNvCxnSpPr>
          <p:nvPr/>
        </p:nvCxnSpPr>
        <p:spPr>
          <a:xfrm flipH="1" flipV="1">
            <a:off x="8651612" y="1273353"/>
            <a:ext cx="1564122" cy="5419423"/>
          </a:xfrm>
          <a:prstGeom prst="bentConnector3">
            <a:avLst>
              <a:gd name="adj1" fmla="val -104060"/>
            </a:avLst>
          </a:prstGeom>
          <a:ln w="63500"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0000FF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Multiply 38">
            <a:extLst>
              <a:ext uri="{FF2B5EF4-FFF2-40B4-BE49-F238E27FC236}">
                <a16:creationId xmlns:a16="http://schemas.microsoft.com/office/drawing/2014/main" id="{5190444B-4B3A-08CE-8472-F94F2958D6AA}"/>
              </a:ext>
            </a:extLst>
          </p:cNvPr>
          <p:cNvSpPr/>
          <p:nvPr/>
        </p:nvSpPr>
        <p:spPr>
          <a:xfrm>
            <a:off x="11304805" y="3428504"/>
            <a:ext cx="1066800" cy="10162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27AB2F-CC36-DF18-631F-E7047856C24C}"/>
              </a:ext>
            </a:extLst>
          </p:cNvPr>
          <p:cNvSpPr txBox="1"/>
          <p:nvPr/>
        </p:nvSpPr>
        <p:spPr>
          <a:xfrm>
            <a:off x="11384580" y="3714078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51E54-3A5E-93C4-4CEE-3A4BF7E7CEBA}"/>
              </a:ext>
            </a:extLst>
          </p:cNvPr>
          <p:cNvSpPr txBox="1"/>
          <p:nvPr/>
        </p:nvSpPr>
        <p:spPr>
          <a:xfrm>
            <a:off x="1083722" y="96496"/>
            <a:ext cx="93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Part 4.11: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Observables and Properties</a:t>
            </a:r>
          </a:p>
        </p:txBody>
      </p:sp>
      <p:pic>
        <p:nvPicPr>
          <p:cNvPr id="2" name="Picture 1" descr="Image result for ub logo">
            <a:extLst>
              <a:ext uri="{FF2B5EF4-FFF2-40B4-BE49-F238E27FC236}">
                <a16:creationId xmlns:a16="http://schemas.microsoft.com/office/drawing/2014/main" id="{062118B8-A5C9-9AAE-B7F7-FA684B3A2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0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6A02DC6-BABC-3539-77E4-2D4168EE481C}"/>
              </a:ext>
            </a:extLst>
          </p:cNvPr>
          <p:cNvSpPr/>
          <p:nvPr/>
        </p:nvSpPr>
        <p:spPr>
          <a:xfrm>
            <a:off x="77251" y="2750378"/>
            <a:ext cx="43385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NAC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Hammes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-Schiffer, S.; Tully, J. C.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1994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4657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BCF8EE2F-F911-703A-F016-5D0AB07AC5BB}"/>
              </a:ext>
            </a:extLst>
          </p:cNvPr>
          <p:cNvSpPr/>
          <p:nvPr/>
        </p:nvSpPr>
        <p:spPr>
          <a:xfrm>
            <a:off x="60450" y="3060978"/>
            <a:ext cx="39376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/>
              <a:t>Phase tracking</a:t>
            </a:r>
            <a:r>
              <a:rPr lang="en-US" sz="1400" dirty="0"/>
              <a:t>: Akimov, A. V. </a:t>
            </a:r>
            <a:r>
              <a:rPr lang="en-US" sz="1400" i="1" dirty="0"/>
              <a:t>JPCL</a:t>
            </a:r>
            <a:r>
              <a:rPr lang="en-US" sz="1400" dirty="0"/>
              <a:t> </a:t>
            </a:r>
            <a:r>
              <a:rPr lang="en-US" sz="1400" b="1" dirty="0"/>
              <a:t>2018</a:t>
            </a:r>
            <a:r>
              <a:rPr lang="en-US" sz="1400" dirty="0"/>
              <a:t>  9, 6096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598FAC4D-8D98-86BB-5EB1-24C99A9204F7}"/>
              </a:ext>
            </a:extLst>
          </p:cNvPr>
          <p:cNvSpPr/>
          <p:nvPr/>
        </p:nvSpPr>
        <p:spPr>
          <a:xfrm>
            <a:off x="77250" y="6211877"/>
            <a:ext cx="3518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NBRA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O. V.; Duncan, W. R.; </a:t>
            </a:r>
            <a:r>
              <a:rPr lang="en-US" sz="1400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Prezhdo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V. V. </a:t>
            </a:r>
            <a:r>
              <a:rPr lang="en-US" sz="1400" i="1" dirty="0" err="1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Surf. Sci.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2009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84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30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A3FBDECC-6801-E493-5B98-326A2898F569}"/>
              </a:ext>
            </a:extLst>
          </p:cNvPr>
          <p:cNvSpPr/>
          <p:nvPr/>
        </p:nvSpPr>
        <p:spPr>
          <a:xfrm>
            <a:off x="24337" y="3385111"/>
            <a:ext cx="4181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Local Diabatization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Persico, M.;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Toniolo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A.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2001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114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10608;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Plasser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F.;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G.;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Pittner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J. et al.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2012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137, 22A514; </a:t>
            </a:r>
            <a:r>
              <a:rPr lang="en-US" sz="1400" dirty="0" err="1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Shakiba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M.; Akimov, A. V. </a:t>
            </a:r>
            <a:r>
              <a:rPr lang="en-US" sz="1400" i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TCA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2023</a:t>
            </a:r>
            <a:r>
              <a:rPr lang="en-US" sz="1400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142, 68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41B09FA9-C260-336C-0E40-29589507083C}"/>
              </a:ext>
            </a:extLst>
          </p:cNvPr>
          <p:cNvSpPr/>
          <p:nvPr/>
        </p:nvSpPr>
        <p:spPr>
          <a:xfrm>
            <a:off x="54312" y="4385395"/>
            <a:ext cx="43614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Granucci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G.; Persico, M.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2007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126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134114;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mSDM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Smith, B. A.; Akimov, A. V.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151, 124107;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Nelson, T.; Fernandez-Alberti, S.;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Roitberg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A. E.;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Tretiak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2013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138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224111. </a:t>
            </a:r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D26AEC4E-E022-6B31-0E1F-82424C124408}"/>
              </a:ext>
            </a:extLst>
          </p:cNvPr>
          <p:cNvSpPr/>
          <p:nvPr/>
        </p:nvSpPr>
        <p:spPr>
          <a:xfrm>
            <a:off x="54313" y="5380130"/>
            <a:ext cx="29064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FSSH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Tully, J. C. </a:t>
            </a:r>
            <a:r>
              <a:rPr lang="en-US" sz="1400" i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JCP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1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1990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93, 1061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09B70-F34B-DAFD-B3E5-5D22382FB9BD}"/>
              </a:ext>
            </a:extLst>
          </p:cNvPr>
          <p:cNvSpPr txBox="1"/>
          <p:nvPr/>
        </p:nvSpPr>
        <p:spPr>
          <a:xfrm>
            <a:off x="9035890" y="1762218"/>
            <a:ext cx="2623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analytical models or electronic structure codes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F5934-7D21-8838-3BF7-B7F260B80913}"/>
              </a:ext>
            </a:extLst>
          </p:cNvPr>
          <p:cNvSpPr/>
          <p:nvPr/>
        </p:nvSpPr>
        <p:spPr>
          <a:xfrm>
            <a:off x="6315658" y="1013108"/>
            <a:ext cx="5717277" cy="5844892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136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10AF5ACD-ACF0-4EAF-33E7-2638BB8B6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3B9F1E-9B1B-9F05-1DD8-984302728793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Properties and variables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AFAA27-50B8-8E97-98F3-38A5915FEBD2}"/>
              </a:ext>
            </a:extLst>
          </p:cNvPr>
          <p:cNvSpPr txBox="1"/>
          <p:nvPr/>
        </p:nvSpPr>
        <p:spPr>
          <a:xfrm>
            <a:off x="162997" y="964848"/>
            <a:ext cx="515847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"</a:t>
            </a:r>
            <a:r>
              <a:rPr lang="en-US" sz="1600" dirty="0" err="1"/>
              <a:t>properties_to_save</a:t>
            </a:r>
            <a:r>
              <a:rPr lang="en-US" sz="1600" dirty="0"/>
              <a:t>": […, "states",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SH_pop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SH_pop_raw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se_pop_adi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se_pop_dia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sh_pop_adi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D_adi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D_adi_raw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D_dia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D_dia_raw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"q",</a:t>
            </a:r>
          </a:p>
          <a:p>
            <a:r>
              <a:rPr lang="en-US" sz="1600" dirty="0"/>
              <a:t>                                                  "p",</a:t>
            </a:r>
          </a:p>
          <a:p>
            <a:r>
              <a:rPr lang="en-US" sz="1600" dirty="0"/>
              <a:t>                                                  "f",</a:t>
            </a:r>
          </a:p>
          <a:p>
            <a:r>
              <a:rPr lang="en-US" sz="1600" dirty="0"/>
              <a:t>                                                  "Cadi",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Cdia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q_mm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p_mm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hvib_adi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hvib_dia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"St",</a:t>
            </a:r>
          </a:p>
          <a:p>
            <a:r>
              <a:rPr lang="en-US" sz="1600" dirty="0"/>
              <a:t>                                                  "</a:t>
            </a:r>
            <a:r>
              <a:rPr lang="en-US" sz="1600" dirty="0" err="1"/>
              <a:t>basis_transform</a:t>
            </a:r>
            <a:r>
              <a:rPr lang="en-US" sz="1600" dirty="0"/>
              <a:t>",</a:t>
            </a:r>
          </a:p>
          <a:p>
            <a:r>
              <a:rPr lang="en-US" sz="1600" dirty="0"/>
              <a:t>                                                  "projector“, …]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3ECF2-AA14-4457-3023-D521462FEC8B}"/>
              </a:ext>
            </a:extLst>
          </p:cNvPr>
          <p:cNvSpPr txBox="1"/>
          <p:nvPr/>
        </p:nvSpPr>
        <p:spPr>
          <a:xfrm>
            <a:off x="4589063" y="3522634"/>
            <a:ext cx="6856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</a:t>
            </a:r>
            <a:r>
              <a:rPr lang="en-US" dirty="0" err="1"/>
              <a:t>mem_output_level</a:t>
            </a:r>
            <a:r>
              <a:rPr lang="en-US" dirty="0"/>
              <a:t>": -1</a:t>
            </a:r>
          </a:p>
          <a:p>
            <a:r>
              <a:rPr lang="en-US" dirty="0"/>
              <a:t>1 – </a:t>
            </a:r>
            <a:r>
              <a:rPr lang="en-US" dirty="0">
                <a:solidFill>
                  <a:srgbClr val="FF0000"/>
                </a:solidFill>
              </a:rPr>
              <a:t>1D</a:t>
            </a:r>
            <a:r>
              <a:rPr lang="en-US" dirty="0"/>
              <a:t>:  e.g. </a:t>
            </a:r>
            <a:r>
              <a:rPr lang="en-US" dirty="0">
                <a:solidFill>
                  <a:srgbClr val="FF0000"/>
                </a:solidFill>
              </a:rPr>
              <a:t>`time[timestep]`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`</a:t>
            </a:r>
            <a:r>
              <a:rPr lang="en-US" dirty="0" err="1">
                <a:solidFill>
                  <a:srgbClr val="FF0000"/>
                </a:solidFill>
              </a:rPr>
              <a:t>Epot_ave</a:t>
            </a:r>
            <a:r>
              <a:rPr lang="en-US" dirty="0">
                <a:solidFill>
                  <a:srgbClr val="FF0000"/>
                </a:solidFill>
              </a:rPr>
              <a:t>[timestep]`</a:t>
            </a:r>
          </a:p>
          <a:p>
            <a:r>
              <a:rPr lang="en-US" dirty="0"/>
              <a:t>2 – </a:t>
            </a:r>
            <a:r>
              <a:rPr lang="en-US" dirty="0">
                <a:solidFill>
                  <a:srgbClr val="0000FF"/>
                </a:solidFill>
              </a:rPr>
              <a:t>2D</a:t>
            </a:r>
            <a:r>
              <a:rPr lang="en-US" dirty="0"/>
              <a:t>:  e.g. </a:t>
            </a:r>
            <a:r>
              <a:rPr lang="en-US" dirty="0">
                <a:solidFill>
                  <a:srgbClr val="0000FF"/>
                </a:solidFill>
              </a:rPr>
              <a:t>`</a:t>
            </a:r>
            <a:r>
              <a:rPr lang="en-US" dirty="0" err="1">
                <a:solidFill>
                  <a:srgbClr val="0000FF"/>
                </a:solidFill>
              </a:rPr>
              <a:t>se_pop_adi</a:t>
            </a:r>
            <a:r>
              <a:rPr lang="en-US" dirty="0">
                <a:solidFill>
                  <a:srgbClr val="0000FF"/>
                </a:solidFill>
              </a:rPr>
              <a:t>[timestep, </a:t>
            </a:r>
            <a:r>
              <a:rPr lang="en-US" dirty="0" err="1">
                <a:solidFill>
                  <a:srgbClr val="0000FF"/>
                </a:solidFill>
              </a:rPr>
              <a:t>istate</a:t>
            </a:r>
            <a:r>
              <a:rPr lang="en-US" dirty="0">
                <a:solidFill>
                  <a:srgbClr val="0000FF"/>
                </a:solidFill>
              </a:rPr>
              <a:t>]`</a:t>
            </a:r>
            <a:r>
              <a:rPr lang="en-US" dirty="0"/>
              <a:t> or </a:t>
            </a:r>
            <a:r>
              <a:rPr lang="en-US" dirty="0">
                <a:solidFill>
                  <a:srgbClr val="0000FF"/>
                </a:solidFill>
              </a:rPr>
              <a:t>`states[timestep, </a:t>
            </a:r>
            <a:r>
              <a:rPr lang="en-US" dirty="0" err="1">
                <a:solidFill>
                  <a:srgbClr val="0000FF"/>
                </a:solidFill>
              </a:rPr>
              <a:t>itraj</a:t>
            </a:r>
            <a:r>
              <a:rPr lang="en-US" dirty="0">
                <a:solidFill>
                  <a:srgbClr val="0000FF"/>
                </a:solidFill>
              </a:rPr>
              <a:t>]`</a:t>
            </a:r>
          </a:p>
          <a:p>
            <a:r>
              <a:rPr lang="en-US" dirty="0"/>
              <a:t>3 – </a:t>
            </a:r>
            <a:r>
              <a:rPr lang="en-US" dirty="0">
                <a:solidFill>
                  <a:srgbClr val="008000"/>
                </a:solidFill>
              </a:rPr>
              <a:t>3D</a:t>
            </a:r>
            <a:r>
              <a:rPr lang="en-US" dirty="0"/>
              <a:t>: e.g. </a:t>
            </a:r>
            <a:r>
              <a:rPr lang="en-US" dirty="0">
                <a:solidFill>
                  <a:srgbClr val="008000"/>
                </a:solidFill>
              </a:rPr>
              <a:t>Cadi[timestep, </a:t>
            </a:r>
            <a:r>
              <a:rPr lang="en-US" dirty="0" err="1">
                <a:solidFill>
                  <a:srgbClr val="008000"/>
                </a:solidFill>
              </a:rPr>
              <a:t>istate</a:t>
            </a:r>
            <a:r>
              <a:rPr lang="en-US" dirty="0">
                <a:solidFill>
                  <a:srgbClr val="008000"/>
                </a:solidFill>
              </a:rPr>
              <a:t>, </a:t>
            </a:r>
            <a:r>
              <a:rPr lang="en-US" dirty="0" err="1">
                <a:solidFill>
                  <a:srgbClr val="008000"/>
                </a:solidFill>
              </a:rPr>
              <a:t>itraj</a:t>
            </a:r>
            <a:r>
              <a:rPr lang="en-US" dirty="0">
                <a:solidFill>
                  <a:srgbClr val="008000"/>
                </a:solidFill>
              </a:rPr>
              <a:t>]</a:t>
            </a:r>
          </a:p>
          <a:p>
            <a:r>
              <a:rPr lang="en-US" dirty="0"/>
              <a:t>4 – 4D: e.g. St</a:t>
            </a:r>
          </a:p>
          <a:p>
            <a:r>
              <a:rPr lang="en-US" dirty="0"/>
              <a:t>5  - 5D: only </a:t>
            </a:r>
            <a:r>
              <a:rPr lang="en-US" dirty="0">
                <a:solidFill>
                  <a:srgbClr val="7030A0"/>
                </a:solidFill>
              </a:rPr>
              <a:t>`dc1_adi[timestep, </a:t>
            </a:r>
            <a:r>
              <a:rPr lang="en-US" dirty="0" err="1">
                <a:solidFill>
                  <a:srgbClr val="7030A0"/>
                </a:solidFill>
              </a:rPr>
              <a:t>itraj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idof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istate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jstate</a:t>
            </a:r>
            <a:r>
              <a:rPr lang="en-US" dirty="0">
                <a:solidFill>
                  <a:srgbClr val="7030A0"/>
                </a:solidFill>
              </a:rPr>
              <a:t>]` </a:t>
            </a:r>
            <a:r>
              <a:rPr lang="en-US" dirty="0"/>
              <a:t>so far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A00821-8F2C-11D8-79BA-679669C96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528" y="1158933"/>
            <a:ext cx="7434342" cy="137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765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849282CE-1F74-207D-86E9-5FFC11914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E475B6-E4D3-3AD8-3A1C-11E9343FBD9F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1D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7DD43-353D-CDD1-8683-6D504EBEDD5C}"/>
              </a:ext>
            </a:extLst>
          </p:cNvPr>
          <p:cNvSpPr txBox="1"/>
          <p:nvPr/>
        </p:nvSpPr>
        <p:spPr>
          <a:xfrm>
            <a:off x="605313" y="1120086"/>
            <a:ext cx="30648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["timestep",   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"time",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Ekin_ave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Epot_ave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Etot_ave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dEkin_ave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dEpot_ave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"</a:t>
            </a:r>
            <a:r>
              <a:rPr lang="en-US" sz="1800" dirty="0" err="1">
                <a:solidFill>
                  <a:srgbClr val="FF0000"/>
                </a:solidFill>
              </a:rPr>
              <a:t>dEtot_ave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sz="1800" dirty="0" err="1">
                <a:solidFill>
                  <a:srgbClr val="FF0000"/>
                </a:solidFill>
              </a:rPr>
              <a:t>E</a:t>
            </a:r>
            <a:r>
              <a:rPr lang="en-US" dirty="0" err="1">
                <a:solidFill>
                  <a:srgbClr val="FF0000"/>
                </a:solidFill>
              </a:rPr>
              <a:t>therm</a:t>
            </a:r>
            <a:r>
              <a:rPr lang="en-US" sz="1800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“E_NHC”,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tcnbra_ekin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tcnbra_thermostat_energy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Ekin_ave_qtsh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ekin_aux_var</a:t>
            </a:r>
            <a:r>
              <a:rPr lang="en-US" dirty="0">
                <a:solidFill>
                  <a:srgbClr val="FF0000"/>
                </a:solidFill>
              </a:rPr>
              <a:t>”]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A65189-8D68-E726-E165-BB8B5187E008}"/>
              </a:ext>
            </a:extLst>
          </p:cNvPr>
          <p:cNvSpPr txBox="1"/>
          <p:nvPr/>
        </p:nvSpPr>
        <p:spPr>
          <a:xfrm>
            <a:off x="3306029" y="1120086"/>
            <a:ext cx="2552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axis (integer steps)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3DE936-83E5-4EF4-F9EA-985836055560}"/>
              </a:ext>
            </a:extLst>
          </p:cNvPr>
          <p:cNvSpPr txBox="1"/>
          <p:nvPr/>
        </p:nvSpPr>
        <p:spPr>
          <a:xfrm>
            <a:off x="3306029" y="1404498"/>
            <a:ext cx="2508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axis (</a:t>
            </a:r>
            <a:r>
              <a:rPr lang="en-US" dirty="0" err="1"/>
              <a:t>a.u</a:t>
            </a:r>
            <a:r>
              <a:rPr lang="en-US" dirty="0"/>
              <a:t>. of time)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2459F3-6CAB-2648-8D2E-605C3C80B6C4}"/>
              </a:ext>
            </a:extLst>
          </p:cNvPr>
          <p:cNvSpPr txBox="1"/>
          <p:nvPr/>
        </p:nvSpPr>
        <p:spPr>
          <a:xfrm>
            <a:off x="3350172" y="1665502"/>
            <a:ext cx="2508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kinetic energy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73E37-3B80-8251-CF07-4DE67E6424C3}"/>
              </a:ext>
            </a:extLst>
          </p:cNvPr>
          <p:cNvSpPr txBox="1"/>
          <p:nvPr/>
        </p:nvSpPr>
        <p:spPr>
          <a:xfrm>
            <a:off x="3328100" y="1926506"/>
            <a:ext cx="2788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potential energy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BDA12-76FA-CDAA-C3AC-E6658C5201FD}"/>
              </a:ext>
            </a:extLst>
          </p:cNvPr>
          <p:cNvSpPr txBox="1"/>
          <p:nvPr/>
        </p:nvSpPr>
        <p:spPr>
          <a:xfrm>
            <a:off x="3350172" y="2187510"/>
            <a:ext cx="2136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total energy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6BE20E-AE4E-92C2-0A58-BD92E3517857}"/>
              </a:ext>
            </a:extLst>
          </p:cNvPr>
          <p:cNvSpPr txBox="1"/>
          <p:nvPr/>
        </p:nvSpPr>
        <p:spPr>
          <a:xfrm>
            <a:off x="3328100" y="2471922"/>
            <a:ext cx="3668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Fluctuation of average kinetic energy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E337C-09DA-012E-0845-1B5880481675}"/>
              </a:ext>
            </a:extLst>
          </p:cNvPr>
          <p:cNvSpPr txBox="1"/>
          <p:nvPr/>
        </p:nvSpPr>
        <p:spPr>
          <a:xfrm>
            <a:off x="3328100" y="2732926"/>
            <a:ext cx="4097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Fluctuation of average potential energy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72E4E-C1AA-F459-DDF0-02E7F137963D}"/>
              </a:ext>
            </a:extLst>
          </p:cNvPr>
          <p:cNvSpPr txBox="1"/>
          <p:nvPr/>
        </p:nvSpPr>
        <p:spPr>
          <a:xfrm>
            <a:off x="3328100" y="3017338"/>
            <a:ext cx="3772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Fluctuation of average total energy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7F90ED-E3EF-76E7-6E50-39CC2977D6D0}"/>
              </a:ext>
            </a:extLst>
          </p:cNvPr>
          <p:cNvSpPr txBox="1"/>
          <p:nvPr/>
        </p:nvSpPr>
        <p:spPr>
          <a:xfrm>
            <a:off x="3345525" y="3301750"/>
            <a:ext cx="246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Thermostat energy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E394A5-1F09-5D48-0D5E-E32E0B6ED9F4}"/>
              </a:ext>
            </a:extLst>
          </p:cNvPr>
          <p:cNvSpPr txBox="1"/>
          <p:nvPr/>
        </p:nvSpPr>
        <p:spPr>
          <a:xfrm>
            <a:off x="3345525" y="3539346"/>
            <a:ext cx="2929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System + thermostat energy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1A6D5E-E345-AA50-851A-827C61CDAEB0}"/>
              </a:ext>
            </a:extLst>
          </p:cNvPr>
          <p:cNvSpPr txBox="1"/>
          <p:nvPr/>
        </p:nvSpPr>
        <p:spPr>
          <a:xfrm>
            <a:off x="3345525" y="3827994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TC-NBRA kinetic energy - averaged over all trajectories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FD5419-19FD-53E6-5A3D-7FCF53406637}"/>
              </a:ext>
            </a:extLst>
          </p:cNvPr>
          <p:cNvSpPr txBox="1"/>
          <p:nvPr/>
        </p:nvSpPr>
        <p:spPr>
          <a:xfrm>
            <a:off x="3406929" y="4142908"/>
            <a:ext cx="3201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TC-NBRA thermostat energy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9D138D-2316-B105-0355-9BCC03C45213}"/>
              </a:ext>
            </a:extLst>
          </p:cNvPr>
          <p:cNvSpPr txBox="1"/>
          <p:nvPr/>
        </p:nvSpPr>
        <p:spPr>
          <a:xfrm>
            <a:off x="3406929" y="4396818"/>
            <a:ext cx="3157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kinetic energy in QTSH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2D526B-6434-2209-AEF8-4C743F9098C4}"/>
              </a:ext>
            </a:extLst>
          </p:cNvPr>
          <p:cNvSpPr txBox="1"/>
          <p:nvPr/>
        </p:nvSpPr>
        <p:spPr>
          <a:xfrm>
            <a:off x="3406929" y="4678612"/>
            <a:ext cx="5114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KC-RPMD auxiliary electronic variable kinetic energy</a:t>
            </a:r>
          </a:p>
        </p:txBody>
      </p:sp>
    </p:spTree>
    <p:extLst>
      <p:ext uri="{BB962C8B-B14F-4D97-AF65-F5344CB8AC3E}">
        <p14:creationId xmlns:p14="http://schemas.microsoft.com/office/powerpoint/2010/main" val="3311724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DCA2-44F9-30E0-72D9-77C574F8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41B3EA46-421A-7101-B0C6-D7892ED6A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4D49D-BC80-2FC6-5732-4E675D435F01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2D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B476D-F302-C5AA-6398-E1328EEB3C34}"/>
              </a:ext>
            </a:extLst>
          </p:cNvPr>
          <p:cNvSpPr txBox="1"/>
          <p:nvPr/>
        </p:nvSpPr>
        <p:spPr>
          <a:xfrm>
            <a:off x="416127" y="1166842"/>
            <a:ext cx="30648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["</a:t>
            </a:r>
            <a:r>
              <a:rPr lang="en-US" dirty="0">
                <a:solidFill>
                  <a:srgbClr val="FF0000"/>
                </a:solidFill>
              </a:rPr>
              <a:t>states</a:t>
            </a:r>
            <a:r>
              <a:rPr lang="en-US" sz="1800" dirty="0">
                <a:solidFill>
                  <a:srgbClr val="FF0000"/>
                </a:solidFill>
              </a:rPr>
              <a:t>",   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states_dia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se_pop_adi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sz="1800" dirty="0" err="1">
                <a:solidFill>
                  <a:srgbClr val="FF0000"/>
                </a:solidFill>
              </a:rPr>
              <a:t>se_pop_dia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 “</a:t>
            </a:r>
            <a:r>
              <a:rPr lang="en-US" sz="1800" dirty="0" err="1">
                <a:solidFill>
                  <a:srgbClr val="FF0000"/>
                </a:solidFill>
              </a:rPr>
              <a:t>sh_pop_adi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sz="1800" dirty="0" err="1">
                <a:solidFill>
                  <a:srgbClr val="FF0000"/>
                </a:solidFill>
              </a:rPr>
              <a:t>sh_pop_dia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sh_pop_adi_TR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sh_pop_dia_TR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mash_pop_adi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mash_pop_dia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  “fssh3_average_errors”,</a:t>
            </a: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y_aux_var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p_aux_var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 “</a:t>
            </a:r>
            <a:r>
              <a:rPr lang="en-US" sz="1800" dirty="0" err="1">
                <a:solidFill>
                  <a:srgbClr val="FF0000"/>
                </a:solidFill>
              </a:rPr>
              <a:t>f_aux_var</a:t>
            </a:r>
            <a:r>
              <a:rPr lang="en-US" sz="1800" dirty="0">
                <a:solidFill>
                  <a:srgbClr val="FF0000"/>
                </a:solidFill>
              </a:rPr>
              <a:t>”</a:t>
            </a:r>
          </a:p>
          <a:p>
            <a:r>
              <a:rPr lang="en-US" dirty="0">
                <a:solidFill>
                  <a:srgbClr val="FF0000"/>
                </a:solidFill>
              </a:rPr>
              <a:t>]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60DE1-89E3-1690-1994-DBF7B74103BC}"/>
              </a:ext>
            </a:extLst>
          </p:cNvPr>
          <p:cNvSpPr txBox="1"/>
          <p:nvPr/>
        </p:nvSpPr>
        <p:spPr>
          <a:xfrm>
            <a:off x="2807838" y="1070269"/>
            <a:ext cx="683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instantaneous adiabatic states,  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218AF-98A8-E7B1-4844-7B66B90EEFF4}"/>
              </a:ext>
            </a:extLst>
          </p:cNvPr>
          <p:cNvSpPr txBox="1"/>
          <p:nvPr/>
        </p:nvSpPr>
        <p:spPr>
          <a:xfrm>
            <a:off x="2807838" y="1304752"/>
            <a:ext cx="65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instantaneous diabatic states, 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F31904-53EA-8532-59FF-24ABC784894A}"/>
                  </a:ext>
                </a:extLst>
              </p:cNvPr>
              <p:cNvSpPr txBox="1"/>
              <p:nvPr/>
            </p:nvSpPr>
            <p:spPr>
              <a:xfrm>
                <a:off x="2825263" y="1539235"/>
                <a:ext cx="8761424" cy="587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Average adiabatic SE populations, </a:t>
                </a:r>
                <a:r>
                  <a:rPr lang="en-US" dirty="0" err="1"/>
                  <a:t>nsteps</a:t>
                </a:r>
                <a:r>
                  <a:rPr lang="en-US" dirty="0"/>
                  <a:t> x </a:t>
                </a:r>
                <a:r>
                  <a:rPr lang="en-US" dirty="0" err="1"/>
                  <a:t>nstates</a:t>
                </a:r>
                <a:r>
                  <a:rPr lang="en-US" dirty="0"/>
                  <a:t>,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𝑎𝑑𝑖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F31904-53EA-8532-59FF-24ABC7848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263" y="1539235"/>
                <a:ext cx="8761424" cy="587277"/>
              </a:xfrm>
              <a:prstGeom prst="rect">
                <a:avLst/>
              </a:prstGeom>
              <a:blipFill>
                <a:blip r:embed="rId3"/>
                <a:stretch>
                  <a:fillRect l="-556" t="-59794" b="-9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991E4E-27CF-B98C-85DF-0485D205DDA8}"/>
                  </a:ext>
                </a:extLst>
              </p:cNvPr>
              <p:cNvSpPr txBox="1"/>
              <p:nvPr/>
            </p:nvSpPr>
            <p:spPr>
              <a:xfrm>
                <a:off x="2807838" y="2087119"/>
                <a:ext cx="8761424" cy="587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Average diabatic SE populations, </a:t>
                </a:r>
                <a:r>
                  <a:rPr lang="en-US" dirty="0" err="1"/>
                  <a:t>nsteps</a:t>
                </a:r>
                <a:r>
                  <a:rPr lang="en-US" dirty="0"/>
                  <a:t> x </a:t>
                </a:r>
                <a:r>
                  <a:rPr lang="en-US" dirty="0" err="1"/>
                  <a:t>nstates</a:t>
                </a:r>
                <a:r>
                  <a:rPr lang="en-US" dirty="0"/>
                  <a:t>,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𝑑𝑖𝑎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991E4E-27CF-B98C-85DF-0485D205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838" y="2087119"/>
                <a:ext cx="8761424" cy="587277"/>
              </a:xfrm>
              <a:prstGeom prst="rect">
                <a:avLst/>
              </a:prstGeom>
              <a:blipFill>
                <a:blip r:embed="rId4"/>
                <a:stretch>
                  <a:fillRect l="-626" t="-60825" b="-9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695D97-952B-913D-F729-D769FFE48968}"/>
                  </a:ext>
                </a:extLst>
              </p:cNvPr>
              <p:cNvSpPr txBox="1"/>
              <p:nvPr/>
            </p:nvSpPr>
            <p:spPr>
              <a:xfrm>
                <a:off x="2807838" y="2648520"/>
                <a:ext cx="8656846" cy="619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Average adiabatic SH populations, </a:t>
                </a:r>
                <a:r>
                  <a:rPr lang="en-US" dirty="0" err="1"/>
                  <a:t>nsteps</a:t>
                </a:r>
                <a:r>
                  <a:rPr lang="en-US" dirty="0"/>
                  <a:t> x </a:t>
                </a:r>
                <a:r>
                  <a:rPr lang="en-US" dirty="0" err="1"/>
                  <a:t>nstates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𝑎𝑑𝑖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695D97-952B-913D-F729-D769FFE48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838" y="2648520"/>
                <a:ext cx="8656846" cy="619785"/>
              </a:xfrm>
              <a:prstGeom prst="rect">
                <a:avLst/>
              </a:prstGeom>
              <a:blipFill>
                <a:blip r:embed="rId5"/>
                <a:stretch>
                  <a:fillRect l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C4972F-EAF6-F999-D9C5-255078629D71}"/>
                  </a:ext>
                </a:extLst>
              </p:cNvPr>
              <p:cNvSpPr txBox="1"/>
              <p:nvPr/>
            </p:nvSpPr>
            <p:spPr>
              <a:xfrm>
                <a:off x="2763695" y="3215813"/>
                <a:ext cx="8656846" cy="628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Average diabatic SH populations, </a:t>
                </a:r>
                <a:r>
                  <a:rPr lang="en-US" dirty="0" err="1"/>
                  <a:t>nsteps</a:t>
                </a:r>
                <a:r>
                  <a:rPr lang="en-US" dirty="0"/>
                  <a:t> x </a:t>
                </a:r>
                <a:r>
                  <a:rPr lang="en-US" dirty="0" err="1"/>
                  <a:t>nstates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𝑑𝑖𝑎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𝑡𝑟𝑎𝑗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C4972F-EAF6-F999-D9C5-255078629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695" y="3215813"/>
                <a:ext cx="8656846" cy="628570"/>
              </a:xfrm>
              <a:prstGeom prst="rect">
                <a:avLst/>
              </a:prstGeom>
              <a:blipFill>
                <a:blip r:embed="rId6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F486688-5BDA-AAFA-2AB1-87C596DCA3D9}"/>
              </a:ext>
            </a:extLst>
          </p:cNvPr>
          <p:cNvSpPr txBox="1"/>
          <p:nvPr/>
        </p:nvSpPr>
        <p:spPr>
          <a:xfrm>
            <a:off x="2825263" y="3860315"/>
            <a:ext cx="908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adiabatic SH populations from the </a:t>
            </a:r>
            <a:r>
              <a:rPr lang="en-US" dirty="0" err="1"/>
              <a:t>Tempelaar</a:t>
            </a:r>
            <a:r>
              <a:rPr lang="en-US" dirty="0"/>
              <a:t> and Reichman's method,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4A2D75-99B9-E949-91D2-45AF2BE269FF}"/>
              </a:ext>
            </a:extLst>
          </p:cNvPr>
          <p:cNvSpPr txBox="1"/>
          <p:nvPr/>
        </p:nvSpPr>
        <p:spPr>
          <a:xfrm>
            <a:off x="2825263" y="4382323"/>
            <a:ext cx="9206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diabatic SH populations from the </a:t>
            </a:r>
            <a:r>
              <a:rPr lang="en-US" dirty="0" err="1"/>
              <a:t>Tempelaar</a:t>
            </a:r>
            <a:r>
              <a:rPr lang="en-US" dirty="0"/>
              <a:t> and Reichman's method,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6C59A2-7FAD-2FA3-F4B1-56257B6D82FE}"/>
              </a:ext>
            </a:extLst>
          </p:cNvPr>
          <p:cNvSpPr txBox="1"/>
          <p:nvPr/>
        </p:nvSpPr>
        <p:spPr>
          <a:xfrm>
            <a:off x="2807838" y="4671232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adiabatic MASH populations,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ED6D55-066A-2677-3431-AD9E72412A80}"/>
              </a:ext>
            </a:extLst>
          </p:cNvPr>
          <p:cNvSpPr txBox="1"/>
          <p:nvPr/>
        </p:nvSpPr>
        <p:spPr>
          <a:xfrm>
            <a:off x="2807838" y="494943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diabatic MASH populations,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2D58AF-D391-A6B2-3938-F1F819050F7B}"/>
              </a:ext>
            </a:extLst>
          </p:cNvPr>
          <p:cNvSpPr txBox="1"/>
          <p:nvPr/>
        </p:nvSpPr>
        <p:spPr>
          <a:xfrm>
            <a:off x="2908739" y="5264244"/>
            <a:ext cx="437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errors from FSSH3,  </a:t>
            </a:r>
            <a:r>
              <a:rPr lang="en-US" dirty="0" err="1"/>
              <a:t>nsteps</a:t>
            </a:r>
            <a:r>
              <a:rPr lang="en-US" dirty="0"/>
              <a:t> x 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BC769E-BD6E-8632-5BF1-B6CB6937C261}"/>
              </a:ext>
            </a:extLst>
          </p:cNvPr>
          <p:cNvSpPr txBox="1"/>
          <p:nvPr/>
        </p:nvSpPr>
        <p:spPr>
          <a:xfrm>
            <a:off x="2908739" y="5604354"/>
            <a:ext cx="8410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auxiliary electronic variable coordinate in kc-RPMD, </a:t>
            </a:r>
            <a:r>
              <a:rPr lang="en-US" dirty="0" err="1"/>
              <a:t>nsteps</a:t>
            </a:r>
            <a:r>
              <a:rPr lang="en-US" dirty="0"/>
              <a:t> x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60F510-E55B-4795-247F-C5B6F56A749C}"/>
              </a:ext>
            </a:extLst>
          </p:cNvPr>
          <p:cNvSpPr txBox="1"/>
          <p:nvPr/>
        </p:nvSpPr>
        <p:spPr>
          <a:xfrm>
            <a:off x="2908739" y="5882555"/>
            <a:ext cx="7124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auxiliary electronic variable momentum, </a:t>
            </a:r>
            <a:r>
              <a:rPr lang="en-US" dirty="0" err="1"/>
              <a:t>nsteps</a:t>
            </a:r>
            <a:r>
              <a:rPr lang="en-US" dirty="0"/>
              <a:t> x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6D89B-BF8D-C0F4-A6FB-95EF4DB999F2}"/>
              </a:ext>
            </a:extLst>
          </p:cNvPr>
          <p:cNvSpPr txBox="1"/>
          <p:nvPr/>
        </p:nvSpPr>
        <p:spPr>
          <a:xfrm>
            <a:off x="2908739" y="6176363"/>
            <a:ext cx="67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auxiliary electronic variable force, </a:t>
            </a:r>
            <a:r>
              <a:rPr lang="en-US" dirty="0" err="1"/>
              <a:t>nsteps</a:t>
            </a:r>
            <a:r>
              <a:rPr lang="en-US" dirty="0"/>
              <a:t> x 1</a:t>
            </a:r>
          </a:p>
        </p:txBody>
      </p:sp>
    </p:spTree>
    <p:extLst>
      <p:ext uri="{BB962C8B-B14F-4D97-AF65-F5344CB8AC3E}">
        <p14:creationId xmlns:p14="http://schemas.microsoft.com/office/powerpoint/2010/main" val="42857309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D18572A0-80BE-D913-2B7D-1DCD68A6C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3A5EA4-8C8F-DD8B-4334-8EB9A8E81FD5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3D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3F7B3D-974B-9FD1-3746-F1D5AB5BFCA1}"/>
              </a:ext>
            </a:extLst>
          </p:cNvPr>
          <p:cNvSpPr txBox="1"/>
          <p:nvPr/>
        </p:nvSpPr>
        <p:spPr>
          <a:xfrm>
            <a:off x="460270" y="792163"/>
            <a:ext cx="30648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["</a:t>
            </a:r>
            <a:r>
              <a:rPr lang="en-US" dirty="0" err="1">
                <a:solidFill>
                  <a:srgbClr val="FF0000"/>
                </a:solidFill>
              </a:rPr>
              <a:t>coherence_adi</a:t>
            </a:r>
            <a:r>
              <a:rPr lang="en-US" sz="1800" dirty="0">
                <a:solidFill>
                  <a:srgbClr val="FF0000"/>
                </a:solidFill>
              </a:rPr>
              <a:t>",    </a:t>
            </a:r>
          </a:p>
          <a:p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coherence_dia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“q“, “p”, “f”,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 “Cadi”, “</a:t>
            </a:r>
            <a:r>
              <a:rPr lang="en-US" sz="1800" dirty="0" err="1">
                <a:solidFill>
                  <a:srgbClr val="FF0000"/>
                </a:solidFill>
              </a:rPr>
              <a:t>Cdia</a:t>
            </a:r>
            <a:r>
              <a:rPr lang="en-US" sz="1800" dirty="0">
                <a:solidFill>
                  <a:srgbClr val="FF0000"/>
                </a:solidFill>
              </a:rPr>
              <a:t>”,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“</a:t>
            </a:r>
            <a:r>
              <a:rPr lang="en-US" sz="1800" dirty="0" err="1">
                <a:solidFill>
                  <a:srgbClr val="FF0000"/>
                </a:solidFill>
              </a:rPr>
              <a:t>p_quant</a:t>
            </a:r>
            <a:r>
              <a:rPr lang="en-US" sz="1800" dirty="0">
                <a:solidFill>
                  <a:srgbClr val="FF0000"/>
                </a:solidFill>
              </a:rPr>
              <a:t>",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 “</a:t>
            </a:r>
            <a:r>
              <a:rPr lang="en-US" sz="1800" dirty="0" err="1">
                <a:solidFill>
                  <a:srgbClr val="FF0000"/>
                </a:solidFill>
              </a:rPr>
              <a:t>wp_quant</a:t>
            </a:r>
            <a:r>
              <a:rPr lang="en-US" sz="1800" dirty="0">
                <a:solidFill>
                  <a:srgbClr val="FF0000"/>
                </a:solidFill>
              </a:rPr>
              <a:t>”,</a:t>
            </a:r>
          </a:p>
          <a:p>
            <a:r>
              <a:rPr lang="en-US" dirty="0">
                <a:solidFill>
                  <a:srgbClr val="FF0000"/>
                </a:solidFill>
              </a:rPr>
              <a:t> “VP”,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f_xf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qtsh_f_nc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ave_decoherence_rates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  <a:p>
            <a:r>
              <a:rPr lang="en-US" sz="18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5EA30-5A44-3764-C201-289256C0EE63}"/>
              </a:ext>
            </a:extLst>
          </p:cNvPr>
          <p:cNvSpPr txBox="1"/>
          <p:nvPr/>
        </p:nvSpPr>
        <p:spPr>
          <a:xfrm>
            <a:off x="2761051" y="931242"/>
            <a:ext cx="6717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coherence indicator matrices, 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17952-A0BD-87C3-A424-429688119224}"/>
              </a:ext>
            </a:extLst>
          </p:cNvPr>
          <p:cNvSpPr txBox="1"/>
          <p:nvPr/>
        </p:nvSpPr>
        <p:spPr>
          <a:xfrm>
            <a:off x="2761051" y="1309993"/>
            <a:ext cx="8230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coordinates, momenta, and forces, 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5D1FF-0165-C621-C24B-CC66DD94511E}"/>
              </a:ext>
            </a:extLst>
          </p:cNvPr>
          <p:cNvSpPr txBox="1"/>
          <p:nvPr/>
        </p:nvSpPr>
        <p:spPr>
          <a:xfrm>
            <a:off x="2761051" y="1873410"/>
            <a:ext cx="807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(a)diabatic TD-SE amplitudes,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(complex)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C06AB6-2B1D-D42D-73D9-CDA8A7127015}"/>
              </a:ext>
            </a:extLst>
          </p:cNvPr>
          <p:cNvSpPr txBox="1"/>
          <p:nvPr/>
        </p:nvSpPr>
        <p:spPr>
          <a:xfrm>
            <a:off x="2754745" y="2458111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quantum momenta,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4C486-0406-19FF-7555-57EA4E99BE67}"/>
              </a:ext>
            </a:extLst>
          </p:cNvPr>
          <p:cNvSpPr txBox="1"/>
          <p:nvPr/>
        </p:nvSpPr>
        <p:spPr>
          <a:xfrm>
            <a:off x="2772170" y="2740574"/>
            <a:ext cx="807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width parameters for quantum momenta,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8B05C-E962-CB62-C287-E87201FFB38E}"/>
              </a:ext>
            </a:extLst>
          </p:cNvPr>
          <p:cNvSpPr txBox="1"/>
          <p:nvPr/>
        </p:nvSpPr>
        <p:spPr>
          <a:xfrm>
            <a:off x="2754745" y="3030947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exact vector potential,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2C2EE-2CBB-E04C-B09E-E2D08417DC50}"/>
              </a:ext>
            </a:extLst>
          </p:cNvPr>
          <p:cNvSpPr txBox="1"/>
          <p:nvPr/>
        </p:nvSpPr>
        <p:spPr>
          <a:xfrm>
            <a:off x="2754745" y="3562152"/>
            <a:ext cx="7082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decoherence forces based on XF,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DE396F-C144-CF83-AC80-91DFD9FED0DA}"/>
              </a:ext>
            </a:extLst>
          </p:cNvPr>
          <p:cNvSpPr txBox="1"/>
          <p:nvPr/>
        </p:nvSpPr>
        <p:spPr>
          <a:xfrm>
            <a:off x="2754744" y="4060971"/>
            <a:ext cx="695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nonclassical forces in QTSH,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ndof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694551-B0F2-B214-89A7-159ABCE9A7DB}"/>
              </a:ext>
            </a:extLst>
          </p:cNvPr>
          <p:cNvSpPr txBox="1"/>
          <p:nvPr/>
        </p:nvSpPr>
        <p:spPr>
          <a:xfrm>
            <a:off x="3383279" y="4645672"/>
            <a:ext cx="6706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Trajectory-averaged decoherence rates,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927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912F-AC74-4B11-1B81-48625461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ge result for ub logo">
            <a:extLst>
              <a:ext uri="{FF2B5EF4-FFF2-40B4-BE49-F238E27FC236}">
                <a16:creationId xmlns:a16="http://schemas.microsoft.com/office/drawing/2014/main" id="{3660046C-746D-245D-3B29-C7D682E1B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E2E20A-4212-F56B-EE5D-58CB03061268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4D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4DA1A-744F-6DF8-A7DD-1699F3379F4A}"/>
              </a:ext>
            </a:extLst>
          </p:cNvPr>
          <p:cNvSpPr txBox="1"/>
          <p:nvPr/>
        </p:nvSpPr>
        <p:spPr>
          <a:xfrm>
            <a:off x="126041" y="886087"/>
            <a:ext cx="30648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[“</a:t>
            </a:r>
            <a:r>
              <a:rPr lang="en-US" sz="1800" dirty="0" err="1">
                <a:solidFill>
                  <a:srgbClr val="FF0000"/>
                </a:solidFill>
              </a:rPr>
              <a:t>hvia_adi</a:t>
            </a:r>
            <a:r>
              <a:rPr lang="en-US" sz="1800" dirty="0">
                <a:solidFill>
                  <a:srgbClr val="FF0000"/>
                </a:solidFill>
              </a:rPr>
              <a:t>", “</a:t>
            </a:r>
            <a:r>
              <a:rPr lang="en-US" sz="1800" dirty="0" err="1">
                <a:solidFill>
                  <a:srgbClr val="FF0000"/>
                </a:solidFill>
              </a:rPr>
              <a:t>hvib_dia</a:t>
            </a:r>
            <a:r>
              <a:rPr lang="en-US" sz="1800" dirty="0">
                <a:solidFill>
                  <a:srgbClr val="FF0000"/>
                </a:solidFill>
              </a:rPr>
              <a:t>”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“St”,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</a:t>
            </a:r>
            <a:r>
              <a:rPr lang="en-US" dirty="0" err="1">
                <a:solidFill>
                  <a:srgbClr val="FF0000"/>
                </a:solidFill>
              </a:rPr>
              <a:t>basis_transform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“projector”,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q_aux</a:t>
            </a:r>
            <a:r>
              <a:rPr lang="en-US" dirty="0">
                <a:solidFill>
                  <a:srgbClr val="FF0000"/>
                </a:solidFill>
              </a:rPr>
              <a:t>”, “</a:t>
            </a:r>
            <a:r>
              <a:rPr lang="en-US" dirty="0" err="1">
                <a:solidFill>
                  <a:srgbClr val="FF0000"/>
                </a:solidFill>
              </a:rPr>
              <a:t>p_aux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nab_phase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energy_gaps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mean_energy_gaps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“energy_gaps2”,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“mean_energy_gaps2”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energy_gap_fluctuations</a:t>
            </a:r>
            <a:r>
              <a:rPr lang="en-US" dirty="0">
                <a:solidFill>
                  <a:srgbClr val="FF0000"/>
                </a:solidFill>
              </a:rPr>
              <a:t>”,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energy_gap_correlations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7FE73-4C5F-FFAB-FDEE-DAD4D97EC50F}"/>
              </a:ext>
            </a:extLst>
          </p:cNvPr>
          <p:cNvSpPr txBox="1"/>
          <p:nvPr/>
        </p:nvSpPr>
        <p:spPr>
          <a:xfrm>
            <a:off x="2961373" y="933330"/>
            <a:ext cx="910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vibronic (a)diabatic Hamiltonian,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(complex)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47AF6-695E-3BD5-8811-8C8FEDC1EBBC}"/>
              </a:ext>
            </a:extLst>
          </p:cNvPr>
          <p:cNvSpPr txBox="1"/>
          <p:nvPr/>
        </p:nvSpPr>
        <p:spPr>
          <a:xfrm>
            <a:off x="2556115" y="1393918"/>
            <a:ext cx="9635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time-overlaps of the adiabatic states,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(complex)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4FD8C-9074-234B-33BD-053F6852646C}"/>
              </a:ext>
            </a:extLst>
          </p:cNvPr>
          <p:cNvSpPr txBox="1"/>
          <p:nvPr/>
        </p:nvSpPr>
        <p:spPr>
          <a:xfrm>
            <a:off x="2556115" y="1878666"/>
            <a:ext cx="9375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diabatic-to-adiabatic transformation matrices,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 (complex)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3C807-E132-417C-2368-10B0C37A1F0E}"/>
              </a:ext>
            </a:extLst>
          </p:cNvPr>
          <p:cNvSpPr txBox="1"/>
          <p:nvPr/>
        </p:nvSpPr>
        <p:spPr>
          <a:xfrm>
            <a:off x="2631789" y="2559621"/>
            <a:ext cx="8744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projector matrices (from the raw adiabatic to consistent adiabatic),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(complex)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943B9C-253B-1698-A06A-2A2E7330A6FE}"/>
              </a:ext>
            </a:extLst>
          </p:cNvPr>
          <p:cNvSpPr txBox="1"/>
          <p:nvPr/>
        </p:nvSpPr>
        <p:spPr>
          <a:xfrm>
            <a:off x="2631788" y="3372034"/>
            <a:ext cx="948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auxiliary coordinates/momenta for XF methods,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ndofs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5503B-1AE1-6DF6-7101-403BBCA0901D}"/>
              </a:ext>
            </a:extLst>
          </p:cNvPr>
          <p:cNvSpPr txBox="1"/>
          <p:nvPr/>
        </p:nvSpPr>
        <p:spPr>
          <a:xfrm>
            <a:off x="2631788" y="3907448"/>
            <a:ext cx="8586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</a:t>
            </a:r>
            <a:r>
              <a:rPr lang="en-US" dirty="0" err="1"/>
              <a:t>nabla_phase</a:t>
            </a:r>
            <a:r>
              <a:rPr lang="en-US" dirty="0"/>
              <a:t> for XF methods,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ndofs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71A870-1FBE-261F-A5A7-B762AF3804A5}"/>
              </a:ext>
            </a:extLst>
          </p:cNvPr>
          <p:cNvSpPr txBox="1"/>
          <p:nvPr/>
        </p:nvSpPr>
        <p:spPr>
          <a:xfrm>
            <a:off x="2631788" y="4403737"/>
            <a:ext cx="6840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energy gaps, </a:t>
            </a:r>
            <a:r>
              <a:rPr lang="en-US" dirty="0" err="1"/>
              <a:t>nsteps</a:t>
            </a:r>
            <a:r>
              <a:rPr lang="en-US" dirty="0"/>
              <a:t> x </a:t>
            </a:r>
            <a:r>
              <a:rPr lang="en-US" dirty="0" err="1"/>
              <a:t>ntraj</a:t>
            </a:r>
            <a:r>
              <a:rPr lang="en-US" dirty="0"/>
              <a:t> x </a:t>
            </a:r>
            <a:r>
              <a:rPr lang="en-US" dirty="0" err="1"/>
              <a:t>nstates</a:t>
            </a:r>
            <a:r>
              <a:rPr lang="en-US" dirty="0"/>
              <a:t> x </a:t>
            </a:r>
            <a:r>
              <a:rPr lang="en-US" dirty="0" err="1"/>
              <a:t>nstates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1D38F-2476-5BAA-3EAA-9BCD46E16EB0}"/>
              </a:ext>
            </a:extLst>
          </p:cNvPr>
          <p:cNvSpPr txBox="1"/>
          <p:nvPr/>
        </p:nvSpPr>
        <p:spPr>
          <a:xfrm>
            <a:off x="2649213" y="4650001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running-average (mean) energy gaps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FF2F80-5B54-F180-66E2-861DA2A7E555}"/>
              </a:ext>
            </a:extLst>
          </p:cNvPr>
          <p:cNvSpPr txBox="1"/>
          <p:nvPr/>
        </p:nvSpPr>
        <p:spPr>
          <a:xfrm>
            <a:off x="2649213" y="496860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energy gaps squared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BB951-76F3-59E5-407D-8F63D13D3AA7}"/>
              </a:ext>
            </a:extLst>
          </p:cNvPr>
          <p:cNvSpPr txBox="1"/>
          <p:nvPr/>
        </p:nvSpPr>
        <p:spPr>
          <a:xfrm>
            <a:off x="2666637" y="5278339"/>
            <a:ext cx="6502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running-average (mean) energy gaps squared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10F37-A75E-A645-4337-7342FB599899}"/>
              </a:ext>
            </a:extLst>
          </p:cNvPr>
          <p:cNvSpPr txBox="1"/>
          <p:nvPr/>
        </p:nvSpPr>
        <p:spPr>
          <a:xfrm>
            <a:off x="2761052" y="5566348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energy gap fluctuations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A8AFF-E226-A648-E7E0-73D946EE6CDE}"/>
              </a:ext>
            </a:extLst>
          </p:cNvPr>
          <p:cNvSpPr txBox="1"/>
          <p:nvPr/>
        </p:nvSpPr>
        <p:spPr>
          <a:xfrm>
            <a:off x="2778477" y="5826685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Trajectory-resolved gap correlation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19518964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mage result for ub logo">
            <a:extLst>
              <a:ext uri="{FF2B5EF4-FFF2-40B4-BE49-F238E27FC236}">
                <a16:creationId xmlns:a16="http://schemas.microsoft.com/office/drawing/2014/main" id="{49248D10-8AE7-2879-790C-0801332E7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0"/>
            <a:ext cx="19812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40556E-8332-EC8D-6F28-37149BE0BCEB}"/>
              </a:ext>
            </a:extLst>
          </p:cNvPr>
          <p:cNvSpPr txBox="1"/>
          <p:nvPr/>
        </p:nvSpPr>
        <p:spPr>
          <a:xfrm>
            <a:off x="1113219" y="74858"/>
            <a:ext cx="9390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Computing state populations in Libra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907BA3-B9F9-8DA5-6E2F-200529B46F82}"/>
                  </a:ext>
                </a:extLst>
              </p:cNvPr>
              <p:cNvSpPr txBox="1"/>
              <p:nvPr/>
            </p:nvSpPr>
            <p:spPr>
              <a:xfrm>
                <a:off x="1361439" y="3827763"/>
                <a:ext cx="6254435" cy="48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dirty="0"/>
                  <a:t> - adiabatic SH populations – counting trajectories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907BA3-B9F9-8DA5-6E2F-200529B46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9" y="3827763"/>
                <a:ext cx="6254435" cy="484172"/>
              </a:xfrm>
              <a:prstGeom prst="rect">
                <a:avLst/>
              </a:prstGeom>
              <a:blipFill>
                <a:blip r:embed="rId3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BBF7E9-AA26-21D7-BFA0-6D8F76FB72A0}"/>
                  </a:ext>
                </a:extLst>
              </p:cNvPr>
              <p:cNvSpPr txBox="1"/>
              <p:nvPr/>
            </p:nvSpPr>
            <p:spPr>
              <a:xfrm>
                <a:off x="1361439" y="1151628"/>
                <a:ext cx="7203441" cy="459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𝑎𝑑𝑖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adiabatic SE populations – “quantum” populations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BBF7E9-AA26-21D7-BFA0-6D8F76FB7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9" y="1151628"/>
                <a:ext cx="7203441" cy="459678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EC81D0-DAA6-4110-0F32-F265C0417C33}"/>
                  </a:ext>
                </a:extLst>
              </p:cNvPr>
              <p:cNvSpPr txBox="1"/>
              <p:nvPr/>
            </p:nvSpPr>
            <p:spPr>
              <a:xfrm>
                <a:off x="1361439" y="1703482"/>
                <a:ext cx="7112001" cy="459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𝑑𝑖𝑎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diabatic SE populations – “quantum” populations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EC81D0-DAA6-4110-0F32-F265C041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9" y="1703482"/>
                <a:ext cx="7112001" cy="459678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8167C3-8C0C-2070-E759-B8492BE12FE2}"/>
                  </a:ext>
                </a:extLst>
              </p:cNvPr>
              <p:cNvSpPr txBox="1"/>
              <p:nvPr/>
            </p:nvSpPr>
            <p:spPr>
              <a:xfrm>
                <a:off x="8113117" y="2410507"/>
                <a:ext cx="24285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</m:sSub>
                      <m:r>
                        <a:rPr lang="en-US" b="1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i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𝑺𝑼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8167C3-8C0C-2070-E759-B8492BE12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117" y="2410507"/>
                <a:ext cx="242856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EA5C8-ABFC-4281-E69B-689262C76A39}"/>
                  </a:ext>
                </a:extLst>
              </p:cNvPr>
              <p:cNvSpPr txBox="1"/>
              <p:nvPr/>
            </p:nvSpPr>
            <p:spPr>
              <a:xfrm>
                <a:off x="2864599" y="2447403"/>
                <a:ext cx="46801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𝑎𝑑𝑖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𝑎𝑑𝑖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𝝍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𝑑𝑖𝑎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𝑑𝑖𝑎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EA5C8-ABFC-4281-E69B-689262C76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599" y="2447403"/>
                <a:ext cx="4680155" cy="369332"/>
              </a:xfrm>
              <a:prstGeom prst="rect">
                <a:avLst/>
              </a:prstGeom>
              <a:blipFill>
                <a:blip r:embed="rId7"/>
                <a:stretch>
                  <a:fillRect l="-6771" t="-119672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A3FEE0-6CE4-EF18-8ED3-2BADF991924B}"/>
                  </a:ext>
                </a:extLst>
              </p:cNvPr>
              <p:cNvSpPr txBox="1"/>
              <p:nvPr/>
            </p:nvSpPr>
            <p:spPr>
              <a:xfrm>
                <a:off x="3050593" y="2993303"/>
                <a:ext cx="4494161" cy="376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𝑎𝑑𝑖</m:t>
                        </m:r>
                      </m:sub>
                    </m:sSub>
                  </m:oMath>
                </a14:m>
                <a:r>
                  <a:rPr lang="en-US" i="1" dirty="0"/>
                  <a:t>  </a:t>
                </a:r>
                <a:r>
                  <a:rPr lang="en-US" i="1" dirty="0">
                    <a:sym typeface="Wingdings" panose="05000000000000000000" pitchFamily="2" charset="2"/>
                  </a:rPr>
                  <a:t>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𝑑𝑖𝑎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𝑎𝑑𝑖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𝑺𝑼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A3FEE0-6CE4-EF18-8ED3-2BADF9919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93" y="2993303"/>
                <a:ext cx="4494161" cy="376898"/>
              </a:xfrm>
              <a:prstGeom prst="rect">
                <a:avLst/>
              </a:prstGeom>
              <a:blipFill>
                <a:blip r:embed="rId8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D7BF1C-2296-3D20-7A3D-E381177749BA}"/>
                  </a:ext>
                </a:extLst>
              </p:cNvPr>
              <p:cNvSpPr txBox="1"/>
              <p:nvPr/>
            </p:nvSpPr>
            <p:spPr>
              <a:xfrm>
                <a:off x="2416378" y="627795"/>
                <a:ext cx="6491264" cy="431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Diagonal elements of the density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D7BF1C-2296-3D20-7A3D-E38117774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78" y="627795"/>
                <a:ext cx="6491264" cy="431657"/>
              </a:xfrm>
              <a:prstGeom prst="rect">
                <a:avLst/>
              </a:prstGeom>
              <a:blipFill>
                <a:blip r:embed="rId9"/>
                <a:stretch>
                  <a:fillRect l="-751" b="-16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A64DB1-8B60-2002-67A8-CD9F25604615}"/>
                  </a:ext>
                </a:extLst>
              </p:cNvPr>
              <p:cNvSpPr txBox="1"/>
              <p:nvPr/>
            </p:nvSpPr>
            <p:spPr>
              <a:xfrm>
                <a:off x="1361439" y="4381229"/>
                <a:ext cx="6254435" cy="40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𝑑𝑖𝑎</m:t>
                        </m:r>
                      </m:sup>
                    </m:sSubSup>
                  </m:oMath>
                </a14:m>
                <a:r>
                  <a:rPr lang="en-US" dirty="0"/>
                  <a:t> - ???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A64DB1-8B60-2002-67A8-CD9F25604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9" y="4381229"/>
                <a:ext cx="6254435" cy="404406"/>
              </a:xfrm>
              <a:prstGeom prst="rect">
                <a:avLst/>
              </a:prstGeom>
              <a:blipFill>
                <a:blip r:embed="rId10"/>
                <a:stretch>
                  <a:fillRect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DAB956-5707-EF88-D89D-8EDD01B3FC8C}"/>
              </a:ext>
            </a:extLst>
          </p:cNvPr>
          <p:cNvSpPr txBox="1"/>
          <p:nvPr/>
        </p:nvSpPr>
        <p:spPr>
          <a:xfrm>
            <a:off x="1361439" y="5783316"/>
            <a:ext cx="53996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effectLst/>
              </a:rPr>
              <a:t>Tempelaar</a:t>
            </a:r>
            <a:r>
              <a:rPr lang="en-US" sz="1600" dirty="0">
                <a:solidFill>
                  <a:srgbClr val="0000FF"/>
                </a:solidFill>
                <a:effectLst/>
              </a:rPr>
              <a:t>, R.; Reichman, D. R. JCP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2018</a:t>
            </a:r>
            <a:r>
              <a:rPr lang="en-US" sz="1600" dirty="0">
                <a:solidFill>
                  <a:srgbClr val="0000FF"/>
                </a:solidFill>
                <a:effectLst/>
              </a:rPr>
              <a:t>,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148</a:t>
            </a:r>
            <a:r>
              <a:rPr lang="en-US" sz="1600" dirty="0">
                <a:solidFill>
                  <a:srgbClr val="0000FF"/>
                </a:solidFill>
                <a:effectLst/>
              </a:rPr>
              <a:t>, 102309.</a:t>
            </a:r>
          </a:p>
          <a:p>
            <a:r>
              <a:rPr lang="en-US" sz="1600" dirty="0" err="1">
                <a:solidFill>
                  <a:srgbClr val="0000FF"/>
                </a:solidFill>
                <a:effectLst/>
              </a:rPr>
              <a:t>Bondarenko</a:t>
            </a:r>
            <a:r>
              <a:rPr lang="en-US" sz="1600" dirty="0">
                <a:solidFill>
                  <a:srgbClr val="0000FF"/>
                </a:solidFill>
                <a:effectLst/>
              </a:rPr>
              <a:t>, A. S.; </a:t>
            </a:r>
            <a:r>
              <a:rPr lang="en-US" sz="1600" dirty="0" err="1">
                <a:solidFill>
                  <a:srgbClr val="0000FF"/>
                </a:solidFill>
                <a:effectLst/>
              </a:rPr>
              <a:t>Tempelaar</a:t>
            </a:r>
            <a:r>
              <a:rPr lang="en-US" sz="1600" dirty="0">
                <a:solidFill>
                  <a:srgbClr val="0000FF"/>
                </a:solidFill>
                <a:effectLst/>
              </a:rPr>
              <a:t>, R. JCP </a:t>
            </a:r>
            <a:r>
              <a:rPr lang="en-US" sz="1600" b="1" dirty="0">
                <a:solidFill>
                  <a:srgbClr val="0000FF"/>
                </a:solidFill>
                <a:effectLst/>
              </a:rPr>
              <a:t>2023</a:t>
            </a:r>
            <a:r>
              <a:rPr lang="en-US" sz="1600" dirty="0">
                <a:solidFill>
                  <a:srgbClr val="0000FF"/>
                </a:solidFill>
                <a:effectLst/>
              </a:rPr>
              <a:t>, </a:t>
            </a:r>
            <a:r>
              <a:rPr lang="en-US" sz="1600" i="1" dirty="0">
                <a:solidFill>
                  <a:srgbClr val="0000FF"/>
                </a:solidFill>
                <a:effectLst/>
              </a:rPr>
              <a:t>158</a:t>
            </a:r>
            <a:r>
              <a:rPr lang="en-US" sz="1600" dirty="0">
                <a:solidFill>
                  <a:srgbClr val="0000FF"/>
                </a:solidFill>
                <a:effectLst/>
              </a:rPr>
              <a:t>, 054117.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3614E-E41C-61DA-24C1-436DECBE25F5}"/>
                  </a:ext>
                </a:extLst>
              </p:cNvPr>
              <p:cNvSpPr txBox="1"/>
              <p:nvPr/>
            </p:nvSpPr>
            <p:spPr>
              <a:xfrm>
                <a:off x="1361439" y="5004489"/>
                <a:ext cx="4419601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For each trajectory: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𝑑𝑖𝑎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𝑺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𝑷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𝑎𝑑𝑖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𝑺𝑼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3614E-E41C-61DA-24C1-436DECBE2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9" y="5004489"/>
                <a:ext cx="4419601" cy="374270"/>
              </a:xfrm>
              <a:prstGeom prst="rect">
                <a:avLst/>
              </a:prstGeom>
              <a:blipFill>
                <a:blip r:embed="rId11"/>
                <a:stretch>
                  <a:fillRect l="-110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557C9C-F43C-C9E2-0AA7-2D58A47AF712}"/>
                  </a:ext>
                </a:extLst>
              </p:cNvPr>
              <p:cNvSpPr txBox="1"/>
              <p:nvPr/>
            </p:nvSpPr>
            <p:spPr>
              <a:xfrm>
                <a:off x="6386040" y="5043512"/>
                <a:ext cx="4117794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𝑎𝑑𝑖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557C9C-F43C-C9E2-0AA7-2D58A47AF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040" y="5043512"/>
                <a:ext cx="4117794" cy="4049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69C452-00B6-D1E4-2FE2-435D9C9A96AD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8444937" y="5448495"/>
            <a:ext cx="221543" cy="25787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294136F-3B24-8D60-4808-C171F683EA31}"/>
              </a:ext>
            </a:extLst>
          </p:cNvPr>
          <p:cNvSpPr txBox="1"/>
          <p:nvPr/>
        </p:nvSpPr>
        <p:spPr>
          <a:xfrm>
            <a:off x="7782232" y="5706372"/>
            <a:ext cx="4043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Active state index for the given trajectory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FFDE7B-38ED-03DD-69B5-75071410FCC5}"/>
              </a:ext>
            </a:extLst>
          </p:cNvPr>
          <p:cNvSpPr txBox="1"/>
          <p:nvPr/>
        </p:nvSpPr>
        <p:spPr>
          <a:xfrm>
            <a:off x="6386040" y="4665472"/>
            <a:ext cx="558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 mixture of the SH populations and SE coherences</a:t>
            </a:r>
          </a:p>
        </p:txBody>
      </p:sp>
    </p:spTree>
    <p:extLst>
      <p:ext uri="{BB962C8B-B14F-4D97-AF65-F5344CB8AC3E}">
        <p14:creationId xmlns:p14="http://schemas.microsoft.com/office/powerpoint/2010/main" val="322459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14734</Words>
  <Application>Microsoft Office PowerPoint</Application>
  <PresentationFormat>Widescreen</PresentationFormat>
  <Paragraphs>1591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SimSun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Alexey-user</dc:creator>
  <cp:lastModifiedBy>Alexey Akimov</cp:lastModifiedBy>
  <cp:revision>123</cp:revision>
  <dcterms:created xsi:type="dcterms:W3CDTF">2021-12-20T14:51:30Z</dcterms:created>
  <dcterms:modified xsi:type="dcterms:W3CDTF">2026-07-02T22:02:37Z</dcterms:modified>
</cp:coreProperties>
</file>